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  <p:sldId id="276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3" r:id="rId33"/>
    <p:sldId id="291" r:id="rId34"/>
    <p:sldId id="290" r:id="rId35"/>
    <p:sldId id="292" r:id="rId36"/>
    <p:sldId id="295" r:id="rId37"/>
    <p:sldId id="294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0"/>
    <a:srgbClr val="F2A516"/>
    <a:srgbClr val="F2BF27"/>
    <a:srgbClr val="0367A6"/>
    <a:srgbClr val="033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39F89E-5C91-4357-A319-524581A0B3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4928C82-A9FC-4C59-9278-BB25205FBEE0}">
      <dgm:prSet/>
      <dgm:spPr>
        <a:solidFill>
          <a:schemeClr val="tx2"/>
        </a:solidFill>
      </dgm:spPr>
      <dgm:t>
        <a:bodyPr/>
        <a:lstStyle/>
        <a:p>
          <a:pPr algn="just"/>
          <a:r>
            <a:rPr lang="pt-BR" dirty="0"/>
            <a:t>Aprendizado é o processo pelo qual os </a:t>
          </a:r>
          <a:r>
            <a:rPr lang="pt-BR" dirty="0">
              <a:solidFill>
                <a:srgbClr val="FFFF00"/>
              </a:solidFill>
            </a:rPr>
            <a:t>parâmetros</a:t>
          </a:r>
          <a:r>
            <a:rPr lang="pt-BR" dirty="0"/>
            <a:t> (os pesos das conexões entre os neurônios) e </a:t>
          </a:r>
          <a:r>
            <a:rPr lang="pt-BR" dirty="0">
              <a:solidFill>
                <a:srgbClr val="FFFF00"/>
              </a:solidFill>
            </a:rPr>
            <a:t>hiperparâmetros</a:t>
          </a:r>
          <a:r>
            <a:rPr lang="pt-BR" dirty="0"/>
            <a:t>(taxas, topologia, etc.) de uma rede neural são ajustados através de uma forma continuada de estímulo pelo ambiente no qual a rede está operando.</a:t>
          </a:r>
        </a:p>
      </dgm:t>
    </dgm:pt>
    <dgm:pt modelId="{E5F78C8C-5F42-4D88-87D4-209EA1211362}" type="parTrans" cxnId="{76E32469-0DB0-4F2B-923B-62B3F8DD099C}">
      <dgm:prSet/>
      <dgm:spPr/>
      <dgm:t>
        <a:bodyPr/>
        <a:lstStyle/>
        <a:p>
          <a:endParaRPr lang="pt-BR"/>
        </a:p>
      </dgm:t>
    </dgm:pt>
    <dgm:pt modelId="{34EA9B61-F963-4074-98D8-A23DB97BEADC}" type="sibTrans" cxnId="{76E32469-0DB0-4F2B-923B-62B3F8DD099C}">
      <dgm:prSet/>
      <dgm:spPr/>
      <dgm:t>
        <a:bodyPr/>
        <a:lstStyle/>
        <a:p>
          <a:endParaRPr lang="pt-BR"/>
        </a:p>
      </dgm:t>
    </dgm:pt>
    <dgm:pt modelId="{CDA1D161-246A-4E1C-A0B4-2709A9C5B774}" type="pres">
      <dgm:prSet presAssocID="{0139F89E-5C91-4357-A319-524581A0B3F9}" presName="linear" presStyleCnt="0">
        <dgm:presLayoutVars>
          <dgm:animLvl val="lvl"/>
          <dgm:resizeHandles val="exact"/>
        </dgm:presLayoutVars>
      </dgm:prSet>
      <dgm:spPr/>
    </dgm:pt>
    <dgm:pt modelId="{934D675B-E465-463B-AAB5-6612EF90499B}" type="pres">
      <dgm:prSet presAssocID="{74928C82-A9FC-4C59-9278-BB25205FBEE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20F9440-E9C4-4377-B351-13896F3ABF04}" type="presOf" srcId="{74928C82-A9FC-4C59-9278-BB25205FBEE0}" destId="{934D675B-E465-463B-AAB5-6612EF90499B}" srcOrd="0" destOrd="0" presId="urn:microsoft.com/office/officeart/2005/8/layout/vList2"/>
    <dgm:cxn modelId="{8AFCE943-E64E-4BAA-A9B3-FBA4F19D2F7D}" type="presOf" srcId="{0139F89E-5C91-4357-A319-524581A0B3F9}" destId="{CDA1D161-246A-4E1C-A0B4-2709A9C5B774}" srcOrd="0" destOrd="0" presId="urn:microsoft.com/office/officeart/2005/8/layout/vList2"/>
    <dgm:cxn modelId="{76E32469-0DB0-4F2B-923B-62B3F8DD099C}" srcId="{0139F89E-5C91-4357-A319-524581A0B3F9}" destId="{74928C82-A9FC-4C59-9278-BB25205FBEE0}" srcOrd="0" destOrd="0" parTransId="{E5F78C8C-5F42-4D88-87D4-209EA1211362}" sibTransId="{34EA9B61-F963-4074-98D8-A23DB97BEADC}"/>
    <dgm:cxn modelId="{A2938DA1-4F43-407B-945B-7D39D3688102}" type="presParOf" srcId="{CDA1D161-246A-4E1C-A0B4-2709A9C5B774}" destId="{934D675B-E465-463B-AAB5-6612EF90499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AD8D6C-8118-42DF-9E23-6E95968F3B8E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68D6D2E-127F-45BA-A93A-CB6F4721875E}">
      <dgm:prSet phldrT="[Texto]" phldr="0" custT="1"/>
      <dgm:spPr/>
      <dgm:t>
        <a:bodyPr/>
        <a:lstStyle/>
        <a:p>
          <a:r>
            <a:rPr lang="pt-BR" sz="1800" b="1" dirty="0"/>
            <a:t>T0</a:t>
          </a:r>
          <a:endParaRPr lang="pt-BR" sz="2400" b="1" dirty="0"/>
        </a:p>
      </dgm:t>
    </dgm:pt>
    <dgm:pt modelId="{EB5F9A92-9DEC-4623-B6F6-4EBC451E905A}" type="parTrans" cxnId="{2A469016-9F51-410F-B0C7-FAFE2EB9A3CF}">
      <dgm:prSet/>
      <dgm:spPr/>
      <dgm:t>
        <a:bodyPr/>
        <a:lstStyle/>
        <a:p>
          <a:endParaRPr lang="pt-BR"/>
        </a:p>
      </dgm:t>
    </dgm:pt>
    <dgm:pt modelId="{849FE6B3-37A9-421D-9538-E3F1731BB9CD}" type="sibTrans" cxnId="{2A469016-9F51-410F-B0C7-FAFE2EB9A3CF}">
      <dgm:prSet/>
      <dgm:spPr/>
      <dgm:t>
        <a:bodyPr/>
        <a:lstStyle/>
        <a:p>
          <a:endParaRPr lang="pt-BR"/>
        </a:p>
      </dgm:t>
    </dgm:pt>
    <dgm:pt modelId="{733EE30F-D041-4CFF-9100-2F320347B890}">
      <dgm:prSet phldrT="[Texto]" phldr="0" custT="1"/>
      <dgm:spPr/>
      <dgm:t>
        <a:bodyPr/>
        <a:lstStyle/>
        <a:p>
          <a:r>
            <a:rPr lang="pt-BR" sz="1800" b="1" dirty="0"/>
            <a:t>T1</a:t>
          </a:r>
        </a:p>
      </dgm:t>
    </dgm:pt>
    <dgm:pt modelId="{C481D86B-208F-4FC1-967B-EED68AB8ACA7}" type="parTrans" cxnId="{C038017A-0B11-414D-818D-F90CD86149AF}">
      <dgm:prSet/>
      <dgm:spPr/>
      <dgm:t>
        <a:bodyPr/>
        <a:lstStyle/>
        <a:p>
          <a:endParaRPr lang="pt-BR"/>
        </a:p>
      </dgm:t>
    </dgm:pt>
    <dgm:pt modelId="{9A0844D3-F139-4E74-8C5A-9C02CDA2400B}" type="sibTrans" cxnId="{C038017A-0B11-414D-818D-F90CD86149AF}">
      <dgm:prSet/>
      <dgm:spPr/>
      <dgm:t>
        <a:bodyPr/>
        <a:lstStyle/>
        <a:p>
          <a:endParaRPr lang="pt-BR"/>
        </a:p>
      </dgm:t>
    </dgm:pt>
    <dgm:pt modelId="{6E6D9350-501F-4FE1-AA59-C1327C950586}">
      <dgm:prSet phldrT="[Texto]" phldr="0" custT="1"/>
      <dgm:spPr/>
      <dgm:t>
        <a:bodyPr/>
        <a:lstStyle/>
        <a:p>
          <a:r>
            <a:rPr lang="pt-BR" sz="1800" b="1" dirty="0"/>
            <a:t>T2</a:t>
          </a:r>
        </a:p>
      </dgm:t>
    </dgm:pt>
    <dgm:pt modelId="{241DC3EC-D53B-495B-BBB0-E5736583BA2F}" type="parTrans" cxnId="{AB456E2D-7077-4926-BC0A-C4B9200B54B2}">
      <dgm:prSet/>
      <dgm:spPr/>
      <dgm:t>
        <a:bodyPr/>
        <a:lstStyle/>
        <a:p>
          <a:endParaRPr lang="pt-BR"/>
        </a:p>
      </dgm:t>
    </dgm:pt>
    <dgm:pt modelId="{A5F5F413-3901-453F-AD3D-DB46CF093227}" type="sibTrans" cxnId="{AB456E2D-7077-4926-BC0A-C4B9200B54B2}">
      <dgm:prSet/>
      <dgm:spPr/>
      <dgm:t>
        <a:bodyPr/>
        <a:lstStyle/>
        <a:p>
          <a:endParaRPr lang="pt-BR"/>
        </a:p>
      </dgm:t>
    </dgm:pt>
    <dgm:pt modelId="{7BF94039-D0B3-4DF8-9A81-F11C674A2335}">
      <dgm:prSet phldrT="[Texto]" phldr="0" custT="1"/>
      <dgm:spPr/>
      <dgm:t>
        <a:bodyPr/>
        <a:lstStyle/>
        <a:p>
          <a:r>
            <a:rPr lang="pt-BR" sz="1800" b="1" dirty="0"/>
            <a:t>T3</a:t>
          </a:r>
        </a:p>
      </dgm:t>
    </dgm:pt>
    <dgm:pt modelId="{7514B964-D160-4E98-82ED-25A17CC0F5F7}" type="parTrans" cxnId="{3D68E45F-F25B-407E-8F2F-967FC851AA7E}">
      <dgm:prSet/>
      <dgm:spPr/>
      <dgm:t>
        <a:bodyPr/>
        <a:lstStyle/>
        <a:p>
          <a:endParaRPr lang="pt-BR"/>
        </a:p>
      </dgm:t>
    </dgm:pt>
    <dgm:pt modelId="{05CB151A-B588-428F-BB66-C0D7181AA549}" type="sibTrans" cxnId="{3D68E45F-F25B-407E-8F2F-967FC851AA7E}">
      <dgm:prSet/>
      <dgm:spPr/>
      <dgm:t>
        <a:bodyPr/>
        <a:lstStyle/>
        <a:p>
          <a:endParaRPr lang="pt-BR"/>
        </a:p>
      </dgm:t>
    </dgm:pt>
    <dgm:pt modelId="{5CA1E2EB-E36C-4F74-8136-F83A1D5382F7}">
      <dgm:prSet phldrT="[Texto]" phldr="0" custT="1"/>
      <dgm:spPr/>
      <dgm:t>
        <a:bodyPr/>
        <a:lstStyle/>
        <a:p>
          <a:r>
            <a:rPr lang="pt-BR" sz="1800" b="1"/>
            <a:t>T4</a:t>
          </a:r>
          <a:endParaRPr lang="pt-BR" sz="1800" b="1" dirty="0"/>
        </a:p>
      </dgm:t>
    </dgm:pt>
    <dgm:pt modelId="{FD78A8DD-756C-4FC6-BB03-402B0232269A}" type="parTrans" cxnId="{E40AA428-14E7-41AB-A45B-67E49195084A}">
      <dgm:prSet/>
      <dgm:spPr/>
      <dgm:t>
        <a:bodyPr/>
        <a:lstStyle/>
        <a:p>
          <a:endParaRPr lang="pt-BR"/>
        </a:p>
      </dgm:t>
    </dgm:pt>
    <dgm:pt modelId="{C448226D-8E89-402B-BA3C-263ED7BF8546}" type="sibTrans" cxnId="{E40AA428-14E7-41AB-A45B-67E49195084A}">
      <dgm:prSet/>
      <dgm:spPr/>
      <dgm:t>
        <a:bodyPr/>
        <a:lstStyle/>
        <a:p>
          <a:endParaRPr lang="pt-BR"/>
        </a:p>
      </dgm:t>
    </dgm:pt>
    <dgm:pt modelId="{CCC45FFD-EBD8-41D9-9267-3410803CEE4C}">
      <dgm:prSet phldrT="[Texto]" phldr="0" custT="1"/>
      <dgm:spPr/>
      <dgm:t>
        <a:bodyPr/>
        <a:lstStyle/>
        <a:p>
          <a:r>
            <a:rPr lang="pt-BR" sz="1800" b="1"/>
            <a:t>T5</a:t>
          </a:r>
          <a:endParaRPr lang="pt-BR" sz="1800" b="1" dirty="0"/>
        </a:p>
      </dgm:t>
    </dgm:pt>
    <dgm:pt modelId="{D01F96E8-593D-4701-8EA8-C07C47699FCF}" type="parTrans" cxnId="{7EC7A97D-5116-421E-81A3-C8EC32754587}">
      <dgm:prSet/>
      <dgm:spPr/>
      <dgm:t>
        <a:bodyPr/>
        <a:lstStyle/>
        <a:p>
          <a:endParaRPr lang="pt-BR"/>
        </a:p>
      </dgm:t>
    </dgm:pt>
    <dgm:pt modelId="{CF1342C8-C052-48F4-953E-8938A7121CFE}" type="sibTrans" cxnId="{7EC7A97D-5116-421E-81A3-C8EC32754587}">
      <dgm:prSet/>
      <dgm:spPr/>
      <dgm:t>
        <a:bodyPr/>
        <a:lstStyle/>
        <a:p>
          <a:endParaRPr lang="pt-BR"/>
        </a:p>
      </dgm:t>
    </dgm:pt>
    <dgm:pt modelId="{BB8DD8FF-9097-4788-BC8B-DDF5668C70C2}">
      <dgm:prSet phldrT="[Texto]" phldr="0" custT="1"/>
      <dgm:spPr/>
      <dgm:t>
        <a:bodyPr/>
        <a:lstStyle/>
        <a:p>
          <a:r>
            <a:rPr lang="pt-BR" sz="1800" b="1" dirty="0"/>
            <a:t>T6</a:t>
          </a:r>
          <a:endParaRPr lang="pt-BR" sz="1400" b="1" dirty="0"/>
        </a:p>
      </dgm:t>
    </dgm:pt>
    <dgm:pt modelId="{492DEAA1-22BC-4DB6-9D7D-5EB9D16B3859}" type="parTrans" cxnId="{DA22796F-EA8E-44EA-B9B5-991B66BE93ED}">
      <dgm:prSet/>
      <dgm:spPr/>
      <dgm:t>
        <a:bodyPr/>
        <a:lstStyle/>
        <a:p>
          <a:endParaRPr lang="pt-BR"/>
        </a:p>
      </dgm:t>
    </dgm:pt>
    <dgm:pt modelId="{477F11B2-2CD3-40B0-91B1-2379797BEC56}" type="sibTrans" cxnId="{DA22796F-EA8E-44EA-B9B5-991B66BE93ED}">
      <dgm:prSet/>
      <dgm:spPr/>
      <dgm:t>
        <a:bodyPr/>
        <a:lstStyle/>
        <a:p>
          <a:endParaRPr lang="pt-BR"/>
        </a:p>
      </dgm:t>
    </dgm:pt>
    <dgm:pt modelId="{F6198066-89D4-43C2-AF81-A0FB469C2D66}" type="pres">
      <dgm:prSet presAssocID="{D9AD8D6C-8118-42DF-9E23-6E95968F3B8E}" presName="Name0" presStyleCnt="0">
        <dgm:presLayoutVars>
          <dgm:dir/>
          <dgm:resizeHandles val="exact"/>
        </dgm:presLayoutVars>
      </dgm:prSet>
      <dgm:spPr/>
    </dgm:pt>
    <dgm:pt modelId="{CBE49F20-D4C5-4921-A05E-8F771D3B46F0}" type="pres">
      <dgm:prSet presAssocID="{D9AD8D6C-8118-42DF-9E23-6E95968F3B8E}" presName="arrow" presStyleLbl="bgShp" presStyleIdx="0" presStyleCnt="1"/>
      <dgm:spPr>
        <a:solidFill>
          <a:srgbClr val="000050"/>
        </a:solidFill>
      </dgm:spPr>
    </dgm:pt>
    <dgm:pt modelId="{DC73B308-2B1B-4865-A71D-336B4AF8561D}" type="pres">
      <dgm:prSet presAssocID="{D9AD8D6C-8118-42DF-9E23-6E95968F3B8E}" presName="points" presStyleCnt="0"/>
      <dgm:spPr/>
    </dgm:pt>
    <dgm:pt modelId="{F28DBCF0-BAD3-4CA3-B299-45B7E0809C11}" type="pres">
      <dgm:prSet presAssocID="{A68D6D2E-127F-45BA-A93A-CB6F4721875E}" presName="compositeA" presStyleCnt="0"/>
      <dgm:spPr/>
    </dgm:pt>
    <dgm:pt modelId="{5881ACA7-F27A-4E73-AC75-6B20A690A7FB}" type="pres">
      <dgm:prSet presAssocID="{A68D6D2E-127F-45BA-A93A-CB6F4721875E}" presName="textA" presStyleLbl="revTx" presStyleIdx="0" presStyleCnt="7">
        <dgm:presLayoutVars>
          <dgm:bulletEnabled val="1"/>
        </dgm:presLayoutVars>
      </dgm:prSet>
      <dgm:spPr/>
    </dgm:pt>
    <dgm:pt modelId="{C07992F7-85BD-4460-AF30-426DE303A420}" type="pres">
      <dgm:prSet presAssocID="{A68D6D2E-127F-45BA-A93A-CB6F4721875E}" presName="circleA" presStyleLbl="node1" presStyleIdx="0" presStyleCnt="7"/>
      <dgm:spPr/>
    </dgm:pt>
    <dgm:pt modelId="{EBD46AE4-55AE-4FA1-8483-4981A39BE316}" type="pres">
      <dgm:prSet presAssocID="{A68D6D2E-127F-45BA-A93A-CB6F4721875E}" presName="spaceA" presStyleCnt="0"/>
      <dgm:spPr/>
    </dgm:pt>
    <dgm:pt modelId="{68FFCB85-F304-4885-806F-9C10DEE1EB67}" type="pres">
      <dgm:prSet presAssocID="{849FE6B3-37A9-421D-9538-E3F1731BB9CD}" presName="space" presStyleCnt="0"/>
      <dgm:spPr/>
    </dgm:pt>
    <dgm:pt modelId="{FDA471F6-A604-4D0F-90A3-E80B64A7644B}" type="pres">
      <dgm:prSet presAssocID="{733EE30F-D041-4CFF-9100-2F320347B890}" presName="compositeB" presStyleCnt="0"/>
      <dgm:spPr/>
    </dgm:pt>
    <dgm:pt modelId="{F97DC14B-EEB8-4076-BED1-86B6EE62602A}" type="pres">
      <dgm:prSet presAssocID="{733EE30F-D041-4CFF-9100-2F320347B890}" presName="textB" presStyleLbl="revTx" presStyleIdx="1" presStyleCnt="7">
        <dgm:presLayoutVars>
          <dgm:bulletEnabled val="1"/>
        </dgm:presLayoutVars>
      </dgm:prSet>
      <dgm:spPr/>
    </dgm:pt>
    <dgm:pt modelId="{4A62D3D3-B6B8-4992-A68B-4D499C6267D8}" type="pres">
      <dgm:prSet presAssocID="{733EE30F-D041-4CFF-9100-2F320347B890}" presName="circleB" presStyleLbl="node1" presStyleIdx="1" presStyleCnt="7"/>
      <dgm:spPr/>
    </dgm:pt>
    <dgm:pt modelId="{EBD712BE-516B-4483-812C-E0EA6E6D2EB5}" type="pres">
      <dgm:prSet presAssocID="{733EE30F-D041-4CFF-9100-2F320347B890}" presName="spaceB" presStyleCnt="0"/>
      <dgm:spPr/>
    </dgm:pt>
    <dgm:pt modelId="{39BD1F7E-3E56-4712-B7AD-51339BDDBEE0}" type="pres">
      <dgm:prSet presAssocID="{9A0844D3-F139-4E74-8C5A-9C02CDA2400B}" presName="space" presStyleCnt="0"/>
      <dgm:spPr/>
    </dgm:pt>
    <dgm:pt modelId="{F3AFEEA0-F9E1-49E0-A37D-A75B6DA37BAB}" type="pres">
      <dgm:prSet presAssocID="{6E6D9350-501F-4FE1-AA59-C1327C950586}" presName="compositeA" presStyleCnt="0"/>
      <dgm:spPr/>
    </dgm:pt>
    <dgm:pt modelId="{675005D9-6B89-4573-B2F5-AF19C100C02D}" type="pres">
      <dgm:prSet presAssocID="{6E6D9350-501F-4FE1-AA59-C1327C950586}" presName="textA" presStyleLbl="revTx" presStyleIdx="2" presStyleCnt="7">
        <dgm:presLayoutVars>
          <dgm:bulletEnabled val="1"/>
        </dgm:presLayoutVars>
      </dgm:prSet>
      <dgm:spPr/>
    </dgm:pt>
    <dgm:pt modelId="{4904704E-F86B-4D95-BE6E-DBDE64F7F524}" type="pres">
      <dgm:prSet presAssocID="{6E6D9350-501F-4FE1-AA59-C1327C950586}" presName="circleA" presStyleLbl="node1" presStyleIdx="2" presStyleCnt="7"/>
      <dgm:spPr/>
    </dgm:pt>
    <dgm:pt modelId="{DEFC52D3-334C-4F1B-9650-AE6ABB4F13A3}" type="pres">
      <dgm:prSet presAssocID="{6E6D9350-501F-4FE1-AA59-C1327C950586}" presName="spaceA" presStyleCnt="0"/>
      <dgm:spPr/>
    </dgm:pt>
    <dgm:pt modelId="{70E3D36E-E6C9-4D2C-B830-4B19BA0A86A7}" type="pres">
      <dgm:prSet presAssocID="{A5F5F413-3901-453F-AD3D-DB46CF093227}" presName="space" presStyleCnt="0"/>
      <dgm:spPr/>
    </dgm:pt>
    <dgm:pt modelId="{A2BD99F0-456C-4CF7-A6BF-639E483026AE}" type="pres">
      <dgm:prSet presAssocID="{7BF94039-D0B3-4DF8-9A81-F11C674A2335}" presName="compositeB" presStyleCnt="0"/>
      <dgm:spPr/>
    </dgm:pt>
    <dgm:pt modelId="{170DD52F-4B1B-4048-A313-428EE50D032B}" type="pres">
      <dgm:prSet presAssocID="{7BF94039-D0B3-4DF8-9A81-F11C674A2335}" presName="textB" presStyleLbl="revTx" presStyleIdx="3" presStyleCnt="7">
        <dgm:presLayoutVars>
          <dgm:bulletEnabled val="1"/>
        </dgm:presLayoutVars>
      </dgm:prSet>
      <dgm:spPr/>
    </dgm:pt>
    <dgm:pt modelId="{3210EC28-D4C9-4CC5-9599-176362C9A731}" type="pres">
      <dgm:prSet presAssocID="{7BF94039-D0B3-4DF8-9A81-F11C674A2335}" presName="circleB" presStyleLbl="node1" presStyleIdx="3" presStyleCnt="7"/>
      <dgm:spPr/>
    </dgm:pt>
    <dgm:pt modelId="{389EC31C-3964-47DD-BC41-2AC620372398}" type="pres">
      <dgm:prSet presAssocID="{7BF94039-D0B3-4DF8-9A81-F11C674A2335}" presName="spaceB" presStyleCnt="0"/>
      <dgm:spPr/>
    </dgm:pt>
    <dgm:pt modelId="{1D407F79-9619-442D-A4DF-4F7DFCBBE0E4}" type="pres">
      <dgm:prSet presAssocID="{05CB151A-B588-428F-BB66-C0D7181AA549}" presName="space" presStyleCnt="0"/>
      <dgm:spPr/>
    </dgm:pt>
    <dgm:pt modelId="{F4547982-9F60-436A-87E2-19663342C875}" type="pres">
      <dgm:prSet presAssocID="{5CA1E2EB-E36C-4F74-8136-F83A1D5382F7}" presName="compositeA" presStyleCnt="0"/>
      <dgm:spPr/>
    </dgm:pt>
    <dgm:pt modelId="{A62F4225-ADD5-487B-9885-DB214DA9D934}" type="pres">
      <dgm:prSet presAssocID="{5CA1E2EB-E36C-4F74-8136-F83A1D5382F7}" presName="textA" presStyleLbl="revTx" presStyleIdx="4" presStyleCnt="7">
        <dgm:presLayoutVars>
          <dgm:bulletEnabled val="1"/>
        </dgm:presLayoutVars>
      </dgm:prSet>
      <dgm:spPr/>
    </dgm:pt>
    <dgm:pt modelId="{E2F52178-6EB1-484E-9B3F-02B9098F0CB9}" type="pres">
      <dgm:prSet presAssocID="{5CA1E2EB-E36C-4F74-8136-F83A1D5382F7}" presName="circleA" presStyleLbl="node1" presStyleIdx="4" presStyleCnt="7"/>
      <dgm:spPr/>
    </dgm:pt>
    <dgm:pt modelId="{095A70DC-6600-45E0-8EFC-37BA98FC6C32}" type="pres">
      <dgm:prSet presAssocID="{5CA1E2EB-E36C-4F74-8136-F83A1D5382F7}" presName="spaceA" presStyleCnt="0"/>
      <dgm:spPr/>
    </dgm:pt>
    <dgm:pt modelId="{5153FA9A-E023-4508-9AD7-5432CEE06AEC}" type="pres">
      <dgm:prSet presAssocID="{C448226D-8E89-402B-BA3C-263ED7BF8546}" presName="space" presStyleCnt="0"/>
      <dgm:spPr/>
    </dgm:pt>
    <dgm:pt modelId="{32944F58-195F-47F1-B6DB-07ADD58EFB2E}" type="pres">
      <dgm:prSet presAssocID="{CCC45FFD-EBD8-41D9-9267-3410803CEE4C}" presName="compositeB" presStyleCnt="0"/>
      <dgm:spPr/>
    </dgm:pt>
    <dgm:pt modelId="{1BC60A50-CA11-4518-8513-DD85928B2A5A}" type="pres">
      <dgm:prSet presAssocID="{CCC45FFD-EBD8-41D9-9267-3410803CEE4C}" presName="textB" presStyleLbl="revTx" presStyleIdx="5" presStyleCnt="7">
        <dgm:presLayoutVars>
          <dgm:bulletEnabled val="1"/>
        </dgm:presLayoutVars>
      </dgm:prSet>
      <dgm:spPr/>
    </dgm:pt>
    <dgm:pt modelId="{2288BC6A-85CA-4BA1-93D9-320E5E53C017}" type="pres">
      <dgm:prSet presAssocID="{CCC45FFD-EBD8-41D9-9267-3410803CEE4C}" presName="circleB" presStyleLbl="node1" presStyleIdx="5" presStyleCnt="7"/>
      <dgm:spPr/>
    </dgm:pt>
    <dgm:pt modelId="{512E2ADD-EE7E-4B22-A3B7-7E1D5CD26DC8}" type="pres">
      <dgm:prSet presAssocID="{CCC45FFD-EBD8-41D9-9267-3410803CEE4C}" presName="spaceB" presStyleCnt="0"/>
      <dgm:spPr/>
    </dgm:pt>
    <dgm:pt modelId="{BC3E99ED-B6D8-443E-909E-DC7FE26B9730}" type="pres">
      <dgm:prSet presAssocID="{CF1342C8-C052-48F4-953E-8938A7121CFE}" presName="space" presStyleCnt="0"/>
      <dgm:spPr/>
    </dgm:pt>
    <dgm:pt modelId="{CE6A052A-2B73-4B32-AFCE-450E2C89322B}" type="pres">
      <dgm:prSet presAssocID="{BB8DD8FF-9097-4788-BC8B-DDF5668C70C2}" presName="compositeA" presStyleCnt="0"/>
      <dgm:spPr/>
    </dgm:pt>
    <dgm:pt modelId="{17D67D4C-A108-4E07-A78D-7DB169490F51}" type="pres">
      <dgm:prSet presAssocID="{BB8DD8FF-9097-4788-BC8B-DDF5668C70C2}" presName="textA" presStyleLbl="revTx" presStyleIdx="6" presStyleCnt="7">
        <dgm:presLayoutVars>
          <dgm:bulletEnabled val="1"/>
        </dgm:presLayoutVars>
      </dgm:prSet>
      <dgm:spPr/>
    </dgm:pt>
    <dgm:pt modelId="{25266911-85B4-4C25-8A0F-4EBC291D7749}" type="pres">
      <dgm:prSet presAssocID="{BB8DD8FF-9097-4788-BC8B-DDF5668C70C2}" presName="circleA" presStyleLbl="node1" presStyleIdx="6" presStyleCnt="7"/>
      <dgm:spPr/>
    </dgm:pt>
    <dgm:pt modelId="{07761196-EA4C-4657-8318-A7C7DE3E24C9}" type="pres">
      <dgm:prSet presAssocID="{BB8DD8FF-9097-4788-BC8B-DDF5668C70C2}" presName="spaceA" presStyleCnt="0"/>
      <dgm:spPr/>
    </dgm:pt>
  </dgm:ptLst>
  <dgm:cxnLst>
    <dgm:cxn modelId="{2A469016-9F51-410F-B0C7-FAFE2EB9A3CF}" srcId="{D9AD8D6C-8118-42DF-9E23-6E95968F3B8E}" destId="{A68D6D2E-127F-45BA-A93A-CB6F4721875E}" srcOrd="0" destOrd="0" parTransId="{EB5F9A92-9DEC-4623-B6F6-4EBC451E905A}" sibTransId="{849FE6B3-37A9-421D-9538-E3F1731BB9CD}"/>
    <dgm:cxn modelId="{B946F918-A858-4C2E-901E-9C3FE37813EE}" type="presOf" srcId="{CCC45FFD-EBD8-41D9-9267-3410803CEE4C}" destId="{1BC60A50-CA11-4518-8513-DD85928B2A5A}" srcOrd="0" destOrd="0" presId="urn:microsoft.com/office/officeart/2005/8/layout/hProcess11"/>
    <dgm:cxn modelId="{95B25E1C-68A6-4011-A3AA-509D13F4973F}" type="presOf" srcId="{733EE30F-D041-4CFF-9100-2F320347B890}" destId="{F97DC14B-EEB8-4076-BED1-86B6EE62602A}" srcOrd="0" destOrd="0" presId="urn:microsoft.com/office/officeart/2005/8/layout/hProcess11"/>
    <dgm:cxn modelId="{E40AA428-14E7-41AB-A45B-67E49195084A}" srcId="{D9AD8D6C-8118-42DF-9E23-6E95968F3B8E}" destId="{5CA1E2EB-E36C-4F74-8136-F83A1D5382F7}" srcOrd="4" destOrd="0" parTransId="{FD78A8DD-756C-4FC6-BB03-402B0232269A}" sibTransId="{C448226D-8E89-402B-BA3C-263ED7BF8546}"/>
    <dgm:cxn modelId="{AB456E2D-7077-4926-BC0A-C4B9200B54B2}" srcId="{D9AD8D6C-8118-42DF-9E23-6E95968F3B8E}" destId="{6E6D9350-501F-4FE1-AA59-C1327C950586}" srcOrd="2" destOrd="0" parTransId="{241DC3EC-D53B-495B-BBB0-E5736583BA2F}" sibTransId="{A5F5F413-3901-453F-AD3D-DB46CF093227}"/>
    <dgm:cxn modelId="{493DB33A-F69C-478B-A8FA-BC44415FB8C1}" type="presOf" srcId="{6E6D9350-501F-4FE1-AA59-C1327C950586}" destId="{675005D9-6B89-4573-B2F5-AF19C100C02D}" srcOrd="0" destOrd="0" presId="urn:microsoft.com/office/officeart/2005/8/layout/hProcess11"/>
    <dgm:cxn modelId="{3D68E45F-F25B-407E-8F2F-967FC851AA7E}" srcId="{D9AD8D6C-8118-42DF-9E23-6E95968F3B8E}" destId="{7BF94039-D0B3-4DF8-9A81-F11C674A2335}" srcOrd="3" destOrd="0" parTransId="{7514B964-D160-4E98-82ED-25A17CC0F5F7}" sibTransId="{05CB151A-B588-428F-BB66-C0D7181AA549}"/>
    <dgm:cxn modelId="{AD580E43-C448-4A08-9D62-6E3C183F9EA9}" type="presOf" srcId="{A68D6D2E-127F-45BA-A93A-CB6F4721875E}" destId="{5881ACA7-F27A-4E73-AC75-6B20A690A7FB}" srcOrd="0" destOrd="0" presId="urn:microsoft.com/office/officeart/2005/8/layout/hProcess11"/>
    <dgm:cxn modelId="{DA22796F-EA8E-44EA-B9B5-991B66BE93ED}" srcId="{D9AD8D6C-8118-42DF-9E23-6E95968F3B8E}" destId="{BB8DD8FF-9097-4788-BC8B-DDF5668C70C2}" srcOrd="6" destOrd="0" parTransId="{492DEAA1-22BC-4DB6-9D7D-5EB9D16B3859}" sibTransId="{477F11B2-2CD3-40B0-91B1-2379797BEC56}"/>
    <dgm:cxn modelId="{C038017A-0B11-414D-818D-F90CD86149AF}" srcId="{D9AD8D6C-8118-42DF-9E23-6E95968F3B8E}" destId="{733EE30F-D041-4CFF-9100-2F320347B890}" srcOrd="1" destOrd="0" parTransId="{C481D86B-208F-4FC1-967B-EED68AB8ACA7}" sibTransId="{9A0844D3-F139-4E74-8C5A-9C02CDA2400B}"/>
    <dgm:cxn modelId="{7EC7A97D-5116-421E-81A3-C8EC32754587}" srcId="{D9AD8D6C-8118-42DF-9E23-6E95968F3B8E}" destId="{CCC45FFD-EBD8-41D9-9267-3410803CEE4C}" srcOrd="5" destOrd="0" parTransId="{D01F96E8-593D-4701-8EA8-C07C47699FCF}" sibTransId="{CF1342C8-C052-48F4-953E-8938A7121CFE}"/>
    <dgm:cxn modelId="{E8CF0997-1FA6-4D45-A643-591787DB7C3E}" type="presOf" srcId="{5CA1E2EB-E36C-4F74-8136-F83A1D5382F7}" destId="{A62F4225-ADD5-487B-9885-DB214DA9D934}" srcOrd="0" destOrd="0" presId="urn:microsoft.com/office/officeart/2005/8/layout/hProcess11"/>
    <dgm:cxn modelId="{3A0AA09E-9061-463A-B062-9518A0495968}" type="presOf" srcId="{7BF94039-D0B3-4DF8-9A81-F11C674A2335}" destId="{170DD52F-4B1B-4048-A313-428EE50D032B}" srcOrd="0" destOrd="0" presId="urn:microsoft.com/office/officeart/2005/8/layout/hProcess11"/>
    <dgm:cxn modelId="{8074DFC9-102D-4673-9E82-5C5A7573CB2A}" type="presOf" srcId="{BB8DD8FF-9097-4788-BC8B-DDF5668C70C2}" destId="{17D67D4C-A108-4E07-A78D-7DB169490F51}" srcOrd="0" destOrd="0" presId="urn:microsoft.com/office/officeart/2005/8/layout/hProcess11"/>
    <dgm:cxn modelId="{3B86C4E3-3677-4AA7-8D5B-0EFB657D1AA6}" type="presOf" srcId="{D9AD8D6C-8118-42DF-9E23-6E95968F3B8E}" destId="{F6198066-89D4-43C2-AF81-A0FB469C2D66}" srcOrd="0" destOrd="0" presId="urn:microsoft.com/office/officeart/2005/8/layout/hProcess11"/>
    <dgm:cxn modelId="{94F25D7F-51A1-4A51-BB77-75C034669C38}" type="presParOf" srcId="{F6198066-89D4-43C2-AF81-A0FB469C2D66}" destId="{CBE49F20-D4C5-4921-A05E-8F771D3B46F0}" srcOrd="0" destOrd="0" presId="urn:microsoft.com/office/officeart/2005/8/layout/hProcess11"/>
    <dgm:cxn modelId="{ECF7BC7B-DE5B-48CA-97F1-8ACDD2B57309}" type="presParOf" srcId="{F6198066-89D4-43C2-AF81-A0FB469C2D66}" destId="{DC73B308-2B1B-4865-A71D-336B4AF8561D}" srcOrd="1" destOrd="0" presId="urn:microsoft.com/office/officeart/2005/8/layout/hProcess11"/>
    <dgm:cxn modelId="{C7BBD6A2-AAEB-49CA-AD6D-5910A8ED90D8}" type="presParOf" srcId="{DC73B308-2B1B-4865-A71D-336B4AF8561D}" destId="{F28DBCF0-BAD3-4CA3-B299-45B7E0809C11}" srcOrd="0" destOrd="0" presId="urn:microsoft.com/office/officeart/2005/8/layout/hProcess11"/>
    <dgm:cxn modelId="{EB7EAD7D-455B-4487-B322-D7E6E1F4A1CC}" type="presParOf" srcId="{F28DBCF0-BAD3-4CA3-B299-45B7E0809C11}" destId="{5881ACA7-F27A-4E73-AC75-6B20A690A7FB}" srcOrd="0" destOrd="0" presId="urn:microsoft.com/office/officeart/2005/8/layout/hProcess11"/>
    <dgm:cxn modelId="{1DB17899-5A56-41FC-BEBD-FBB37C8CD35E}" type="presParOf" srcId="{F28DBCF0-BAD3-4CA3-B299-45B7E0809C11}" destId="{C07992F7-85BD-4460-AF30-426DE303A420}" srcOrd="1" destOrd="0" presId="urn:microsoft.com/office/officeart/2005/8/layout/hProcess11"/>
    <dgm:cxn modelId="{4DD133E9-A828-44ED-B763-3605C74B8169}" type="presParOf" srcId="{F28DBCF0-BAD3-4CA3-B299-45B7E0809C11}" destId="{EBD46AE4-55AE-4FA1-8483-4981A39BE316}" srcOrd="2" destOrd="0" presId="urn:microsoft.com/office/officeart/2005/8/layout/hProcess11"/>
    <dgm:cxn modelId="{1F5BB552-C3C9-4DE4-A350-979032D96F43}" type="presParOf" srcId="{DC73B308-2B1B-4865-A71D-336B4AF8561D}" destId="{68FFCB85-F304-4885-806F-9C10DEE1EB67}" srcOrd="1" destOrd="0" presId="urn:microsoft.com/office/officeart/2005/8/layout/hProcess11"/>
    <dgm:cxn modelId="{66A25A6F-1ABA-41F3-8B41-889F68D3574D}" type="presParOf" srcId="{DC73B308-2B1B-4865-A71D-336B4AF8561D}" destId="{FDA471F6-A604-4D0F-90A3-E80B64A7644B}" srcOrd="2" destOrd="0" presId="urn:microsoft.com/office/officeart/2005/8/layout/hProcess11"/>
    <dgm:cxn modelId="{22287B04-8B39-46FE-B328-155245228192}" type="presParOf" srcId="{FDA471F6-A604-4D0F-90A3-E80B64A7644B}" destId="{F97DC14B-EEB8-4076-BED1-86B6EE62602A}" srcOrd="0" destOrd="0" presId="urn:microsoft.com/office/officeart/2005/8/layout/hProcess11"/>
    <dgm:cxn modelId="{94DB5FB3-1425-4C0F-9CCE-62865369BD5A}" type="presParOf" srcId="{FDA471F6-A604-4D0F-90A3-E80B64A7644B}" destId="{4A62D3D3-B6B8-4992-A68B-4D499C6267D8}" srcOrd="1" destOrd="0" presId="urn:microsoft.com/office/officeart/2005/8/layout/hProcess11"/>
    <dgm:cxn modelId="{52E7AE61-A2EF-423E-8A21-A61642E1CF9D}" type="presParOf" srcId="{FDA471F6-A604-4D0F-90A3-E80B64A7644B}" destId="{EBD712BE-516B-4483-812C-E0EA6E6D2EB5}" srcOrd="2" destOrd="0" presId="urn:microsoft.com/office/officeart/2005/8/layout/hProcess11"/>
    <dgm:cxn modelId="{45A3DFD8-AB6F-4341-8716-8919B793391B}" type="presParOf" srcId="{DC73B308-2B1B-4865-A71D-336B4AF8561D}" destId="{39BD1F7E-3E56-4712-B7AD-51339BDDBEE0}" srcOrd="3" destOrd="0" presId="urn:microsoft.com/office/officeart/2005/8/layout/hProcess11"/>
    <dgm:cxn modelId="{4110D6A6-617F-408F-893A-A544415A9DFC}" type="presParOf" srcId="{DC73B308-2B1B-4865-A71D-336B4AF8561D}" destId="{F3AFEEA0-F9E1-49E0-A37D-A75B6DA37BAB}" srcOrd="4" destOrd="0" presId="urn:microsoft.com/office/officeart/2005/8/layout/hProcess11"/>
    <dgm:cxn modelId="{44744FEF-A527-4803-9B85-3EC811A6C906}" type="presParOf" srcId="{F3AFEEA0-F9E1-49E0-A37D-A75B6DA37BAB}" destId="{675005D9-6B89-4573-B2F5-AF19C100C02D}" srcOrd="0" destOrd="0" presId="urn:microsoft.com/office/officeart/2005/8/layout/hProcess11"/>
    <dgm:cxn modelId="{3B889497-7DC1-46C9-826A-58A4C8DD004A}" type="presParOf" srcId="{F3AFEEA0-F9E1-49E0-A37D-A75B6DA37BAB}" destId="{4904704E-F86B-4D95-BE6E-DBDE64F7F524}" srcOrd="1" destOrd="0" presId="urn:microsoft.com/office/officeart/2005/8/layout/hProcess11"/>
    <dgm:cxn modelId="{FEC4CCBA-7597-473E-9332-3ABFF92BD9F2}" type="presParOf" srcId="{F3AFEEA0-F9E1-49E0-A37D-A75B6DA37BAB}" destId="{DEFC52D3-334C-4F1B-9650-AE6ABB4F13A3}" srcOrd="2" destOrd="0" presId="urn:microsoft.com/office/officeart/2005/8/layout/hProcess11"/>
    <dgm:cxn modelId="{D080196C-018F-4C20-A45E-C1AA188E467D}" type="presParOf" srcId="{DC73B308-2B1B-4865-A71D-336B4AF8561D}" destId="{70E3D36E-E6C9-4D2C-B830-4B19BA0A86A7}" srcOrd="5" destOrd="0" presId="urn:microsoft.com/office/officeart/2005/8/layout/hProcess11"/>
    <dgm:cxn modelId="{54CC75A7-0A21-4AD8-A01E-4954A71B5955}" type="presParOf" srcId="{DC73B308-2B1B-4865-A71D-336B4AF8561D}" destId="{A2BD99F0-456C-4CF7-A6BF-639E483026AE}" srcOrd="6" destOrd="0" presId="urn:microsoft.com/office/officeart/2005/8/layout/hProcess11"/>
    <dgm:cxn modelId="{7EED29FD-EE88-4122-86F2-10621B48E795}" type="presParOf" srcId="{A2BD99F0-456C-4CF7-A6BF-639E483026AE}" destId="{170DD52F-4B1B-4048-A313-428EE50D032B}" srcOrd="0" destOrd="0" presId="urn:microsoft.com/office/officeart/2005/8/layout/hProcess11"/>
    <dgm:cxn modelId="{A32A96D5-5369-40AB-86DC-2915A8B3D597}" type="presParOf" srcId="{A2BD99F0-456C-4CF7-A6BF-639E483026AE}" destId="{3210EC28-D4C9-4CC5-9599-176362C9A731}" srcOrd="1" destOrd="0" presId="urn:microsoft.com/office/officeart/2005/8/layout/hProcess11"/>
    <dgm:cxn modelId="{3EF3A469-4533-40E9-A12A-862E5244D0DF}" type="presParOf" srcId="{A2BD99F0-456C-4CF7-A6BF-639E483026AE}" destId="{389EC31C-3964-47DD-BC41-2AC620372398}" srcOrd="2" destOrd="0" presId="urn:microsoft.com/office/officeart/2005/8/layout/hProcess11"/>
    <dgm:cxn modelId="{CB75E602-AE86-4111-B3A4-FBE6240ED779}" type="presParOf" srcId="{DC73B308-2B1B-4865-A71D-336B4AF8561D}" destId="{1D407F79-9619-442D-A4DF-4F7DFCBBE0E4}" srcOrd="7" destOrd="0" presId="urn:microsoft.com/office/officeart/2005/8/layout/hProcess11"/>
    <dgm:cxn modelId="{5712AC56-AB58-409D-BC83-8AAF6FFFB5AC}" type="presParOf" srcId="{DC73B308-2B1B-4865-A71D-336B4AF8561D}" destId="{F4547982-9F60-436A-87E2-19663342C875}" srcOrd="8" destOrd="0" presId="urn:microsoft.com/office/officeart/2005/8/layout/hProcess11"/>
    <dgm:cxn modelId="{A71EF7DB-AA53-412C-9095-9EA7E2334616}" type="presParOf" srcId="{F4547982-9F60-436A-87E2-19663342C875}" destId="{A62F4225-ADD5-487B-9885-DB214DA9D934}" srcOrd="0" destOrd="0" presId="urn:microsoft.com/office/officeart/2005/8/layout/hProcess11"/>
    <dgm:cxn modelId="{94551422-D673-48E8-A3DB-97630066D503}" type="presParOf" srcId="{F4547982-9F60-436A-87E2-19663342C875}" destId="{E2F52178-6EB1-484E-9B3F-02B9098F0CB9}" srcOrd="1" destOrd="0" presId="urn:microsoft.com/office/officeart/2005/8/layout/hProcess11"/>
    <dgm:cxn modelId="{DA6933CF-E51C-432A-8C1E-5D4A3E5BC858}" type="presParOf" srcId="{F4547982-9F60-436A-87E2-19663342C875}" destId="{095A70DC-6600-45E0-8EFC-37BA98FC6C32}" srcOrd="2" destOrd="0" presId="urn:microsoft.com/office/officeart/2005/8/layout/hProcess11"/>
    <dgm:cxn modelId="{47D41DA5-EC4A-470F-92E3-6E9621086C25}" type="presParOf" srcId="{DC73B308-2B1B-4865-A71D-336B4AF8561D}" destId="{5153FA9A-E023-4508-9AD7-5432CEE06AEC}" srcOrd="9" destOrd="0" presId="urn:microsoft.com/office/officeart/2005/8/layout/hProcess11"/>
    <dgm:cxn modelId="{E1625515-0EF4-400F-B1DA-0A3D034D23AD}" type="presParOf" srcId="{DC73B308-2B1B-4865-A71D-336B4AF8561D}" destId="{32944F58-195F-47F1-B6DB-07ADD58EFB2E}" srcOrd="10" destOrd="0" presId="urn:microsoft.com/office/officeart/2005/8/layout/hProcess11"/>
    <dgm:cxn modelId="{16721F1A-1C43-4279-A51F-B78E4CFC4422}" type="presParOf" srcId="{32944F58-195F-47F1-B6DB-07ADD58EFB2E}" destId="{1BC60A50-CA11-4518-8513-DD85928B2A5A}" srcOrd="0" destOrd="0" presId="urn:microsoft.com/office/officeart/2005/8/layout/hProcess11"/>
    <dgm:cxn modelId="{4DA040A8-A147-478E-84F2-6705DDC53C02}" type="presParOf" srcId="{32944F58-195F-47F1-B6DB-07ADD58EFB2E}" destId="{2288BC6A-85CA-4BA1-93D9-320E5E53C017}" srcOrd="1" destOrd="0" presId="urn:microsoft.com/office/officeart/2005/8/layout/hProcess11"/>
    <dgm:cxn modelId="{5DFEF85B-DC9A-4599-89A8-90C0EF32350D}" type="presParOf" srcId="{32944F58-195F-47F1-B6DB-07ADD58EFB2E}" destId="{512E2ADD-EE7E-4B22-A3B7-7E1D5CD26DC8}" srcOrd="2" destOrd="0" presId="urn:microsoft.com/office/officeart/2005/8/layout/hProcess11"/>
    <dgm:cxn modelId="{74BD19A6-3A67-4E16-B398-A105F744B12B}" type="presParOf" srcId="{DC73B308-2B1B-4865-A71D-336B4AF8561D}" destId="{BC3E99ED-B6D8-443E-909E-DC7FE26B9730}" srcOrd="11" destOrd="0" presId="urn:microsoft.com/office/officeart/2005/8/layout/hProcess11"/>
    <dgm:cxn modelId="{7C68D001-5BEF-4838-8090-C36EFD1F3D5D}" type="presParOf" srcId="{DC73B308-2B1B-4865-A71D-336B4AF8561D}" destId="{CE6A052A-2B73-4B32-AFCE-450E2C89322B}" srcOrd="12" destOrd="0" presId="urn:microsoft.com/office/officeart/2005/8/layout/hProcess11"/>
    <dgm:cxn modelId="{45DC25F7-DD0F-4A2E-9285-A56A48C01CF0}" type="presParOf" srcId="{CE6A052A-2B73-4B32-AFCE-450E2C89322B}" destId="{17D67D4C-A108-4E07-A78D-7DB169490F51}" srcOrd="0" destOrd="0" presId="urn:microsoft.com/office/officeart/2005/8/layout/hProcess11"/>
    <dgm:cxn modelId="{67ECC672-7661-4EEF-BE11-4049BE6973E0}" type="presParOf" srcId="{CE6A052A-2B73-4B32-AFCE-450E2C89322B}" destId="{25266911-85B4-4C25-8A0F-4EBC291D7749}" srcOrd="1" destOrd="0" presId="urn:microsoft.com/office/officeart/2005/8/layout/hProcess11"/>
    <dgm:cxn modelId="{4C0441C6-D67A-494F-A3DA-C9E1D7AC9C1A}" type="presParOf" srcId="{CE6A052A-2B73-4B32-AFCE-450E2C89322B}" destId="{07761196-EA4C-4657-8318-A7C7DE3E24C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D96BDF-4F3F-45E7-9222-8794044C46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0986390-1484-446E-ADA9-3BD836820950}">
      <dgm:prSet/>
      <dgm:spPr/>
      <dgm:t>
        <a:bodyPr/>
        <a:lstStyle/>
        <a:p>
          <a:r>
            <a:rPr lang="pt-BR" dirty="0"/>
            <a:t>Se dois neurônios em ambos os lados de uma sinapse (conexão) são ativados </a:t>
          </a:r>
          <a:r>
            <a:rPr lang="pt-BR" dirty="0">
              <a:solidFill>
                <a:srgbClr val="FFC000"/>
              </a:solidFill>
            </a:rPr>
            <a:t>simultaneamente</a:t>
          </a:r>
          <a:r>
            <a:rPr lang="pt-BR" dirty="0"/>
            <a:t>, </a:t>
          </a:r>
        </a:p>
      </dgm:t>
    </dgm:pt>
    <dgm:pt modelId="{15512E64-2FBB-4D6D-AF1B-8983FF59E9E1}" type="parTrans" cxnId="{29386799-6CE6-4E38-8FB6-E4D6A6540664}">
      <dgm:prSet/>
      <dgm:spPr/>
      <dgm:t>
        <a:bodyPr/>
        <a:lstStyle/>
        <a:p>
          <a:endParaRPr lang="pt-BR"/>
        </a:p>
      </dgm:t>
    </dgm:pt>
    <dgm:pt modelId="{95C4C09E-2182-4377-BF3F-CFBA929D54BB}" type="sibTrans" cxnId="{29386799-6CE6-4E38-8FB6-E4D6A6540664}">
      <dgm:prSet/>
      <dgm:spPr/>
      <dgm:t>
        <a:bodyPr/>
        <a:lstStyle/>
        <a:p>
          <a:endParaRPr lang="pt-BR"/>
        </a:p>
      </dgm:t>
    </dgm:pt>
    <dgm:pt modelId="{2177B720-EE4C-4F26-AB83-3E324CC28349}">
      <dgm:prSet/>
      <dgm:spPr/>
      <dgm:t>
        <a:bodyPr/>
        <a:lstStyle/>
        <a:p>
          <a:r>
            <a:rPr lang="pt-BR" dirty="0"/>
            <a:t>Se dois neurônios em ambos os lados de uma sinapse são ativados </a:t>
          </a:r>
          <a:r>
            <a:rPr lang="pt-BR" dirty="0">
              <a:solidFill>
                <a:srgbClr val="FFC000"/>
              </a:solidFill>
            </a:rPr>
            <a:t>assincronamente</a:t>
          </a:r>
          <a:r>
            <a:rPr lang="pt-BR" dirty="0"/>
            <a:t>, 	</a:t>
          </a:r>
        </a:p>
      </dgm:t>
    </dgm:pt>
    <dgm:pt modelId="{BDF38E71-94AB-489D-9C48-A9D47CF8587B}" type="parTrans" cxnId="{08B0AA2D-D887-41F4-A104-AD515FC1C127}">
      <dgm:prSet/>
      <dgm:spPr/>
      <dgm:t>
        <a:bodyPr/>
        <a:lstStyle/>
        <a:p>
          <a:endParaRPr lang="pt-BR"/>
        </a:p>
      </dgm:t>
    </dgm:pt>
    <dgm:pt modelId="{E274D6C4-458B-4B0B-A54B-37E175B0A068}" type="sibTrans" cxnId="{08B0AA2D-D887-41F4-A104-AD515FC1C127}">
      <dgm:prSet/>
      <dgm:spPr/>
      <dgm:t>
        <a:bodyPr/>
        <a:lstStyle/>
        <a:p>
          <a:endParaRPr lang="pt-BR"/>
        </a:p>
      </dgm:t>
    </dgm:pt>
    <dgm:pt modelId="{2E4CE244-95A8-4816-B396-9CEA50521AA5}">
      <dgm:prSet/>
      <dgm:spPr/>
      <dgm:t>
        <a:bodyPr/>
        <a:lstStyle/>
        <a:p>
          <a:r>
            <a:rPr lang="pt-BR" dirty="0"/>
            <a:t>Então a força daquela sinapse é seletivamente aumentada</a:t>
          </a:r>
        </a:p>
      </dgm:t>
    </dgm:pt>
    <dgm:pt modelId="{7C9A1E94-9EB5-4701-9C59-0C3E447D8B9D}" type="parTrans" cxnId="{7CF34C7D-68D8-4959-8D86-7CF88EF623A8}">
      <dgm:prSet/>
      <dgm:spPr/>
      <dgm:t>
        <a:bodyPr/>
        <a:lstStyle/>
        <a:p>
          <a:endParaRPr lang="pt-BR"/>
        </a:p>
      </dgm:t>
    </dgm:pt>
    <dgm:pt modelId="{A9AE453C-D92B-447A-813C-0B49BA7581FE}" type="sibTrans" cxnId="{7CF34C7D-68D8-4959-8D86-7CF88EF623A8}">
      <dgm:prSet/>
      <dgm:spPr/>
      <dgm:t>
        <a:bodyPr/>
        <a:lstStyle/>
        <a:p>
          <a:endParaRPr lang="pt-BR"/>
        </a:p>
      </dgm:t>
    </dgm:pt>
    <dgm:pt modelId="{BFD77BBB-9EF0-4643-A366-5396BE17BE1B}">
      <dgm:prSet/>
      <dgm:spPr/>
      <dgm:t>
        <a:bodyPr/>
        <a:lstStyle/>
        <a:p>
          <a:r>
            <a:rPr lang="pt-BR" dirty="0"/>
            <a:t>Então a força daquela sinapse é seletivamente enfraquecida ou eliminada.</a:t>
          </a:r>
        </a:p>
      </dgm:t>
    </dgm:pt>
    <dgm:pt modelId="{25CF2104-4DAF-4709-83AE-5AEA80953DDA}" type="parTrans" cxnId="{AF8C4429-7F74-47D5-A8A6-DB7F1C6BB43C}">
      <dgm:prSet/>
      <dgm:spPr/>
      <dgm:t>
        <a:bodyPr/>
        <a:lstStyle/>
        <a:p>
          <a:endParaRPr lang="pt-BR"/>
        </a:p>
      </dgm:t>
    </dgm:pt>
    <dgm:pt modelId="{13D50D69-9FC8-41C3-BD4E-8F3D531C4699}" type="sibTrans" cxnId="{AF8C4429-7F74-47D5-A8A6-DB7F1C6BB43C}">
      <dgm:prSet/>
      <dgm:spPr/>
      <dgm:t>
        <a:bodyPr/>
        <a:lstStyle/>
        <a:p>
          <a:endParaRPr lang="pt-BR"/>
        </a:p>
      </dgm:t>
    </dgm:pt>
    <dgm:pt modelId="{971E86C2-A040-4424-BDFE-65F1E7E302EE}" type="pres">
      <dgm:prSet presAssocID="{3AD96BDF-4F3F-45E7-9222-8794044C4605}" presName="linear" presStyleCnt="0">
        <dgm:presLayoutVars>
          <dgm:animLvl val="lvl"/>
          <dgm:resizeHandles val="exact"/>
        </dgm:presLayoutVars>
      </dgm:prSet>
      <dgm:spPr/>
    </dgm:pt>
    <dgm:pt modelId="{CF5BDB6B-2B7A-43B4-BAF4-794C84D68FAB}" type="pres">
      <dgm:prSet presAssocID="{40986390-1484-446E-ADA9-3BD83682095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72207B-CC35-4716-BA73-CF979473F0CF}" type="pres">
      <dgm:prSet presAssocID="{40986390-1484-446E-ADA9-3BD836820950}" presName="childText" presStyleLbl="revTx" presStyleIdx="0" presStyleCnt="2">
        <dgm:presLayoutVars>
          <dgm:bulletEnabled val="1"/>
        </dgm:presLayoutVars>
      </dgm:prSet>
      <dgm:spPr/>
    </dgm:pt>
    <dgm:pt modelId="{2DB18941-6A44-4FF4-A3FE-4638499254ED}" type="pres">
      <dgm:prSet presAssocID="{2177B720-EE4C-4F26-AB83-3E324CC2834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BC852F-18A4-4D95-B485-26C8ECEBA890}" type="pres">
      <dgm:prSet presAssocID="{2177B720-EE4C-4F26-AB83-3E324CC2834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2B4C01E-1EE1-4B4D-B6D5-FA7D8AD67656}" type="presOf" srcId="{3AD96BDF-4F3F-45E7-9222-8794044C4605}" destId="{971E86C2-A040-4424-BDFE-65F1E7E302EE}" srcOrd="0" destOrd="0" presId="urn:microsoft.com/office/officeart/2005/8/layout/vList2"/>
    <dgm:cxn modelId="{AF8C4429-7F74-47D5-A8A6-DB7F1C6BB43C}" srcId="{2177B720-EE4C-4F26-AB83-3E324CC28349}" destId="{BFD77BBB-9EF0-4643-A366-5396BE17BE1B}" srcOrd="0" destOrd="0" parTransId="{25CF2104-4DAF-4709-83AE-5AEA80953DDA}" sibTransId="{13D50D69-9FC8-41C3-BD4E-8F3D531C4699}"/>
    <dgm:cxn modelId="{08B0AA2D-D887-41F4-A104-AD515FC1C127}" srcId="{3AD96BDF-4F3F-45E7-9222-8794044C4605}" destId="{2177B720-EE4C-4F26-AB83-3E324CC28349}" srcOrd="1" destOrd="0" parTransId="{BDF38E71-94AB-489D-9C48-A9D47CF8587B}" sibTransId="{E274D6C4-458B-4B0B-A54B-37E175B0A068}"/>
    <dgm:cxn modelId="{4D0D9431-B9EE-4215-AE23-9129C792BC5C}" type="presOf" srcId="{2E4CE244-95A8-4816-B396-9CEA50521AA5}" destId="{1172207B-CC35-4716-BA73-CF979473F0CF}" srcOrd="0" destOrd="0" presId="urn:microsoft.com/office/officeart/2005/8/layout/vList2"/>
    <dgm:cxn modelId="{35D9FC6A-B4CF-4FCB-9EAC-83757EBB004A}" type="presOf" srcId="{40986390-1484-446E-ADA9-3BD836820950}" destId="{CF5BDB6B-2B7A-43B4-BAF4-794C84D68FAB}" srcOrd="0" destOrd="0" presId="urn:microsoft.com/office/officeart/2005/8/layout/vList2"/>
    <dgm:cxn modelId="{7CF34C7D-68D8-4959-8D86-7CF88EF623A8}" srcId="{40986390-1484-446E-ADA9-3BD836820950}" destId="{2E4CE244-95A8-4816-B396-9CEA50521AA5}" srcOrd="0" destOrd="0" parTransId="{7C9A1E94-9EB5-4701-9C59-0C3E447D8B9D}" sibTransId="{A9AE453C-D92B-447A-813C-0B49BA7581FE}"/>
    <dgm:cxn modelId="{97F79997-683B-40B1-BE52-3AF5AA7611BA}" type="presOf" srcId="{BFD77BBB-9EF0-4643-A366-5396BE17BE1B}" destId="{E2BC852F-18A4-4D95-B485-26C8ECEBA890}" srcOrd="0" destOrd="0" presId="urn:microsoft.com/office/officeart/2005/8/layout/vList2"/>
    <dgm:cxn modelId="{29386799-6CE6-4E38-8FB6-E4D6A6540664}" srcId="{3AD96BDF-4F3F-45E7-9222-8794044C4605}" destId="{40986390-1484-446E-ADA9-3BD836820950}" srcOrd="0" destOrd="0" parTransId="{15512E64-2FBB-4D6D-AF1B-8983FF59E9E1}" sibTransId="{95C4C09E-2182-4377-BF3F-CFBA929D54BB}"/>
    <dgm:cxn modelId="{2B6DA9C0-3E71-4BA4-8C5E-7F97D86CC63F}" type="presOf" srcId="{2177B720-EE4C-4F26-AB83-3E324CC28349}" destId="{2DB18941-6A44-4FF4-A3FE-4638499254ED}" srcOrd="0" destOrd="0" presId="urn:microsoft.com/office/officeart/2005/8/layout/vList2"/>
    <dgm:cxn modelId="{8F48EF4D-F7C5-467A-9B8E-4F272D7FD9D4}" type="presParOf" srcId="{971E86C2-A040-4424-BDFE-65F1E7E302EE}" destId="{CF5BDB6B-2B7A-43B4-BAF4-794C84D68FAB}" srcOrd="0" destOrd="0" presId="urn:microsoft.com/office/officeart/2005/8/layout/vList2"/>
    <dgm:cxn modelId="{09871654-597D-4273-8589-49861DA08415}" type="presParOf" srcId="{971E86C2-A040-4424-BDFE-65F1E7E302EE}" destId="{1172207B-CC35-4716-BA73-CF979473F0CF}" srcOrd="1" destOrd="0" presId="urn:microsoft.com/office/officeart/2005/8/layout/vList2"/>
    <dgm:cxn modelId="{9B6EF7A9-E13C-42E5-9D06-8FD1689BA2FF}" type="presParOf" srcId="{971E86C2-A040-4424-BDFE-65F1E7E302EE}" destId="{2DB18941-6A44-4FF4-A3FE-4638499254ED}" srcOrd="2" destOrd="0" presId="urn:microsoft.com/office/officeart/2005/8/layout/vList2"/>
    <dgm:cxn modelId="{015311FE-5A11-49EB-A6E6-6A9170D692A1}" type="presParOf" srcId="{971E86C2-A040-4424-BDFE-65F1E7E302EE}" destId="{E2BC852F-18A4-4D95-B485-26C8ECEBA89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F3B5D2-606A-4D46-89D9-8A9CC1E234F9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C433C39E-CC0B-4955-86DB-9755FFFB2F75}">
      <dgm:prSet/>
      <dgm:spPr>
        <a:noFill/>
      </dgm:spPr>
      <dgm:t>
        <a:bodyPr/>
        <a:lstStyle/>
        <a:p>
          <a:r>
            <a:rPr lang="pt-BR"/>
            <a:t>Propriedades da Sinapse Hebbiana:</a:t>
          </a:r>
        </a:p>
      </dgm:t>
    </dgm:pt>
    <dgm:pt modelId="{D75F62E1-8A81-4B9E-B19D-0BB49F00A205}" type="parTrans" cxnId="{CEF0F401-447D-4E15-8F15-91856E047D6A}">
      <dgm:prSet/>
      <dgm:spPr/>
      <dgm:t>
        <a:bodyPr/>
        <a:lstStyle/>
        <a:p>
          <a:endParaRPr lang="pt-BR"/>
        </a:p>
      </dgm:t>
    </dgm:pt>
    <dgm:pt modelId="{207201D1-A8CF-44E6-8D9E-1CE572ED46E3}" type="sibTrans" cxnId="{CEF0F401-447D-4E15-8F15-91856E047D6A}">
      <dgm:prSet/>
      <dgm:spPr/>
      <dgm:t>
        <a:bodyPr/>
        <a:lstStyle/>
        <a:p>
          <a:endParaRPr lang="pt-BR"/>
        </a:p>
      </dgm:t>
    </dgm:pt>
    <dgm:pt modelId="{5FD0CE1A-23C3-4223-8A5D-8E8704959633}">
      <dgm:prSet/>
      <dgm:spPr/>
      <dgm:t>
        <a:bodyPr/>
        <a:lstStyle/>
        <a:p>
          <a:r>
            <a:rPr lang="pt-BR" dirty="0"/>
            <a:t>Mecanismo </a:t>
          </a:r>
          <a:r>
            <a:rPr lang="pt-BR" b="1" dirty="0">
              <a:solidFill>
                <a:srgbClr val="000050"/>
              </a:solidFill>
            </a:rPr>
            <a:t>dependente do tempo</a:t>
          </a:r>
          <a:r>
            <a:rPr lang="pt-BR" dirty="0"/>
            <a:t>: dependem do tempo exato de ocorrência dos sinais </a:t>
          </a:r>
          <a:r>
            <a:rPr lang="pt-BR" dirty="0" err="1"/>
            <a:t>pré</a:t>
          </a:r>
          <a:r>
            <a:rPr lang="pt-BR" dirty="0"/>
            <a:t> e pós-sinápticos.</a:t>
          </a:r>
        </a:p>
      </dgm:t>
    </dgm:pt>
    <dgm:pt modelId="{C5B591D0-506F-4712-BA02-A5D48A68163D}" type="parTrans" cxnId="{249EB9C1-53F1-4276-8546-C6E2E993E3CC}">
      <dgm:prSet/>
      <dgm:spPr/>
      <dgm:t>
        <a:bodyPr/>
        <a:lstStyle/>
        <a:p>
          <a:endParaRPr lang="pt-BR"/>
        </a:p>
      </dgm:t>
    </dgm:pt>
    <dgm:pt modelId="{65A1447A-FE1C-4F32-ACBD-5B738E478561}" type="sibTrans" cxnId="{249EB9C1-53F1-4276-8546-C6E2E993E3CC}">
      <dgm:prSet/>
      <dgm:spPr/>
      <dgm:t>
        <a:bodyPr/>
        <a:lstStyle/>
        <a:p>
          <a:endParaRPr lang="pt-BR"/>
        </a:p>
      </dgm:t>
    </dgm:pt>
    <dgm:pt modelId="{B36BD7F8-7A8F-4ABB-9FAC-EB61B018A2BC}">
      <dgm:prSet/>
      <dgm:spPr/>
      <dgm:t>
        <a:bodyPr/>
        <a:lstStyle/>
        <a:p>
          <a:r>
            <a:rPr lang="pt-BR" dirty="0"/>
            <a:t>Mecanismo </a:t>
          </a:r>
          <a:r>
            <a:rPr lang="pt-BR" b="1" dirty="0">
              <a:solidFill>
                <a:srgbClr val="000050"/>
              </a:solidFill>
            </a:rPr>
            <a:t>local</a:t>
          </a:r>
          <a:r>
            <a:rPr lang="pt-BR" dirty="0"/>
            <a:t>: as modificações são locais (sinapses).</a:t>
          </a:r>
        </a:p>
      </dgm:t>
    </dgm:pt>
    <dgm:pt modelId="{0E35771E-152D-4EEF-AA7C-F36C6E03AE48}" type="parTrans" cxnId="{39D486A8-CD50-4DE7-9F51-53D8E105712B}">
      <dgm:prSet/>
      <dgm:spPr/>
      <dgm:t>
        <a:bodyPr/>
        <a:lstStyle/>
        <a:p>
          <a:endParaRPr lang="pt-BR"/>
        </a:p>
      </dgm:t>
    </dgm:pt>
    <dgm:pt modelId="{693337D6-3F4E-43F6-B6F6-E479E1D802F1}" type="sibTrans" cxnId="{39D486A8-CD50-4DE7-9F51-53D8E105712B}">
      <dgm:prSet/>
      <dgm:spPr/>
      <dgm:t>
        <a:bodyPr/>
        <a:lstStyle/>
        <a:p>
          <a:endParaRPr lang="pt-BR"/>
        </a:p>
      </dgm:t>
    </dgm:pt>
    <dgm:pt modelId="{0150F6D5-5110-4268-826D-A579CB52D3E6}">
      <dgm:prSet/>
      <dgm:spPr/>
      <dgm:t>
        <a:bodyPr/>
        <a:lstStyle/>
        <a:p>
          <a:r>
            <a:rPr lang="pt-BR" dirty="0"/>
            <a:t>Mecanismo </a:t>
          </a:r>
          <a:r>
            <a:rPr lang="pt-BR" b="1" dirty="0">
              <a:solidFill>
                <a:srgbClr val="000050"/>
              </a:solidFill>
            </a:rPr>
            <a:t>interativo</a:t>
          </a:r>
          <a:r>
            <a:rPr lang="pt-BR" dirty="0"/>
            <a:t>: depende explicitamente da interação entre os neurônios </a:t>
          </a:r>
          <a:r>
            <a:rPr lang="pt-BR" dirty="0" err="1"/>
            <a:t>pré</a:t>
          </a:r>
          <a:r>
            <a:rPr lang="pt-BR" dirty="0"/>
            <a:t> e pós-sinápticos de uma sinapse.</a:t>
          </a:r>
        </a:p>
      </dgm:t>
    </dgm:pt>
    <dgm:pt modelId="{820F2973-D6C1-4C60-86FF-C7C285DBCF30}" type="parTrans" cxnId="{6D755659-C397-409E-ADC8-6568AF67E26A}">
      <dgm:prSet/>
      <dgm:spPr/>
      <dgm:t>
        <a:bodyPr/>
        <a:lstStyle/>
        <a:p>
          <a:endParaRPr lang="pt-BR"/>
        </a:p>
      </dgm:t>
    </dgm:pt>
    <dgm:pt modelId="{51F0A19B-1B93-4B85-ACD8-4B1C11F61573}" type="sibTrans" cxnId="{6D755659-C397-409E-ADC8-6568AF67E26A}">
      <dgm:prSet/>
      <dgm:spPr/>
      <dgm:t>
        <a:bodyPr/>
        <a:lstStyle/>
        <a:p>
          <a:endParaRPr lang="pt-BR"/>
        </a:p>
      </dgm:t>
    </dgm:pt>
    <dgm:pt modelId="{D0E978D7-42B6-4915-B3D7-8956C74C8CBA}">
      <dgm:prSet/>
      <dgm:spPr/>
      <dgm:t>
        <a:bodyPr/>
        <a:lstStyle/>
        <a:p>
          <a:r>
            <a:rPr lang="pt-BR" dirty="0"/>
            <a:t>Mecanismo </a:t>
          </a:r>
          <a:r>
            <a:rPr lang="pt-BR" b="1" dirty="0">
              <a:solidFill>
                <a:srgbClr val="000050"/>
              </a:solidFill>
            </a:rPr>
            <a:t>correlativo</a:t>
          </a:r>
          <a:r>
            <a:rPr lang="pt-BR" dirty="0"/>
            <a:t>: a correlação temporal entre a atividade de ambos os lados da sinapse define a modificação da eficiência sináptica.</a:t>
          </a:r>
        </a:p>
      </dgm:t>
    </dgm:pt>
    <dgm:pt modelId="{F696F92B-BE99-4531-952A-13BB07E02886}" type="parTrans" cxnId="{3008A3DB-6A14-4D02-A047-4466FE7377AA}">
      <dgm:prSet/>
      <dgm:spPr/>
      <dgm:t>
        <a:bodyPr/>
        <a:lstStyle/>
        <a:p>
          <a:endParaRPr lang="pt-BR"/>
        </a:p>
      </dgm:t>
    </dgm:pt>
    <dgm:pt modelId="{4529DAB2-D99A-4498-8DD7-D84E6B5D64A3}" type="sibTrans" cxnId="{3008A3DB-6A14-4D02-A047-4466FE7377AA}">
      <dgm:prSet/>
      <dgm:spPr/>
      <dgm:t>
        <a:bodyPr/>
        <a:lstStyle/>
        <a:p>
          <a:endParaRPr lang="pt-BR"/>
        </a:p>
      </dgm:t>
    </dgm:pt>
    <dgm:pt modelId="{13A1B1BC-6F04-4F92-91CE-47E710E578CC}" type="pres">
      <dgm:prSet presAssocID="{D4F3B5D2-606A-4D46-89D9-8A9CC1E234F9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47B1A7B-F9E0-448E-9CF7-830BFB058362}" type="pres">
      <dgm:prSet presAssocID="{C433C39E-CC0B-4955-86DB-9755FFFB2F75}" presName="circle1" presStyleLbl="node1" presStyleIdx="0" presStyleCnt="1"/>
      <dgm:spPr/>
    </dgm:pt>
    <dgm:pt modelId="{3CF0EB14-AA29-463A-BDFF-3BBEB4F70768}" type="pres">
      <dgm:prSet presAssocID="{C433C39E-CC0B-4955-86DB-9755FFFB2F75}" presName="space" presStyleCnt="0"/>
      <dgm:spPr/>
    </dgm:pt>
    <dgm:pt modelId="{303CC34B-FFC6-411F-8960-8ED5E8058701}" type="pres">
      <dgm:prSet presAssocID="{C433C39E-CC0B-4955-86DB-9755FFFB2F75}" presName="rect1" presStyleLbl="alignAcc1" presStyleIdx="0" presStyleCnt="1"/>
      <dgm:spPr/>
    </dgm:pt>
    <dgm:pt modelId="{684888C4-E2C5-4A90-AB48-678B74B27F07}" type="pres">
      <dgm:prSet presAssocID="{C433C39E-CC0B-4955-86DB-9755FFFB2F75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5A50D9C8-BD8E-4346-AC2C-7AD551FD1C4C}" type="pres">
      <dgm:prSet presAssocID="{C433C39E-CC0B-4955-86DB-9755FFFB2F75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CEF0F401-447D-4E15-8F15-91856E047D6A}" srcId="{D4F3B5D2-606A-4D46-89D9-8A9CC1E234F9}" destId="{C433C39E-CC0B-4955-86DB-9755FFFB2F75}" srcOrd="0" destOrd="0" parTransId="{D75F62E1-8A81-4B9E-B19D-0BB49F00A205}" sibTransId="{207201D1-A8CF-44E6-8D9E-1CE572ED46E3}"/>
    <dgm:cxn modelId="{526DE748-A84F-4580-86FD-075DFC907896}" type="presOf" srcId="{D4F3B5D2-606A-4D46-89D9-8A9CC1E234F9}" destId="{13A1B1BC-6F04-4F92-91CE-47E710E578CC}" srcOrd="0" destOrd="0" presId="urn:microsoft.com/office/officeart/2005/8/layout/target3"/>
    <dgm:cxn modelId="{23A4F055-C1A5-443A-9D11-D456420A9764}" type="presOf" srcId="{B36BD7F8-7A8F-4ABB-9FAC-EB61B018A2BC}" destId="{5A50D9C8-BD8E-4346-AC2C-7AD551FD1C4C}" srcOrd="0" destOrd="1" presId="urn:microsoft.com/office/officeart/2005/8/layout/target3"/>
    <dgm:cxn modelId="{8EC61D56-EEFF-4192-873B-0FE8007CDDF0}" type="presOf" srcId="{5FD0CE1A-23C3-4223-8A5D-8E8704959633}" destId="{5A50D9C8-BD8E-4346-AC2C-7AD551FD1C4C}" srcOrd="0" destOrd="0" presId="urn:microsoft.com/office/officeart/2005/8/layout/target3"/>
    <dgm:cxn modelId="{6D755659-C397-409E-ADC8-6568AF67E26A}" srcId="{C433C39E-CC0B-4955-86DB-9755FFFB2F75}" destId="{0150F6D5-5110-4268-826D-A579CB52D3E6}" srcOrd="2" destOrd="0" parTransId="{820F2973-D6C1-4C60-86FF-C7C285DBCF30}" sibTransId="{51F0A19B-1B93-4B85-ACD8-4B1C11F61573}"/>
    <dgm:cxn modelId="{77940F89-A4C9-4E56-A29F-9F895F1C33CD}" type="presOf" srcId="{0150F6D5-5110-4268-826D-A579CB52D3E6}" destId="{5A50D9C8-BD8E-4346-AC2C-7AD551FD1C4C}" srcOrd="0" destOrd="2" presId="urn:microsoft.com/office/officeart/2005/8/layout/target3"/>
    <dgm:cxn modelId="{39D486A8-CD50-4DE7-9F51-53D8E105712B}" srcId="{C433C39E-CC0B-4955-86DB-9755FFFB2F75}" destId="{B36BD7F8-7A8F-4ABB-9FAC-EB61B018A2BC}" srcOrd="1" destOrd="0" parTransId="{0E35771E-152D-4EEF-AA7C-F36C6E03AE48}" sibTransId="{693337D6-3F4E-43F6-B6F6-E479E1D802F1}"/>
    <dgm:cxn modelId="{249EB9C1-53F1-4276-8546-C6E2E993E3CC}" srcId="{C433C39E-CC0B-4955-86DB-9755FFFB2F75}" destId="{5FD0CE1A-23C3-4223-8A5D-8E8704959633}" srcOrd="0" destOrd="0" parTransId="{C5B591D0-506F-4712-BA02-A5D48A68163D}" sibTransId="{65A1447A-FE1C-4F32-ACBD-5B738E478561}"/>
    <dgm:cxn modelId="{E06808CF-D52F-469F-8CED-6414E9B9E1F1}" type="presOf" srcId="{C433C39E-CC0B-4955-86DB-9755FFFB2F75}" destId="{684888C4-E2C5-4A90-AB48-678B74B27F07}" srcOrd="1" destOrd="0" presId="urn:microsoft.com/office/officeart/2005/8/layout/target3"/>
    <dgm:cxn modelId="{3008A3DB-6A14-4D02-A047-4466FE7377AA}" srcId="{C433C39E-CC0B-4955-86DB-9755FFFB2F75}" destId="{D0E978D7-42B6-4915-B3D7-8956C74C8CBA}" srcOrd="3" destOrd="0" parTransId="{F696F92B-BE99-4531-952A-13BB07E02886}" sibTransId="{4529DAB2-D99A-4498-8DD7-D84E6B5D64A3}"/>
    <dgm:cxn modelId="{BF7430F4-C02C-43FA-B8E7-5E4243ABBD57}" type="presOf" srcId="{C433C39E-CC0B-4955-86DB-9755FFFB2F75}" destId="{303CC34B-FFC6-411F-8960-8ED5E8058701}" srcOrd="0" destOrd="0" presId="urn:microsoft.com/office/officeart/2005/8/layout/target3"/>
    <dgm:cxn modelId="{A96BD7F9-B57D-4164-91A3-D49AD2679953}" type="presOf" srcId="{D0E978D7-42B6-4915-B3D7-8956C74C8CBA}" destId="{5A50D9C8-BD8E-4346-AC2C-7AD551FD1C4C}" srcOrd="0" destOrd="3" presId="urn:microsoft.com/office/officeart/2005/8/layout/target3"/>
    <dgm:cxn modelId="{699E68F7-2BBD-4540-AC32-56393AD27BE9}" type="presParOf" srcId="{13A1B1BC-6F04-4F92-91CE-47E710E578CC}" destId="{E47B1A7B-F9E0-448E-9CF7-830BFB058362}" srcOrd="0" destOrd="0" presId="urn:microsoft.com/office/officeart/2005/8/layout/target3"/>
    <dgm:cxn modelId="{134E2D2B-7A8B-4829-BBC0-326488816B50}" type="presParOf" srcId="{13A1B1BC-6F04-4F92-91CE-47E710E578CC}" destId="{3CF0EB14-AA29-463A-BDFF-3BBEB4F70768}" srcOrd="1" destOrd="0" presId="urn:microsoft.com/office/officeart/2005/8/layout/target3"/>
    <dgm:cxn modelId="{7050DE50-3808-40DD-BEF4-EF32B22C114C}" type="presParOf" srcId="{13A1B1BC-6F04-4F92-91CE-47E710E578CC}" destId="{303CC34B-FFC6-411F-8960-8ED5E8058701}" srcOrd="2" destOrd="0" presId="urn:microsoft.com/office/officeart/2005/8/layout/target3"/>
    <dgm:cxn modelId="{45B527F6-43FC-4F7B-A75D-E48E344FEF7B}" type="presParOf" srcId="{13A1B1BC-6F04-4F92-91CE-47E710E578CC}" destId="{684888C4-E2C5-4A90-AB48-678B74B27F07}" srcOrd="3" destOrd="0" presId="urn:microsoft.com/office/officeart/2005/8/layout/target3"/>
    <dgm:cxn modelId="{25FEB1A6-6A2A-4514-B86B-F557C7695323}" type="presParOf" srcId="{13A1B1BC-6F04-4F92-91CE-47E710E578CC}" destId="{5A50D9C8-BD8E-4346-AC2C-7AD551FD1C4C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D675B-E465-463B-AAB5-6612EF90499B}">
      <dsp:nvSpPr>
        <dsp:cNvPr id="0" name=""/>
        <dsp:cNvSpPr/>
      </dsp:nvSpPr>
      <dsp:spPr>
        <a:xfrm>
          <a:off x="0" y="7126"/>
          <a:ext cx="9144000" cy="1641509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Aprendizado é o processo pelo qual os </a:t>
          </a:r>
          <a:r>
            <a:rPr lang="pt-BR" sz="2300" kern="1200" dirty="0">
              <a:solidFill>
                <a:srgbClr val="FFFF00"/>
              </a:solidFill>
            </a:rPr>
            <a:t>parâmetros</a:t>
          </a:r>
          <a:r>
            <a:rPr lang="pt-BR" sz="2300" kern="1200" dirty="0"/>
            <a:t> (os pesos das conexões entre os neurônios) e </a:t>
          </a:r>
          <a:r>
            <a:rPr lang="pt-BR" sz="2300" kern="1200" dirty="0">
              <a:solidFill>
                <a:srgbClr val="FFFF00"/>
              </a:solidFill>
            </a:rPr>
            <a:t>hiperparâmetros</a:t>
          </a:r>
          <a:r>
            <a:rPr lang="pt-BR" sz="2300" kern="1200" dirty="0"/>
            <a:t>(taxas, topologia, etc.) de uma rede neural são ajustados através de uma forma continuada de estímulo pelo ambiente no qual a rede está operando.</a:t>
          </a:r>
        </a:p>
      </dsp:txBody>
      <dsp:txXfrm>
        <a:off x="80132" y="87258"/>
        <a:ext cx="8983736" cy="14812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49F20-D4C5-4921-A05E-8F771D3B46F0}">
      <dsp:nvSpPr>
        <dsp:cNvPr id="0" name=""/>
        <dsp:cNvSpPr/>
      </dsp:nvSpPr>
      <dsp:spPr>
        <a:xfrm>
          <a:off x="0" y="311774"/>
          <a:ext cx="10370389" cy="415698"/>
        </a:xfrm>
        <a:prstGeom prst="notchedRightArrow">
          <a:avLst/>
        </a:prstGeom>
        <a:solidFill>
          <a:srgbClr val="000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81ACA7-F27A-4E73-AC75-6B20A690A7FB}">
      <dsp:nvSpPr>
        <dsp:cNvPr id="0" name=""/>
        <dsp:cNvSpPr/>
      </dsp:nvSpPr>
      <dsp:spPr>
        <a:xfrm>
          <a:off x="797" y="0"/>
          <a:ext cx="1278322" cy="4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T0</a:t>
          </a:r>
          <a:endParaRPr lang="pt-BR" sz="2400" b="1" kern="1200" dirty="0"/>
        </a:p>
      </dsp:txBody>
      <dsp:txXfrm>
        <a:off x="797" y="0"/>
        <a:ext cx="1278322" cy="415698"/>
      </dsp:txXfrm>
    </dsp:sp>
    <dsp:sp modelId="{C07992F7-85BD-4460-AF30-426DE303A420}">
      <dsp:nvSpPr>
        <dsp:cNvPr id="0" name=""/>
        <dsp:cNvSpPr/>
      </dsp:nvSpPr>
      <dsp:spPr>
        <a:xfrm>
          <a:off x="587996" y="467661"/>
          <a:ext cx="103924" cy="10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DC14B-EEB8-4076-BED1-86B6EE62602A}">
      <dsp:nvSpPr>
        <dsp:cNvPr id="0" name=""/>
        <dsp:cNvSpPr/>
      </dsp:nvSpPr>
      <dsp:spPr>
        <a:xfrm>
          <a:off x="1343036" y="623548"/>
          <a:ext cx="1278322" cy="4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T1</a:t>
          </a:r>
        </a:p>
      </dsp:txBody>
      <dsp:txXfrm>
        <a:off x="1343036" y="623548"/>
        <a:ext cx="1278322" cy="415698"/>
      </dsp:txXfrm>
    </dsp:sp>
    <dsp:sp modelId="{4A62D3D3-B6B8-4992-A68B-4D499C6267D8}">
      <dsp:nvSpPr>
        <dsp:cNvPr id="0" name=""/>
        <dsp:cNvSpPr/>
      </dsp:nvSpPr>
      <dsp:spPr>
        <a:xfrm>
          <a:off x="1930235" y="467661"/>
          <a:ext cx="103924" cy="10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005D9-6B89-4573-B2F5-AF19C100C02D}">
      <dsp:nvSpPr>
        <dsp:cNvPr id="0" name=""/>
        <dsp:cNvSpPr/>
      </dsp:nvSpPr>
      <dsp:spPr>
        <a:xfrm>
          <a:off x="2685275" y="0"/>
          <a:ext cx="1278322" cy="4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T2</a:t>
          </a:r>
        </a:p>
      </dsp:txBody>
      <dsp:txXfrm>
        <a:off x="2685275" y="0"/>
        <a:ext cx="1278322" cy="415698"/>
      </dsp:txXfrm>
    </dsp:sp>
    <dsp:sp modelId="{4904704E-F86B-4D95-BE6E-DBDE64F7F524}">
      <dsp:nvSpPr>
        <dsp:cNvPr id="0" name=""/>
        <dsp:cNvSpPr/>
      </dsp:nvSpPr>
      <dsp:spPr>
        <a:xfrm>
          <a:off x="3272473" y="467661"/>
          <a:ext cx="103924" cy="10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DD52F-4B1B-4048-A313-428EE50D032B}">
      <dsp:nvSpPr>
        <dsp:cNvPr id="0" name=""/>
        <dsp:cNvSpPr/>
      </dsp:nvSpPr>
      <dsp:spPr>
        <a:xfrm>
          <a:off x="4027513" y="623548"/>
          <a:ext cx="1278322" cy="4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T3</a:t>
          </a:r>
        </a:p>
      </dsp:txBody>
      <dsp:txXfrm>
        <a:off x="4027513" y="623548"/>
        <a:ext cx="1278322" cy="415698"/>
      </dsp:txXfrm>
    </dsp:sp>
    <dsp:sp modelId="{3210EC28-D4C9-4CC5-9599-176362C9A731}">
      <dsp:nvSpPr>
        <dsp:cNvPr id="0" name=""/>
        <dsp:cNvSpPr/>
      </dsp:nvSpPr>
      <dsp:spPr>
        <a:xfrm>
          <a:off x="4614712" y="467661"/>
          <a:ext cx="103924" cy="10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F4225-ADD5-487B-9885-DB214DA9D934}">
      <dsp:nvSpPr>
        <dsp:cNvPr id="0" name=""/>
        <dsp:cNvSpPr/>
      </dsp:nvSpPr>
      <dsp:spPr>
        <a:xfrm>
          <a:off x="5369752" y="0"/>
          <a:ext cx="1278322" cy="4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T4</a:t>
          </a:r>
          <a:endParaRPr lang="pt-BR" sz="1800" b="1" kern="1200" dirty="0"/>
        </a:p>
      </dsp:txBody>
      <dsp:txXfrm>
        <a:off x="5369752" y="0"/>
        <a:ext cx="1278322" cy="415698"/>
      </dsp:txXfrm>
    </dsp:sp>
    <dsp:sp modelId="{E2F52178-6EB1-484E-9B3F-02B9098F0CB9}">
      <dsp:nvSpPr>
        <dsp:cNvPr id="0" name=""/>
        <dsp:cNvSpPr/>
      </dsp:nvSpPr>
      <dsp:spPr>
        <a:xfrm>
          <a:off x="5956951" y="467661"/>
          <a:ext cx="103924" cy="10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60A50-CA11-4518-8513-DD85928B2A5A}">
      <dsp:nvSpPr>
        <dsp:cNvPr id="0" name=""/>
        <dsp:cNvSpPr/>
      </dsp:nvSpPr>
      <dsp:spPr>
        <a:xfrm>
          <a:off x="6711991" y="623548"/>
          <a:ext cx="1278322" cy="4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T5</a:t>
          </a:r>
          <a:endParaRPr lang="pt-BR" sz="1800" b="1" kern="1200" dirty="0"/>
        </a:p>
      </dsp:txBody>
      <dsp:txXfrm>
        <a:off x="6711991" y="623548"/>
        <a:ext cx="1278322" cy="415698"/>
      </dsp:txXfrm>
    </dsp:sp>
    <dsp:sp modelId="{2288BC6A-85CA-4BA1-93D9-320E5E53C017}">
      <dsp:nvSpPr>
        <dsp:cNvPr id="0" name=""/>
        <dsp:cNvSpPr/>
      </dsp:nvSpPr>
      <dsp:spPr>
        <a:xfrm>
          <a:off x="7299190" y="467661"/>
          <a:ext cx="103924" cy="10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67D4C-A108-4E07-A78D-7DB169490F51}">
      <dsp:nvSpPr>
        <dsp:cNvPr id="0" name=""/>
        <dsp:cNvSpPr/>
      </dsp:nvSpPr>
      <dsp:spPr>
        <a:xfrm>
          <a:off x="8054229" y="0"/>
          <a:ext cx="1278322" cy="4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T6</a:t>
          </a:r>
          <a:endParaRPr lang="pt-BR" sz="1400" b="1" kern="1200" dirty="0"/>
        </a:p>
      </dsp:txBody>
      <dsp:txXfrm>
        <a:off x="8054229" y="0"/>
        <a:ext cx="1278322" cy="415698"/>
      </dsp:txXfrm>
    </dsp:sp>
    <dsp:sp modelId="{25266911-85B4-4C25-8A0F-4EBC291D7749}">
      <dsp:nvSpPr>
        <dsp:cNvPr id="0" name=""/>
        <dsp:cNvSpPr/>
      </dsp:nvSpPr>
      <dsp:spPr>
        <a:xfrm>
          <a:off x="8641428" y="467661"/>
          <a:ext cx="103924" cy="10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5BDB6B-2B7A-43B4-BAF4-794C84D68FAB}">
      <dsp:nvSpPr>
        <dsp:cNvPr id="0" name=""/>
        <dsp:cNvSpPr/>
      </dsp:nvSpPr>
      <dsp:spPr>
        <a:xfrm>
          <a:off x="0" y="7703"/>
          <a:ext cx="10370389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Se dois neurônios em ambos os lados de uma sinapse (conexão) são ativados </a:t>
          </a:r>
          <a:r>
            <a:rPr lang="pt-BR" sz="3600" kern="1200" dirty="0">
              <a:solidFill>
                <a:srgbClr val="FFC000"/>
              </a:solidFill>
            </a:rPr>
            <a:t>simultaneamente</a:t>
          </a:r>
          <a:r>
            <a:rPr lang="pt-BR" sz="3600" kern="1200" dirty="0"/>
            <a:t>, </a:t>
          </a:r>
        </a:p>
      </dsp:txBody>
      <dsp:txXfrm>
        <a:off x="69908" y="77611"/>
        <a:ext cx="10230573" cy="1292264"/>
      </dsp:txXfrm>
    </dsp:sp>
    <dsp:sp modelId="{1172207B-CC35-4716-BA73-CF979473F0CF}">
      <dsp:nvSpPr>
        <dsp:cNvPr id="0" name=""/>
        <dsp:cNvSpPr/>
      </dsp:nvSpPr>
      <dsp:spPr>
        <a:xfrm>
          <a:off x="0" y="1439784"/>
          <a:ext cx="10370389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26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800" kern="1200" dirty="0"/>
            <a:t>Então a força daquela sinapse é seletivamente aumentada</a:t>
          </a:r>
        </a:p>
      </dsp:txBody>
      <dsp:txXfrm>
        <a:off x="0" y="1439784"/>
        <a:ext cx="10370389" cy="596160"/>
      </dsp:txXfrm>
    </dsp:sp>
    <dsp:sp modelId="{2DB18941-6A44-4FF4-A3FE-4638499254ED}">
      <dsp:nvSpPr>
        <dsp:cNvPr id="0" name=""/>
        <dsp:cNvSpPr/>
      </dsp:nvSpPr>
      <dsp:spPr>
        <a:xfrm>
          <a:off x="0" y="2035944"/>
          <a:ext cx="10370389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Se dois neurônios em ambos os lados de uma sinapse são ativados </a:t>
          </a:r>
          <a:r>
            <a:rPr lang="pt-BR" sz="3600" kern="1200" dirty="0">
              <a:solidFill>
                <a:srgbClr val="FFC000"/>
              </a:solidFill>
            </a:rPr>
            <a:t>assincronamente</a:t>
          </a:r>
          <a:r>
            <a:rPr lang="pt-BR" sz="3600" kern="1200" dirty="0"/>
            <a:t>, 	</a:t>
          </a:r>
        </a:p>
      </dsp:txBody>
      <dsp:txXfrm>
        <a:off x="69908" y="2105852"/>
        <a:ext cx="10230573" cy="1292264"/>
      </dsp:txXfrm>
    </dsp:sp>
    <dsp:sp modelId="{E2BC852F-18A4-4D95-B485-26C8ECEBA890}">
      <dsp:nvSpPr>
        <dsp:cNvPr id="0" name=""/>
        <dsp:cNvSpPr/>
      </dsp:nvSpPr>
      <dsp:spPr>
        <a:xfrm>
          <a:off x="0" y="3468024"/>
          <a:ext cx="10370389" cy="875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26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800" kern="1200" dirty="0"/>
            <a:t>Então a força daquela sinapse é seletivamente enfraquecida ou eliminada.</a:t>
          </a:r>
        </a:p>
      </dsp:txBody>
      <dsp:txXfrm>
        <a:off x="0" y="3468024"/>
        <a:ext cx="10370389" cy="8756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B1A7B-F9E0-448E-9CF7-830BFB058362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CC34B-FFC6-411F-8960-8ED5E8058701}">
      <dsp:nvSpPr>
        <dsp:cNvPr id="0" name=""/>
        <dsp:cNvSpPr/>
      </dsp:nvSpPr>
      <dsp:spPr>
        <a:xfrm>
          <a:off x="2175669" y="0"/>
          <a:ext cx="8194721" cy="4351338"/>
        </a:xfrm>
        <a:prstGeom prst="rect">
          <a:avLst/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400" kern="1200"/>
            <a:t>Propriedades da Sinapse Hebbiana:</a:t>
          </a:r>
        </a:p>
      </dsp:txBody>
      <dsp:txXfrm>
        <a:off x="2175669" y="0"/>
        <a:ext cx="4097360" cy="4351338"/>
      </dsp:txXfrm>
    </dsp:sp>
    <dsp:sp modelId="{5A50D9C8-BD8E-4346-AC2C-7AD551FD1C4C}">
      <dsp:nvSpPr>
        <dsp:cNvPr id="0" name=""/>
        <dsp:cNvSpPr/>
      </dsp:nvSpPr>
      <dsp:spPr>
        <a:xfrm>
          <a:off x="6273029" y="0"/>
          <a:ext cx="4097360" cy="435133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Mecanismo </a:t>
          </a:r>
          <a:r>
            <a:rPr lang="pt-BR" sz="1900" b="1" kern="1200" dirty="0">
              <a:solidFill>
                <a:srgbClr val="000050"/>
              </a:solidFill>
            </a:rPr>
            <a:t>dependente do tempo</a:t>
          </a:r>
          <a:r>
            <a:rPr lang="pt-BR" sz="1900" kern="1200" dirty="0"/>
            <a:t>: dependem do tempo exato de ocorrência dos sinais </a:t>
          </a:r>
          <a:r>
            <a:rPr lang="pt-BR" sz="1900" kern="1200" dirty="0" err="1"/>
            <a:t>pré</a:t>
          </a:r>
          <a:r>
            <a:rPr lang="pt-BR" sz="1900" kern="1200" dirty="0"/>
            <a:t> e pós-sinápticos.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Mecanismo </a:t>
          </a:r>
          <a:r>
            <a:rPr lang="pt-BR" sz="1900" b="1" kern="1200" dirty="0">
              <a:solidFill>
                <a:srgbClr val="000050"/>
              </a:solidFill>
            </a:rPr>
            <a:t>local</a:t>
          </a:r>
          <a:r>
            <a:rPr lang="pt-BR" sz="1900" kern="1200" dirty="0"/>
            <a:t>: as modificações são locais (sinapses).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Mecanismo </a:t>
          </a:r>
          <a:r>
            <a:rPr lang="pt-BR" sz="1900" b="1" kern="1200" dirty="0">
              <a:solidFill>
                <a:srgbClr val="000050"/>
              </a:solidFill>
            </a:rPr>
            <a:t>interativo</a:t>
          </a:r>
          <a:r>
            <a:rPr lang="pt-BR" sz="1900" kern="1200" dirty="0"/>
            <a:t>: depende explicitamente da interação entre os neurônios </a:t>
          </a:r>
          <a:r>
            <a:rPr lang="pt-BR" sz="1900" kern="1200" dirty="0" err="1"/>
            <a:t>pré</a:t>
          </a:r>
          <a:r>
            <a:rPr lang="pt-BR" sz="1900" kern="1200" dirty="0"/>
            <a:t> e pós-sinápticos de uma sinapse.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Mecanismo </a:t>
          </a:r>
          <a:r>
            <a:rPr lang="pt-BR" sz="1900" b="1" kern="1200" dirty="0">
              <a:solidFill>
                <a:srgbClr val="000050"/>
              </a:solidFill>
            </a:rPr>
            <a:t>correlativo</a:t>
          </a:r>
          <a:r>
            <a:rPr lang="pt-BR" sz="1900" kern="1200" dirty="0"/>
            <a:t>: a correlação temporal entre a atividade de ambos os lados da sinapse define a modificação da eficiência sináptica.</a:t>
          </a:r>
        </a:p>
      </dsp:txBody>
      <dsp:txXfrm>
        <a:off x="6273029" y="0"/>
        <a:ext cx="4097360" cy="4351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FDF5E-BE83-4FF8-B275-052D5FEFF70F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886E6-2495-4E9F-A44C-7046EDF88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36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pt-B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pt-BR" dirty="0"/>
                  <a:t>E = </a:t>
                </a:r>
                <a:r>
                  <a:rPr lang="pt-BR" dirty="0" err="1"/>
                  <a:t>éta</a:t>
                </a:r>
                <a:endParaRPr lang="pt-BR" dirty="0"/>
              </a:p>
            </p:txBody>
          </p:sp>
        </mc:Choice>
        <mc:Fallback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𝜗</a:t>
                </a:r>
                <a:r>
                  <a:rPr lang="pt-BR" dirty="0"/>
                  <a:t>E = </a:t>
                </a:r>
                <a:r>
                  <a:rPr lang="pt-BR" dirty="0" err="1"/>
                  <a:t>éta</a:t>
                </a:r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886E6-2495-4E9F-A44C-7046EDF88ED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628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 = </a:t>
            </a:r>
            <a:r>
              <a:rPr lang="pt-BR" dirty="0" err="1"/>
              <a:t>rô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886E6-2495-4E9F-A44C-7046EDF88ED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39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75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72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7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83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43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20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41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3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41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20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48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FA704-DDBD-4AE1-95D7-6B8D9C9024FC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09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LgXvUgsYmw&amp;t=4s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LgXvUgsYmw&amp;t=4s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7E7BE-3A07-2FF6-62D1-DFDE33402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000" dirty="0"/>
              <a:t>Disciplina:</a:t>
            </a:r>
            <a:br>
              <a:rPr lang="pt-BR" dirty="0"/>
            </a:br>
            <a:r>
              <a:rPr lang="pt-BR" dirty="0"/>
              <a:t>Inteligência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EBED47-DD57-D1E8-C0C3-C07A6CBA5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08: Aprendizagem em redes neurais e seus principais paradigmas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6129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8D8FC-4245-90E4-7F4C-76A939CDF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 QUE É APRENDIZAGEM?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F56CFCA-2C85-0BCA-5E1E-4A95711E87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603525"/>
              </p:ext>
            </p:extLst>
          </p:nvPr>
        </p:nvGraphicFramePr>
        <p:xfrm>
          <a:off x="1524000" y="3602038"/>
          <a:ext cx="9144000" cy="165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053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B35F8-D044-D042-465B-C33B5016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6E64437-037B-1184-EFF0-888E40942F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410" y="1825625"/>
                <a:ext cx="4112465" cy="3184525"/>
              </a:xfrm>
            </p:spPr>
            <p:txBody>
              <a:bodyPr/>
              <a:lstStyle/>
              <a:p>
                <a:r>
                  <a:rPr lang="pt-BR" b="0" i="1" dirty="0">
                    <a:latin typeface="Cambria Math" panose="02040503050406030204" pitchFamily="18" charset="0"/>
                  </a:rPr>
                  <a:t>Equação do </a:t>
                </a:r>
                <a:r>
                  <a:rPr lang="pt-BR" b="0" i="1" dirty="0">
                    <a:highlight>
                      <a:srgbClr val="00FFFF"/>
                    </a:highlight>
                    <a:latin typeface="Cambria Math" panose="02040503050406030204" pitchFamily="18" charset="0"/>
                  </a:rPr>
                  <a:t>1º grau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highlight>
                          <a:srgbClr val="00FF00"/>
                        </a:highlight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pt-BR" b="0" dirty="0">
                  <a:highlight>
                    <a:srgbClr val="00FF00"/>
                  </a:highlight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highlight>
                          <a:srgbClr val="00FF00"/>
                        </a:highlight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pt-BR" dirty="0">
                  <a:highlight>
                    <a:srgbClr val="00FF00"/>
                  </a:highlight>
                </a:endParaRPr>
              </a:p>
              <a:p>
                <a:r>
                  <a:rPr lang="pt-BR" i="1" dirty="0">
                    <a:latin typeface="Cambria Math" panose="02040503050406030204" pitchFamily="18" charset="0"/>
                  </a:rPr>
                  <a:t>Equação do </a:t>
                </a:r>
                <a:r>
                  <a:rPr lang="pt-BR" i="1" dirty="0">
                    <a:highlight>
                      <a:srgbClr val="00FFFF"/>
                    </a:highlight>
                    <a:latin typeface="Cambria Math" panose="02040503050406030204" pitchFamily="18" charset="0"/>
                  </a:rPr>
                  <a:t>2º grau</a:t>
                </a:r>
                <a:endParaRPr lang="pt-BR" dirty="0">
                  <a:highlight>
                    <a:srgbClr val="00FFFF"/>
                  </a:highlight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b="0" i="1" smtClean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highlight>
                          <a:srgbClr val="00FF00"/>
                        </a:highlight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t-BR" dirty="0"/>
              </a:p>
              <a:p>
                <a:r>
                  <a:rPr lang="pt-BR" i="1" dirty="0">
                    <a:latin typeface="Cambria Math" panose="02040503050406030204" pitchFamily="18" charset="0"/>
                  </a:rPr>
                  <a:t>Equação do </a:t>
                </a:r>
                <a:r>
                  <a:rPr lang="pt-BR" i="1" dirty="0">
                    <a:highlight>
                      <a:srgbClr val="00FFFF"/>
                    </a:highlight>
                    <a:latin typeface="Cambria Math" panose="02040503050406030204" pitchFamily="18" charset="0"/>
                  </a:rPr>
                  <a:t>3º grau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highlight>
                              <a:srgbClr val="FF00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highlight>
                              <a:srgbClr val="FF00FF"/>
                            </a:highlight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pt-BR" b="0" i="1" smtClean="0">
                            <a:highlight>
                              <a:srgbClr val="FF00FF"/>
                            </a:highlight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b="0" i="1" smtClean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rPr>
                          <m:t>𝑏𝑥</m:t>
                        </m:r>
                      </m:e>
                      <m:sup>
                        <m:r>
                          <a:rPr lang="pt-BR" b="0" i="1" smtClean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highlight>
                          <a:srgbClr val="00FF00"/>
                        </a:highlight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6E64437-037B-1184-EFF0-888E40942F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10" y="1825625"/>
                <a:ext cx="4112465" cy="3184525"/>
              </a:xfrm>
              <a:blipFill>
                <a:blip r:embed="rId2"/>
                <a:stretch>
                  <a:fillRect l="-2667" t="-3250" b="-1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9DC9DD5C-259A-EE31-B419-180E2F3CF9FE}"/>
              </a:ext>
            </a:extLst>
          </p:cNvPr>
          <p:cNvSpPr txBox="1"/>
          <p:nvPr/>
        </p:nvSpPr>
        <p:spPr>
          <a:xfrm>
            <a:off x="3486152" y="520074"/>
            <a:ext cx="62096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Parâmetros = </a:t>
            </a:r>
            <a:r>
              <a:rPr lang="pt-BR" sz="3200" dirty="0">
                <a:highlight>
                  <a:srgbClr val="00FF00"/>
                </a:highlight>
              </a:rPr>
              <a:t>.</a:t>
            </a:r>
            <a:r>
              <a:rPr lang="pt-BR" sz="3200" dirty="0">
                <a:highlight>
                  <a:srgbClr val="FFFF00"/>
                </a:highlight>
              </a:rPr>
              <a:t>.</a:t>
            </a:r>
            <a:r>
              <a:rPr lang="pt-BR" sz="3200" dirty="0">
                <a:highlight>
                  <a:srgbClr val="FF0000"/>
                </a:highlight>
              </a:rPr>
              <a:t>.</a:t>
            </a:r>
            <a:r>
              <a:rPr lang="pt-BR" sz="3200" dirty="0">
                <a:highlight>
                  <a:srgbClr val="FF00FF"/>
                </a:highlight>
              </a:rPr>
              <a:t>.</a:t>
            </a:r>
          </a:p>
          <a:p>
            <a:r>
              <a:rPr lang="pt-BR" sz="2800" dirty="0"/>
              <a:t>Hiperparâmetros = </a:t>
            </a:r>
            <a:r>
              <a:rPr lang="pt-BR" sz="2800" dirty="0">
                <a:highlight>
                  <a:srgbClr val="00FFFF"/>
                </a:highlight>
              </a:rPr>
              <a:t>Graus do polinômio</a:t>
            </a:r>
          </a:p>
        </p:txBody>
      </p:sp>
    </p:spTree>
    <p:extLst>
      <p:ext uri="{BB962C8B-B14F-4D97-AF65-F5344CB8AC3E}">
        <p14:creationId xmlns:p14="http://schemas.microsoft.com/office/powerpoint/2010/main" val="3389165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760CF-F250-EC2B-750C-EF1DCC2F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APRENDIZAGEM?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B9D74-96E9-6053-7B86-3D4ACDA7F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processo de aprendizado implica a seguinte sequencia de eventos: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A rede neural é estimulada pelo ambiente.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A rede neural sofre modificações nos seus parâmetros livres como resultado deste estímulo.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A rede neural responde de uma maneira nova ao ambiente, devido ás modificações ocorridas na sua estrutura interna.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11E7D1D8-77B0-9270-1247-02D064DA3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433939"/>
              </p:ext>
            </p:extLst>
          </p:nvPr>
        </p:nvGraphicFramePr>
        <p:xfrm>
          <a:off x="910805" y="5137716"/>
          <a:ext cx="10370389" cy="1039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982AC64C-4567-6CFD-6810-CA5771489A86}"/>
              </a:ext>
            </a:extLst>
          </p:cNvPr>
          <p:cNvSpPr txBox="1"/>
          <p:nvPr/>
        </p:nvSpPr>
        <p:spPr>
          <a:xfrm>
            <a:off x="910806" y="6292820"/>
            <a:ext cx="103703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Esperasse que a rede responda melhor no tempo T+1 do que ela respondeu no tempo T.</a:t>
            </a:r>
          </a:p>
        </p:txBody>
      </p:sp>
    </p:spTree>
    <p:extLst>
      <p:ext uri="{BB962C8B-B14F-4D97-AF65-F5344CB8AC3E}">
        <p14:creationId xmlns:p14="http://schemas.microsoft.com/office/powerpoint/2010/main" val="59728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846FC-9E9C-C02C-F6E8-1F27A95D5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APRENDIZAGEM?</a:t>
            </a:r>
          </a:p>
        </p:txBody>
      </p:sp>
      <p:sp>
        <p:nvSpPr>
          <p:cNvPr id="5" name="Fluxograma: Processo 4">
            <a:extLst>
              <a:ext uri="{FF2B5EF4-FFF2-40B4-BE49-F238E27FC236}">
                <a16:creationId xmlns:a16="http://schemas.microsoft.com/office/drawing/2014/main" id="{35B481DD-F281-78AF-8C5F-A076F31A6032}"/>
              </a:ext>
            </a:extLst>
          </p:cNvPr>
          <p:cNvSpPr/>
          <p:nvPr/>
        </p:nvSpPr>
        <p:spPr>
          <a:xfrm>
            <a:off x="4487600" y="1503114"/>
            <a:ext cx="3624105" cy="2331694"/>
          </a:xfrm>
          <a:prstGeom prst="flowChartProcess">
            <a:avLst/>
          </a:prstGeom>
          <a:solidFill>
            <a:srgbClr val="000050"/>
          </a:solidFill>
          <a:ln w="5715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6155471F-172F-1053-B7E1-5A1763C0CC42}"/>
              </a:ext>
            </a:extLst>
          </p:cNvPr>
          <p:cNvSpPr/>
          <p:nvPr/>
        </p:nvSpPr>
        <p:spPr>
          <a:xfrm>
            <a:off x="2718220" y="2446336"/>
            <a:ext cx="1362075" cy="885825"/>
          </a:xfrm>
          <a:prstGeom prst="rightArrow">
            <a:avLst/>
          </a:prstGeom>
          <a:solidFill>
            <a:srgbClr val="0367A6"/>
          </a:solidFill>
          <a:ln w="28575">
            <a:solidFill>
              <a:srgbClr val="00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165E9A3-E6F7-40E5-22A3-E7E15E18551A}"/>
              </a:ext>
            </a:extLst>
          </p:cNvPr>
          <p:cNvSpPr/>
          <p:nvPr/>
        </p:nvSpPr>
        <p:spPr>
          <a:xfrm rot="1330838">
            <a:off x="1521909" y="4286249"/>
            <a:ext cx="2524125" cy="676275"/>
          </a:xfrm>
          <a:prstGeom prst="rightArrow">
            <a:avLst/>
          </a:prstGeom>
          <a:solidFill>
            <a:srgbClr val="0367A6"/>
          </a:solidFill>
          <a:ln w="28575">
            <a:solidFill>
              <a:srgbClr val="00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luxograma: Disco Magnético 3">
            <a:extLst>
              <a:ext uri="{FF2B5EF4-FFF2-40B4-BE49-F238E27FC236}">
                <a16:creationId xmlns:a16="http://schemas.microsoft.com/office/drawing/2014/main" id="{73C2AA82-44EE-BAE3-8844-9FB6D88EAD9C}"/>
              </a:ext>
            </a:extLst>
          </p:cNvPr>
          <p:cNvSpPr/>
          <p:nvPr/>
        </p:nvSpPr>
        <p:spPr>
          <a:xfrm>
            <a:off x="463761" y="2166937"/>
            <a:ext cx="1971675" cy="2524125"/>
          </a:xfrm>
          <a:prstGeom prst="flowChartMagneticDisk">
            <a:avLst/>
          </a:prstGeom>
          <a:solidFill>
            <a:srgbClr val="000050"/>
          </a:solidFill>
          <a:ln w="5715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Dados (Ambiente)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661ADC0A-6991-215B-3E52-D1E571A745D6}"/>
              </a:ext>
            </a:extLst>
          </p:cNvPr>
          <p:cNvSpPr/>
          <p:nvPr/>
        </p:nvSpPr>
        <p:spPr>
          <a:xfrm rot="16200000">
            <a:off x="5809883" y="4088478"/>
            <a:ext cx="1068382" cy="738185"/>
          </a:xfrm>
          <a:prstGeom prst="rightArrow">
            <a:avLst/>
          </a:prstGeom>
          <a:solidFill>
            <a:srgbClr val="0367A6"/>
          </a:solidFill>
          <a:ln w="28575">
            <a:solidFill>
              <a:srgbClr val="00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luxograma: Processo 5">
            <a:extLst>
              <a:ext uri="{FF2B5EF4-FFF2-40B4-BE49-F238E27FC236}">
                <a16:creationId xmlns:a16="http://schemas.microsoft.com/office/drawing/2014/main" id="{80EDD36C-6820-30BE-EE3F-C91ACE17BE4A}"/>
              </a:ext>
            </a:extLst>
          </p:cNvPr>
          <p:cNvSpPr/>
          <p:nvPr/>
        </p:nvSpPr>
        <p:spPr>
          <a:xfrm>
            <a:off x="4579584" y="5080335"/>
            <a:ext cx="3423070" cy="1325563"/>
          </a:xfrm>
          <a:prstGeom prst="flowChartProcess">
            <a:avLst/>
          </a:prstGeom>
          <a:solidFill>
            <a:srgbClr val="000050"/>
          </a:solidFill>
          <a:ln w="5715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Algoritmo de Aprendizagem</a:t>
            </a:r>
          </a:p>
        </p:txBody>
      </p:sp>
      <p:sp>
        <p:nvSpPr>
          <p:cNvPr id="10" name="Seta: Curva para a Esquerda 9">
            <a:extLst>
              <a:ext uri="{FF2B5EF4-FFF2-40B4-BE49-F238E27FC236}">
                <a16:creationId xmlns:a16="http://schemas.microsoft.com/office/drawing/2014/main" id="{DBB67CAD-DDF3-3ABB-5AEC-353A2C31A3EA}"/>
              </a:ext>
            </a:extLst>
          </p:cNvPr>
          <p:cNvSpPr/>
          <p:nvPr/>
        </p:nvSpPr>
        <p:spPr>
          <a:xfrm>
            <a:off x="8351912" y="2668961"/>
            <a:ext cx="1743075" cy="3238500"/>
          </a:xfrm>
          <a:prstGeom prst="curvedLeftArrow">
            <a:avLst/>
          </a:prstGeom>
          <a:solidFill>
            <a:srgbClr val="0367A6"/>
          </a:solidFill>
          <a:ln w="28575">
            <a:solidFill>
              <a:srgbClr val="00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30CB794-4062-3191-EA03-2F38B8EF5AE7}"/>
                  </a:ext>
                </a:extLst>
              </p:cNvPr>
              <p:cNvSpPr txBox="1"/>
              <p:nvPr/>
            </p:nvSpPr>
            <p:spPr>
              <a:xfrm>
                <a:off x="8854710" y="350798"/>
                <a:ext cx="290829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𝓌</m:t>
                      </m:r>
                      <m:r>
                        <a:rPr lang="pt-B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pt-B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pt-BR" sz="4400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30CB794-4062-3191-EA03-2F38B8EF5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710" y="350798"/>
                <a:ext cx="2908297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m 11">
            <a:extLst>
              <a:ext uri="{FF2B5EF4-FFF2-40B4-BE49-F238E27FC236}">
                <a16:creationId xmlns:a16="http://schemas.microsoft.com/office/drawing/2014/main" id="{0196FA20-B32A-5918-4BF5-2BF1038D95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5" t="492"/>
          <a:stretch>
            <a:fillRect/>
          </a:stretch>
        </p:blipFill>
        <p:spPr>
          <a:xfrm>
            <a:off x="4727807" y="1718974"/>
            <a:ext cx="3126624" cy="18690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C8C3BCC-2DFE-9505-216C-4F00960EC4BF}"/>
                  </a:ext>
                </a:extLst>
              </p:cNvPr>
              <p:cNvSpPr txBox="1"/>
              <p:nvPr/>
            </p:nvSpPr>
            <p:spPr>
              <a:xfrm>
                <a:off x="9105900" y="989965"/>
                <a:ext cx="25401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𝓌</m:t>
                    </m:r>
                  </m:oMath>
                </a14:m>
                <a:r>
                  <a:rPr lang="pt-BR" dirty="0"/>
                  <a:t>= Variação do peso </a:t>
                </a:r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C8C3BCC-2DFE-9505-216C-4F00960EC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900" y="989965"/>
                <a:ext cx="2540119" cy="369332"/>
              </a:xfrm>
              <a:prstGeom prst="rect">
                <a:avLst/>
              </a:prstGeom>
              <a:blipFill>
                <a:blip r:embed="rId4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647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F4974-4052-09A6-0BC8-B2AEFCEB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DE APRENDIZAGEM?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D2518A-3228-C59B-44E4-3F21CA712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Aprendizado por Correção do erro.</a:t>
            </a:r>
          </a:p>
          <a:p>
            <a:r>
              <a:rPr lang="pt-BR" dirty="0"/>
              <a:t>Aprendizado Baseado em memória</a:t>
            </a:r>
          </a:p>
          <a:p>
            <a:r>
              <a:rPr lang="pt-BR" dirty="0"/>
              <a:t>Aprendizado </a:t>
            </a:r>
            <a:r>
              <a:rPr lang="pt-BR" dirty="0" err="1"/>
              <a:t>Hebbiano</a:t>
            </a:r>
            <a:endParaRPr lang="pt-BR" dirty="0"/>
          </a:p>
          <a:p>
            <a:r>
              <a:rPr lang="pt-BR" dirty="0"/>
              <a:t>Aprendizado Competitivo</a:t>
            </a:r>
          </a:p>
          <a:p>
            <a:r>
              <a:rPr lang="pt-BR" dirty="0"/>
              <a:t>Aprendizado de Boltzmann</a:t>
            </a:r>
          </a:p>
        </p:txBody>
      </p:sp>
    </p:spTree>
    <p:extLst>
      <p:ext uri="{BB962C8B-B14F-4D97-AF65-F5344CB8AC3E}">
        <p14:creationId xmlns:p14="http://schemas.microsoft.com/office/powerpoint/2010/main" val="62714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21753-5005-FBA7-6A3F-B5BF1890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CORREÇÃO DO ERRO.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Fluxograma: Disco Magnético 3">
                <a:extLst>
                  <a:ext uri="{FF2B5EF4-FFF2-40B4-BE49-F238E27FC236}">
                    <a16:creationId xmlns:a16="http://schemas.microsoft.com/office/drawing/2014/main" id="{9055DE9C-0924-8744-BDF2-D276B1DF37C5}"/>
                  </a:ext>
                </a:extLst>
              </p:cNvPr>
              <p:cNvSpPr/>
              <p:nvPr/>
            </p:nvSpPr>
            <p:spPr>
              <a:xfrm>
                <a:off x="538369" y="2166937"/>
                <a:ext cx="1971675" cy="2524125"/>
              </a:xfrm>
              <a:prstGeom prst="flowChartMagneticDisk">
                <a:avLst/>
              </a:prstGeom>
              <a:solidFill>
                <a:srgbClr val="000050"/>
              </a:solidFill>
              <a:ln w="57150">
                <a:solidFill>
                  <a:srgbClr val="0367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dirty="0"/>
                  <a:t>Dados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60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pt-B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3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sz="3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t-BR" sz="3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sz="36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4" name="Fluxograma: Disco Magnético 3">
                <a:extLst>
                  <a:ext uri="{FF2B5EF4-FFF2-40B4-BE49-F238E27FC236}">
                    <a16:creationId xmlns:a16="http://schemas.microsoft.com/office/drawing/2014/main" id="{9055DE9C-0924-8744-BDF2-D276B1DF3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69" y="2166937"/>
                <a:ext cx="1971675" cy="2524125"/>
              </a:xfrm>
              <a:prstGeom prst="flowChartMagneticDisk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rgbClr val="0367A6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luxograma: Processo 5">
            <a:extLst>
              <a:ext uri="{FF2B5EF4-FFF2-40B4-BE49-F238E27FC236}">
                <a16:creationId xmlns:a16="http://schemas.microsoft.com/office/drawing/2014/main" id="{307F0AB4-9C7F-DFC5-C0D8-9F4DAEA714B2}"/>
              </a:ext>
            </a:extLst>
          </p:cNvPr>
          <p:cNvSpPr/>
          <p:nvPr/>
        </p:nvSpPr>
        <p:spPr>
          <a:xfrm>
            <a:off x="4384465" y="1690688"/>
            <a:ext cx="3423070" cy="876128"/>
          </a:xfrm>
          <a:prstGeom prst="flowChartProcess">
            <a:avLst/>
          </a:prstGeom>
          <a:solidFill>
            <a:srgbClr val="000050"/>
          </a:solidFill>
          <a:ln w="5715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Especialista</a:t>
            </a:r>
            <a:endParaRPr lang="pt-BR" sz="2400" dirty="0"/>
          </a:p>
        </p:txBody>
      </p:sp>
      <p:sp>
        <p:nvSpPr>
          <p:cNvPr id="7" name="Fluxograma: Processo 6">
            <a:extLst>
              <a:ext uri="{FF2B5EF4-FFF2-40B4-BE49-F238E27FC236}">
                <a16:creationId xmlns:a16="http://schemas.microsoft.com/office/drawing/2014/main" id="{E6ABB0E0-8E20-D9C9-C15A-8751DC6D3E52}"/>
              </a:ext>
            </a:extLst>
          </p:cNvPr>
          <p:cNvSpPr/>
          <p:nvPr/>
        </p:nvSpPr>
        <p:spPr>
          <a:xfrm>
            <a:off x="4300292" y="4149174"/>
            <a:ext cx="3423070" cy="850205"/>
          </a:xfrm>
          <a:prstGeom prst="flowChartProcess">
            <a:avLst/>
          </a:prstGeom>
          <a:solidFill>
            <a:srgbClr val="000050"/>
          </a:solidFill>
          <a:ln w="5715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Rede Neural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E57A84A-CD56-2885-7953-C90BADC637C8}"/>
              </a:ext>
            </a:extLst>
          </p:cNvPr>
          <p:cNvGrpSpPr/>
          <p:nvPr/>
        </p:nvGrpSpPr>
        <p:grpSpPr>
          <a:xfrm>
            <a:off x="9304126" y="3842878"/>
            <a:ext cx="1392449" cy="1457325"/>
            <a:chOff x="9304126" y="3842878"/>
            <a:chExt cx="1392449" cy="1457325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3DDA451-5C05-0DC7-0C8B-B41289C85C84}"/>
                </a:ext>
              </a:extLst>
            </p:cNvPr>
            <p:cNvSpPr/>
            <p:nvPr/>
          </p:nvSpPr>
          <p:spPr>
            <a:xfrm>
              <a:off x="9304126" y="3842878"/>
              <a:ext cx="1392449" cy="1457325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5997C5FE-EDEA-1AB4-57EA-59F4BB9FCE3A}"/>
                    </a:ext>
                  </a:extLst>
                </p:cNvPr>
                <p:cNvSpPr txBox="1"/>
                <p:nvPr/>
              </p:nvSpPr>
              <p:spPr>
                <a:xfrm>
                  <a:off x="9756564" y="4003387"/>
                  <a:ext cx="674793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6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pt-BR" sz="6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5997C5FE-EDEA-1AB4-57EA-59F4BB9FCE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6564" y="4003387"/>
                  <a:ext cx="674793" cy="101566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63D6DCCF-C6DC-2702-A5B2-47119DA30F74}"/>
              </a:ext>
            </a:extLst>
          </p:cNvPr>
          <p:cNvCxnSpPr>
            <a:cxnSpLocks/>
            <a:stCxn id="6" idx="1"/>
            <a:endCxn id="7" idx="1"/>
          </p:cNvCxnSpPr>
          <p:nvPr/>
        </p:nvCxnSpPr>
        <p:spPr>
          <a:xfrm rot="10800000" flipV="1">
            <a:off x="4300293" y="2128751"/>
            <a:ext cx="84173" cy="2445525"/>
          </a:xfrm>
          <a:prstGeom prst="bentConnector3">
            <a:avLst>
              <a:gd name="adj1" fmla="val 1276862"/>
            </a:avLst>
          </a:prstGeom>
          <a:ln w="57150">
            <a:solidFill>
              <a:srgbClr val="033E8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D45186F1-B9F1-836A-828A-3391A72DC79C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7807535" y="2128752"/>
            <a:ext cx="2192816" cy="1714126"/>
          </a:xfrm>
          <a:prstGeom prst="bentConnector2">
            <a:avLst/>
          </a:prstGeom>
          <a:ln w="57150">
            <a:solidFill>
              <a:srgbClr val="033E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D5E24544-4CE0-1674-AC2B-D12580D5FA54}"/>
              </a:ext>
            </a:extLst>
          </p:cNvPr>
          <p:cNvCxnSpPr>
            <a:cxnSpLocks/>
            <a:stCxn id="7" idx="3"/>
            <a:endCxn id="8" idx="2"/>
          </p:cNvCxnSpPr>
          <p:nvPr/>
        </p:nvCxnSpPr>
        <p:spPr>
          <a:xfrm flipV="1">
            <a:off x="7723362" y="4571541"/>
            <a:ext cx="1580764" cy="2736"/>
          </a:xfrm>
          <a:prstGeom prst="bentConnector3">
            <a:avLst/>
          </a:prstGeom>
          <a:ln w="57150">
            <a:solidFill>
              <a:srgbClr val="033E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95598894-BF28-0D95-66FC-DBA67B93F8E0}"/>
              </a:ext>
            </a:extLst>
          </p:cNvPr>
          <p:cNvCxnSpPr>
            <a:cxnSpLocks/>
            <a:stCxn id="8" idx="4"/>
            <a:endCxn id="7" idx="2"/>
          </p:cNvCxnSpPr>
          <p:nvPr/>
        </p:nvCxnSpPr>
        <p:spPr>
          <a:xfrm rot="5400000" flipH="1">
            <a:off x="7855677" y="3155529"/>
            <a:ext cx="300824" cy="3988524"/>
          </a:xfrm>
          <a:prstGeom prst="bentConnector3">
            <a:avLst>
              <a:gd name="adj1" fmla="val -136151"/>
            </a:avLst>
          </a:prstGeom>
          <a:ln w="57150">
            <a:solidFill>
              <a:srgbClr val="033E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EE6AB4DD-3227-0EE0-9434-79FF9EBDAB57}"/>
              </a:ext>
            </a:extLst>
          </p:cNvPr>
          <p:cNvSpPr/>
          <p:nvPr/>
        </p:nvSpPr>
        <p:spPr>
          <a:xfrm>
            <a:off x="2647949" y="3210548"/>
            <a:ext cx="612773" cy="698212"/>
          </a:xfrm>
          <a:prstGeom prst="rightArrow">
            <a:avLst/>
          </a:prstGeom>
          <a:solidFill>
            <a:srgbClr val="0367A6"/>
          </a:solidFill>
          <a:ln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8A68367-0FE5-76B8-A081-5B7C47EA4D88}"/>
              </a:ext>
            </a:extLst>
          </p:cNvPr>
          <p:cNvSpPr txBox="1"/>
          <p:nvPr/>
        </p:nvSpPr>
        <p:spPr>
          <a:xfrm>
            <a:off x="3398627" y="3229597"/>
            <a:ext cx="1905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6"/>
                </a:solidFill>
              </a:rPr>
              <a:t>Entrada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3FCB0A3-A867-EBB2-BEC4-C102BCAAA160}"/>
                  </a:ext>
                </a:extLst>
              </p:cNvPr>
              <p:cNvSpPr txBox="1"/>
              <p:nvPr/>
            </p:nvSpPr>
            <p:spPr>
              <a:xfrm>
                <a:off x="7723362" y="3307818"/>
                <a:ext cx="18071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>
                    <a:solidFill>
                      <a:srgbClr val="F2A516"/>
                    </a:solidFill>
                  </a:rPr>
                  <a:t>Resposta da rede 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solidFill>
                          <a:srgbClr val="F2A516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i="1" smtClean="0">
                            <a:solidFill>
                              <a:srgbClr val="F2A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rgbClr val="F2A51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F2A516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400" b="0" i="1" smtClean="0">
                        <a:solidFill>
                          <a:srgbClr val="F2A516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>
                  <a:solidFill>
                    <a:srgbClr val="F2A516"/>
                  </a:solidFill>
                </a:endParaRPr>
              </a:p>
            </p:txBody>
          </p:sp>
        </mc:Choice>
        <mc:Fallback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3FCB0A3-A867-EBB2-BEC4-C102BCAAA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362" y="3307818"/>
                <a:ext cx="1807176" cy="830997"/>
              </a:xfrm>
              <a:prstGeom prst="rect">
                <a:avLst/>
              </a:prstGeom>
              <a:blipFill>
                <a:blip r:embed="rId4"/>
                <a:stretch>
                  <a:fillRect l="-5405" t="-5882" r="-2365" b="-16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ixaDeTexto 29">
            <a:extLst>
              <a:ext uri="{FF2B5EF4-FFF2-40B4-BE49-F238E27FC236}">
                <a16:creationId xmlns:a16="http://schemas.microsoft.com/office/drawing/2014/main" id="{76A7246B-DC43-93B9-FC39-B5D5E5887574}"/>
              </a:ext>
            </a:extLst>
          </p:cNvPr>
          <p:cNvSpPr txBox="1"/>
          <p:nvPr/>
        </p:nvSpPr>
        <p:spPr>
          <a:xfrm>
            <a:off x="6833931" y="5660180"/>
            <a:ext cx="2070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Sinal de Erro</a:t>
            </a:r>
          </a:p>
        </p:txBody>
      </p:sp>
      <p:sp>
        <p:nvSpPr>
          <p:cNvPr id="31" name="Sinal de Subtração 30">
            <a:extLst>
              <a:ext uri="{FF2B5EF4-FFF2-40B4-BE49-F238E27FC236}">
                <a16:creationId xmlns:a16="http://schemas.microsoft.com/office/drawing/2014/main" id="{835D8A00-3BFC-E2CA-C1AB-551CFAFB27E2}"/>
              </a:ext>
            </a:extLst>
          </p:cNvPr>
          <p:cNvSpPr/>
          <p:nvPr/>
        </p:nvSpPr>
        <p:spPr>
          <a:xfrm>
            <a:off x="8326296" y="4130124"/>
            <a:ext cx="628333" cy="361490"/>
          </a:xfrm>
          <a:prstGeom prst="mathMinus">
            <a:avLst/>
          </a:prstGeom>
          <a:solidFill>
            <a:srgbClr val="F2A516"/>
          </a:solidFill>
          <a:ln>
            <a:solidFill>
              <a:srgbClr val="F2A5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Sinal de Adição 31">
            <a:extLst>
              <a:ext uri="{FF2B5EF4-FFF2-40B4-BE49-F238E27FC236}">
                <a16:creationId xmlns:a16="http://schemas.microsoft.com/office/drawing/2014/main" id="{988628F9-0A9B-1F98-54D9-BF892C0F439B}"/>
              </a:ext>
            </a:extLst>
          </p:cNvPr>
          <p:cNvSpPr/>
          <p:nvPr/>
        </p:nvSpPr>
        <p:spPr>
          <a:xfrm>
            <a:off x="10209319" y="3027928"/>
            <a:ext cx="584304" cy="584304"/>
          </a:xfrm>
          <a:prstGeom prst="mathPlus">
            <a:avLst/>
          </a:prstGeom>
          <a:solidFill>
            <a:srgbClr val="0367A6"/>
          </a:solidFill>
          <a:ln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B0A1C9C-CCB3-9BDA-2319-E5F57DDA6E3C}"/>
                  </a:ext>
                </a:extLst>
              </p:cNvPr>
              <p:cNvSpPr txBox="1"/>
              <p:nvPr/>
            </p:nvSpPr>
            <p:spPr>
              <a:xfrm>
                <a:off x="10093960" y="2331276"/>
                <a:ext cx="19781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>
                    <a:solidFill>
                      <a:srgbClr val="0367A6"/>
                    </a:solidFill>
                  </a:rPr>
                  <a:t>Resposta 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solidFill>
                          <a:srgbClr val="0367A6"/>
                        </a:solidFill>
                        <a:latin typeface="Cambria Math" panose="02040503050406030204" pitchFamily="18" charset="0"/>
                      </a:rPr>
                      <m:t>esejada</m:t>
                    </m:r>
                    <m:r>
                      <a:rPr lang="pt-BR" sz="2400" b="0" i="0" smtClean="0">
                        <a:solidFill>
                          <a:srgbClr val="0367A6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i="1" smtClean="0">
                            <a:solidFill>
                              <a:srgbClr val="0367A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rgbClr val="0367A6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0367A6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400" b="0" i="1" smtClean="0">
                        <a:solidFill>
                          <a:srgbClr val="0367A6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>
                  <a:solidFill>
                    <a:srgbClr val="0367A6"/>
                  </a:solidFill>
                </a:endParaRPr>
              </a:p>
            </p:txBody>
          </p:sp>
        </mc:Choice>
        <mc:Fallback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B0A1C9C-CCB3-9BDA-2319-E5F57DDA6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60" y="2331276"/>
                <a:ext cx="1978114" cy="830997"/>
              </a:xfrm>
              <a:prstGeom prst="rect">
                <a:avLst/>
              </a:prstGeom>
              <a:blipFill>
                <a:blip r:embed="rId5"/>
                <a:stretch>
                  <a:fillRect l="-4938" t="-5839" b="-153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07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F0127-F27A-4EE8-E9C5-78CDF4CEC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CORREÇÃO DO ERRO.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FDA675D-D438-08E5-1F8C-48D7618094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 resposta do modelo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é comparada à resposta desejada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e um sinal de erro é gerado: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4000" i="1" smtClean="0">
                            <a:solidFill>
                              <a:srgbClr val="033E8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000" b="0" i="1" smtClean="0">
                            <a:solidFill>
                              <a:srgbClr val="033E8C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4000" i="1">
                            <a:solidFill>
                              <a:srgbClr val="033E8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sz="4000" b="0" i="1" smtClean="0">
                            <a:solidFill>
                              <a:srgbClr val="033E8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000" b="0" i="1" smtClean="0">
                            <a:solidFill>
                              <a:srgbClr val="033E8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4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40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4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sz="4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pt-BR" sz="4000" b="0" dirty="0">
                  <a:solidFill>
                    <a:srgbClr val="FFC000"/>
                  </a:solidFill>
                </a:endParaRPr>
              </a:p>
              <a:p>
                <a:r>
                  <a:rPr lang="pt-BR" dirty="0"/>
                  <a:t>A técnica tem por objetivo reduzir o erro ao longo do processo de treinamento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FDA675D-D438-08E5-1F8C-48D7618094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 r="-6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985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B2D8F-A0CF-8549-04E1-6FEA4C58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CORREÇÃO DO ERRO.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4C6E5A7-9B5F-8ECA-1BE8-FCD13C943D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410" y="1825625"/>
                <a:ext cx="10370390" cy="477520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Diversos métodos podem ser usados para reduzir o erro. </a:t>
                </a:r>
              </a:p>
              <a:p>
                <a:r>
                  <a:rPr lang="pt-BR" dirty="0"/>
                  <a:t>Comumente, utiliza-se o método do gradiente descendente(regra delta).</a:t>
                </a:r>
              </a:p>
              <a:p>
                <a:r>
                  <a:rPr lang="pt-BR" b="0" dirty="0"/>
                  <a:t>Energia do Erro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32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pt-B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pt-BR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pt-BR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pt-BR" dirty="0"/>
              </a:p>
              <a:p>
                <a:r>
                  <a:rPr lang="pt-BR" dirty="0">
                    <a:ea typeface="Cambria Math" panose="02040503050406030204" pitchFamily="18" charset="0"/>
                  </a:rPr>
                  <a:t>Gradiente indica a direção e a magnitude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𝜗</m:t>
                        </m:r>
                        <m: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pt-BR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pt-BR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</m:den>
                    </m:f>
                  </m:oMath>
                </a14:m>
                <a:endParaRPr lang="pt-BR" sz="4000" dirty="0"/>
              </a:p>
              <a:p>
                <a:pPr lvl="1"/>
                <a14:m>
                  <m:oMath xmlns:m="http://schemas.openxmlformats.org/officeDocument/2006/math">
                    <m:r>
                      <a:rPr lang="pt-B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</m:t>
                        </m:r>
                      </m:e>
                      <m:sub>
                        <m: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t-BR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4C6E5A7-9B5F-8ECA-1BE8-FCD13C943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10" y="1825625"/>
                <a:ext cx="10370390" cy="4775200"/>
              </a:xfrm>
              <a:blipFill>
                <a:blip r:embed="rId3"/>
                <a:stretch>
                  <a:fillRect l="-1058" t="-21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10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CFEEE-0A44-ACF4-CAB8-D386BD6F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BASEADO EM MÉMORIA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150125C-7195-C73F-A87F-6909BBAF7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Armazena parte das experiências existentes em uma memória:</a:t>
                </a:r>
              </a:p>
              <a:p>
                <a14:m>
                  <m:oMath xmlns:m="http://schemas.openxmlformats.org/officeDocument/2006/math">
                    <m:r>
                      <a:rPr lang="pt-BR" sz="40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40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pt-BR" sz="4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pt-BR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)}</m:t>
                        </m:r>
                      </m:e>
                      <m:sub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pt-BR" dirty="0"/>
              </a:p>
              <a:p>
                <a:r>
                  <a:rPr lang="pt-BR" dirty="0"/>
                  <a:t>Para se classificar um novo dado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𝑡𝑒𝑠𝑡𝑒</m:t>
                        </m:r>
                      </m:sub>
                    </m:sSub>
                  </m:oMath>
                </a14:m>
                <a:r>
                  <a:rPr lang="pt-BR" dirty="0"/>
                  <a:t>,consulta-se a memória disponível.</a:t>
                </a:r>
              </a:p>
              <a:p>
                <a:r>
                  <a:rPr lang="pt-BR" dirty="0"/>
                  <a:t>O exemplo é classificado segundo os exemplos contidos na vizinhança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𝑡𝑒𝑠𝑡𝑒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150125C-7195-C73F-A87F-6909BBAF7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 r="-15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784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F9AA9-A1AE-06D5-4B78-A9ED9429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BASEADO EM MÉMORIA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ED92F43-FF77-7284-5E0A-0CC3275962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Dois passos fundamentais: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pt-BR" dirty="0"/>
                  <a:t>Critério para definir a vizinhança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𝑡𝑒𝑠𝑡𝑒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pt-BR" dirty="0"/>
                  <a:t>Regra de aprendizagem aplicada aos exemplos</a:t>
                </a:r>
                <a:br>
                  <a:rPr lang="pt-BR" dirty="0"/>
                </a:br>
                <a:r>
                  <a:rPr lang="pt-BR" dirty="0"/>
                  <a:t> pertencentes à vizinhança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pt-BR" dirty="0"/>
              </a:p>
              <a:p>
                <a:r>
                  <a:rPr lang="pt-BR" dirty="0"/>
                  <a:t>No caso mais simples: </a:t>
                </a:r>
                <a:r>
                  <a:rPr lang="pt-BR" dirty="0">
                    <a:solidFill>
                      <a:srgbClr val="F2A516"/>
                    </a:solidFill>
                  </a:rPr>
                  <a:t>regra do vizinho mais próximo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𝑡𝑒𝑠𝑡𝑒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𝑡𝑒𝑠𝑡𝑒</m:t>
                            </m:r>
                          </m:sub>
                        </m:sSub>
                      </m:e>
                    </m:d>
                  </m:oMath>
                </a14:m>
                <a:endParaRPr lang="pt-B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𝑡𝑒𝑠𝑡𝑒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ED92F43-FF77-7284-5E0A-0CC327596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Agrupar 42">
            <a:extLst>
              <a:ext uri="{FF2B5EF4-FFF2-40B4-BE49-F238E27FC236}">
                <a16:creationId xmlns:a16="http://schemas.microsoft.com/office/drawing/2014/main" id="{CD47C8FF-C075-B846-FF93-579217B5A730}"/>
              </a:ext>
            </a:extLst>
          </p:cNvPr>
          <p:cNvGrpSpPr/>
          <p:nvPr/>
        </p:nvGrpSpPr>
        <p:grpSpPr>
          <a:xfrm>
            <a:off x="8699323" y="1600201"/>
            <a:ext cx="3416598" cy="1657350"/>
            <a:chOff x="6467475" y="3543300"/>
            <a:chExt cx="5429250" cy="2633663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910613EA-71A9-D089-9731-6498CB888956}"/>
                </a:ext>
              </a:extLst>
            </p:cNvPr>
            <p:cNvSpPr/>
            <p:nvPr/>
          </p:nvSpPr>
          <p:spPr>
            <a:xfrm>
              <a:off x="6467475" y="3543300"/>
              <a:ext cx="5429250" cy="2633663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815F2D30-9D48-7591-8593-5DC29CB205C0}"/>
                </a:ext>
              </a:extLst>
            </p:cNvPr>
            <p:cNvSpPr/>
            <p:nvPr/>
          </p:nvSpPr>
          <p:spPr>
            <a:xfrm>
              <a:off x="7991475" y="3867150"/>
              <a:ext cx="1771650" cy="177165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3543412-23EA-AC55-5F50-AE6BA08D2887}"/>
                </a:ext>
              </a:extLst>
            </p:cNvPr>
            <p:cNvSpPr txBox="1"/>
            <p:nvPr/>
          </p:nvSpPr>
          <p:spPr>
            <a:xfrm>
              <a:off x="7075426" y="400129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0EE9474-2240-DF26-EB46-8177D072EDD2}"/>
                </a:ext>
              </a:extLst>
            </p:cNvPr>
            <p:cNvSpPr txBox="1"/>
            <p:nvPr/>
          </p:nvSpPr>
          <p:spPr>
            <a:xfrm>
              <a:off x="6921377" y="450556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98D2ADF-924E-2F45-9411-1CB3082AF5DF}"/>
                </a:ext>
              </a:extLst>
            </p:cNvPr>
            <p:cNvSpPr txBox="1"/>
            <p:nvPr/>
          </p:nvSpPr>
          <p:spPr>
            <a:xfrm>
              <a:off x="7075426" y="467546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D9F578-0DF3-88EE-FF33-A3C3C2593C00}"/>
                </a:ext>
              </a:extLst>
            </p:cNvPr>
            <p:cNvSpPr txBox="1"/>
            <p:nvPr/>
          </p:nvSpPr>
          <p:spPr>
            <a:xfrm>
              <a:off x="9726489" y="36824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A99D8664-C08F-A3C3-4ED3-0ADBD68A3976}"/>
                </a:ext>
              </a:extLst>
            </p:cNvPr>
            <p:cNvSpPr txBox="1"/>
            <p:nvPr/>
          </p:nvSpPr>
          <p:spPr>
            <a:xfrm>
              <a:off x="10210615" y="360362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38391C53-19B6-A421-F093-F959DDE56C1E}"/>
                </a:ext>
              </a:extLst>
            </p:cNvPr>
            <p:cNvSpPr txBox="1"/>
            <p:nvPr/>
          </p:nvSpPr>
          <p:spPr>
            <a:xfrm>
              <a:off x="10694741" y="372979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8AAED83B-F64B-92FB-A1DD-F2C8154BAE48}"/>
                </a:ext>
              </a:extLst>
            </p:cNvPr>
            <p:cNvSpPr txBox="1"/>
            <p:nvPr/>
          </p:nvSpPr>
          <p:spPr>
            <a:xfrm>
              <a:off x="11190041" y="408884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17908C25-2015-0F11-EE37-6C026F97A831}"/>
                </a:ext>
              </a:extLst>
            </p:cNvPr>
            <p:cNvSpPr txBox="1"/>
            <p:nvPr/>
          </p:nvSpPr>
          <p:spPr>
            <a:xfrm>
              <a:off x="10404413" y="423406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035423D2-527A-21F8-07B5-A94F8A59A900}"/>
                </a:ext>
              </a:extLst>
            </p:cNvPr>
            <p:cNvSpPr txBox="1"/>
            <p:nvPr/>
          </p:nvSpPr>
          <p:spPr>
            <a:xfrm>
              <a:off x="10008024" y="455693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9589C202-2FDB-F6D4-7926-52FE9262BC41}"/>
                </a:ext>
              </a:extLst>
            </p:cNvPr>
            <p:cNvSpPr txBox="1"/>
            <p:nvPr/>
          </p:nvSpPr>
          <p:spPr>
            <a:xfrm>
              <a:off x="10935799" y="463438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83BCC76-A807-FBE6-9DED-1F5E046C699F}"/>
                </a:ext>
              </a:extLst>
            </p:cNvPr>
            <p:cNvSpPr txBox="1"/>
            <p:nvPr/>
          </p:nvSpPr>
          <p:spPr>
            <a:xfrm>
              <a:off x="11482645" y="4995265"/>
              <a:ext cx="308097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6EF4FE48-AF3F-5948-3FCE-FA91972CA72B}"/>
                </a:ext>
              </a:extLst>
            </p:cNvPr>
            <p:cNvSpPr txBox="1"/>
            <p:nvPr/>
          </p:nvSpPr>
          <p:spPr>
            <a:xfrm>
              <a:off x="10781750" y="517993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2A0C1E9-1DA4-F5BD-AC21-6F0A5E6F6E8F}"/>
                </a:ext>
              </a:extLst>
            </p:cNvPr>
            <p:cNvSpPr txBox="1"/>
            <p:nvPr/>
          </p:nvSpPr>
          <p:spPr>
            <a:xfrm>
              <a:off x="10195413" y="517993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8C10F05F-475E-7E73-CE5B-7F0F1EBA878F}"/>
                </a:ext>
              </a:extLst>
            </p:cNvPr>
            <p:cNvSpPr txBox="1"/>
            <p:nvPr/>
          </p:nvSpPr>
          <p:spPr>
            <a:xfrm>
              <a:off x="7789986" y="38166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08E0CC65-CAE7-EF2D-0EFD-7E7F3F769A27}"/>
                </a:ext>
              </a:extLst>
            </p:cNvPr>
            <p:cNvSpPr txBox="1"/>
            <p:nvPr/>
          </p:nvSpPr>
          <p:spPr>
            <a:xfrm>
              <a:off x="8196448" y="400153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9951B5A1-3350-9EA5-1172-1ACF7962C1B1}"/>
                </a:ext>
              </a:extLst>
            </p:cNvPr>
            <p:cNvSpPr txBox="1"/>
            <p:nvPr/>
          </p:nvSpPr>
          <p:spPr>
            <a:xfrm>
              <a:off x="8579459" y="397295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BF03CA38-72ED-F717-ECEE-8EC976FB122C}"/>
                </a:ext>
              </a:extLst>
            </p:cNvPr>
            <p:cNvSpPr txBox="1"/>
            <p:nvPr/>
          </p:nvSpPr>
          <p:spPr>
            <a:xfrm>
              <a:off x="8991785" y="413623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4FC145EE-5795-DA04-07E1-A05B8685BA9E}"/>
                </a:ext>
              </a:extLst>
            </p:cNvPr>
            <p:cNvSpPr txBox="1"/>
            <p:nvPr/>
          </p:nvSpPr>
          <p:spPr>
            <a:xfrm>
              <a:off x="8094051" y="48106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2FC7271-065D-8AB0-D9A7-96DC6E9FBF1C}"/>
                </a:ext>
              </a:extLst>
            </p:cNvPr>
            <p:cNvSpPr txBox="1"/>
            <p:nvPr/>
          </p:nvSpPr>
          <p:spPr>
            <a:xfrm>
              <a:off x="8579459" y="517993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E55034E6-F446-0E1B-09BE-DF9D2864791A}"/>
                </a:ext>
              </a:extLst>
            </p:cNvPr>
            <p:cNvSpPr txBox="1"/>
            <p:nvPr/>
          </p:nvSpPr>
          <p:spPr>
            <a:xfrm>
              <a:off x="9319845" y="518838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4F2CE674-9B2B-87EC-110F-1CA761920E3F}"/>
                </a:ext>
              </a:extLst>
            </p:cNvPr>
            <p:cNvSpPr txBox="1"/>
            <p:nvPr/>
          </p:nvSpPr>
          <p:spPr>
            <a:xfrm>
              <a:off x="7313184" y="536459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8920567E-539D-E874-F895-E772DBFD9D29}"/>
                </a:ext>
              </a:extLst>
            </p:cNvPr>
            <p:cNvSpPr txBox="1"/>
            <p:nvPr/>
          </p:nvSpPr>
          <p:spPr>
            <a:xfrm>
              <a:off x="6617402" y="500848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E1278F71-727F-8BC1-72EC-22231680DB9E}"/>
                </a:ext>
              </a:extLst>
            </p:cNvPr>
            <p:cNvSpPr txBox="1"/>
            <p:nvPr/>
          </p:nvSpPr>
          <p:spPr>
            <a:xfrm>
              <a:off x="6715212" y="568975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FF83EB13-D18E-7417-9C69-3962E3AFC82B}"/>
                </a:ext>
              </a:extLst>
            </p:cNvPr>
            <p:cNvSpPr txBox="1"/>
            <p:nvPr/>
          </p:nvSpPr>
          <p:spPr>
            <a:xfrm>
              <a:off x="7888350" y="57779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5420880C-221A-EF8F-05CE-D72F950B6544}"/>
                </a:ext>
              </a:extLst>
            </p:cNvPr>
            <p:cNvSpPr txBox="1"/>
            <p:nvPr/>
          </p:nvSpPr>
          <p:spPr>
            <a:xfrm>
              <a:off x="8753390" y="56388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60150D3D-2742-17DB-4C7D-E4955C798924}"/>
                </a:ext>
              </a:extLst>
            </p:cNvPr>
            <p:cNvSpPr txBox="1"/>
            <p:nvPr/>
          </p:nvSpPr>
          <p:spPr>
            <a:xfrm>
              <a:off x="9726489" y="56388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7F6484FD-4881-DAE6-6DA5-162293909E68}"/>
                </a:ext>
              </a:extLst>
            </p:cNvPr>
            <p:cNvSpPr txBox="1"/>
            <p:nvPr/>
          </p:nvSpPr>
          <p:spPr>
            <a:xfrm>
              <a:off x="10525125" y="558240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B9D6657A-F882-EFAA-A7AB-CCC002149562}"/>
                </a:ext>
              </a:extLst>
            </p:cNvPr>
            <p:cNvSpPr txBox="1"/>
            <p:nvPr/>
          </p:nvSpPr>
          <p:spPr>
            <a:xfrm>
              <a:off x="11240322" y="540865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91480251-E011-9F1D-A591-991EA44C4D74}"/>
                </a:ext>
              </a:extLst>
            </p:cNvPr>
            <p:cNvSpPr txBox="1"/>
            <p:nvPr/>
          </p:nvSpPr>
          <p:spPr>
            <a:xfrm>
              <a:off x="11535781" y="422822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5FC267C7-C953-140B-4D09-6E95FA46DD82}"/>
                </a:ext>
              </a:extLst>
            </p:cNvPr>
            <p:cNvSpPr txBox="1"/>
            <p:nvPr/>
          </p:nvSpPr>
          <p:spPr>
            <a:xfrm>
              <a:off x="9005889" y="460557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098FFD7A-CFC2-030E-16DE-A8E7D2B627CD}"/>
                </a:ext>
              </a:extLst>
            </p:cNvPr>
            <p:cNvSpPr txBox="1"/>
            <p:nvPr/>
          </p:nvSpPr>
          <p:spPr>
            <a:xfrm>
              <a:off x="9353185" y="485983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A8404B0B-28A4-9001-5FDD-50BDAF66EEF0}"/>
                </a:ext>
              </a:extLst>
            </p:cNvPr>
            <p:cNvSpPr txBox="1"/>
            <p:nvPr/>
          </p:nvSpPr>
          <p:spPr>
            <a:xfrm>
              <a:off x="8576446" y="4371438"/>
              <a:ext cx="537990" cy="7336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chemeClr val="bg1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493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828F9-9259-5D3F-9C34-7DD315E0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APRENDIZADO HEBBIANO </a:t>
            </a:r>
            <a:br>
              <a:rPr lang="pt-BR" dirty="0"/>
            </a:br>
            <a:r>
              <a:rPr lang="pt-BR" sz="2000" dirty="0">
                <a:solidFill>
                  <a:schemeClr val="tx1"/>
                </a:solidFill>
              </a:rPr>
              <a:t>{Postulado de </a:t>
            </a:r>
            <a:r>
              <a:rPr lang="pt-BR" sz="2000" dirty="0" err="1">
                <a:solidFill>
                  <a:schemeClr val="tx1"/>
                </a:solidFill>
              </a:rPr>
              <a:t>Hebb</a:t>
            </a:r>
            <a:r>
              <a:rPr lang="pt-BR" sz="2000" dirty="0">
                <a:solidFill>
                  <a:schemeClr val="tx1"/>
                </a:solidFill>
              </a:rPr>
              <a:t> – The </a:t>
            </a:r>
            <a:r>
              <a:rPr lang="pt-BR" sz="2000" dirty="0" err="1">
                <a:solidFill>
                  <a:schemeClr val="tx1"/>
                </a:solidFill>
              </a:rPr>
              <a:t>Organization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of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Behavior</a:t>
            </a:r>
            <a:r>
              <a:rPr lang="pt-BR" sz="2000" dirty="0">
                <a:solidFill>
                  <a:schemeClr val="tx1"/>
                </a:solidFill>
              </a:rPr>
              <a:t> (1949)}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39D6DCB-DA1C-6ED4-78B1-9F1E3E4C5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2069695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7871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8DEDB6F-39E3-C2D4-A414-3CE5BDEB3630}"/>
              </a:ext>
            </a:extLst>
          </p:cNvPr>
          <p:cNvSpPr/>
          <p:nvPr/>
        </p:nvSpPr>
        <p:spPr>
          <a:xfrm>
            <a:off x="7284290" y="1924050"/>
            <a:ext cx="3993310" cy="1076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C1F660-38C7-A8EA-844C-2E400C5F7868}"/>
              </a:ext>
            </a:extLst>
          </p:cNvPr>
          <p:cNvSpPr/>
          <p:nvPr/>
        </p:nvSpPr>
        <p:spPr>
          <a:xfrm>
            <a:off x="7284290" y="3000376"/>
            <a:ext cx="3993310" cy="5714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9F93AD1-930A-A33B-269A-2840C3351B73}"/>
              </a:ext>
            </a:extLst>
          </p:cNvPr>
          <p:cNvSpPr/>
          <p:nvPr/>
        </p:nvSpPr>
        <p:spPr>
          <a:xfrm>
            <a:off x="7284290" y="3571875"/>
            <a:ext cx="3993310" cy="1076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6EC34A-185B-5040-9EDA-0F19C717A7D3}"/>
              </a:ext>
            </a:extLst>
          </p:cNvPr>
          <p:cNvSpPr/>
          <p:nvPr/>
        </p:nvSpPr>
        <p:spPr>
          <a:xfrm>
            <a:off x="7284290" y="4648200"/>
            <a:ext cx="3993310" cy="140969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09E3262-49CD-D6FA-86A1-AEA13137D6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83304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FE292B50-5A3B-7EB2-4372-2922D9E8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HEBBIANO</a:t>
            </a:r>
          </a:p>
        </p:txBody>
      </p:sp>
    </p:spTree>
    <p:extLst>
      <p:ext uri="{BB962C8B-B14F-4D97-AF65-F5344CB8AC3E}">
        <p14:creationId xmlns:p14="http://schemas.microsoft.com/office/powerpoint/2010/main" val="146526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B899F-6A47-F7B5-47E0-09056825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HEBBIANO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14D7852-AA5B-6D9A-7BF6-8D050D58E2DB}"/>
              </a:ext>
            </a:extLst>
          </p:cNvPr>
          <p:cNvSpPr/>
          <p:nvPr/>
        </p:nvSpPr>
        <p:spPr>
          <a:xfrm>
            <a:off x="5581651" y="2647950"/>
            <a:ext cx="1325563" cy="1325563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k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DF815BA-1738-E119-7042-1AEE43B8B3C7}"/>
              </a:ext>
            </a:extLst>
          </p:cNvPr>
          <p:cNvSpPr/>
          <p:nvPr/>
        </p:nvSpPr>
        <p:spPr>
          <a:xfrm>
            <a:off x="9116219" y="2979340"/>
            <a:ext cx="662782" cy="66278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5B637D1-98F3-FAAD-DCFF-445B3551F612}"/>
              </a:ext>
            </a:extLst>
          </p:cNvPr>
          <p:cNvSpPr/>
          <p:nvPr/>
        </p:nvSpPr>
        <p:spPr>
          <a:xfrm>
            <a:off x="2326485" y="1937789"/>
            <a:ext cx="366712" cy="36671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2D5585-5288-312B-C08E-335865B20E53}"/>
              </a:ext>
            </a:extLst>
          </p:cNvPr>
          <p:cNvSpPr/>
          <p:nvPr/>
        </p:nvSpPr>
        <p:spPr>
          <a:xfrm>
            <a:off x="2343152" y="2647950"/>
            <a:ext cx="366712" cy="36671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4B3DA04-9472-6EB6-EE62-DD57643DD02C}"/>
              </a:ext>
            </a:extLst>
          </p:cNvPr>
          <p:cNvSpPr/>
          <p:nvPr/>
        </p:nvSpPr>
        <p:spPr>
          <a:xfrm>
            <a:off x="2343152" y="4617245"/>
            <a:ext cx="366712" cy="36671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450DCF7-E022-63FA-00A7-48E8B14D15E0}"/>
              </a:ext>
            </a:extLst>
          </p:cNvPr>
          <p:cNvCxnSpPr>
            <a:stCxn id="6" idx="6"/>
            <a:endCxn id="4" idx="1"/>
          </p:cNvCxnSpPr>
          <p:nvPr/>
        </p:nvCxnSpPr>
        <p:spPr>
          <a:xfrm>
            <a:off x="2693197" y="2121145"/>
            <a:ext cx="3082578" cy="720929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941EDB6-B0C8-08A4-9BB6-DE49D4854196}"/>
              </a:ext>
            </a:extLst>
          </p:cNvPr>
          <p:cNvCxnSpPr>
            <a:stCxn id="7" idx="6"/>
            <a:endCxn id="4" idx="2"/>
          </p:cNvCxnSpPr>
          <p:nvPr/>
        </p:nvCxnSpPr>
        <p:spPr>
          <a:xfrm>
            <a:off x="2709864" y="2831306"/>
            <a:ext cx="2871787" cy="479426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2ACC394-EC76-6DA9-A297-D5C38D2B4314}"/>
              </a:ext>
            </a:extLst>
          </p:cNvPr>
          <p:cNvCxnSpPr>
            <a:stCxn id="8" idx="6"/>
            <a:endCxn id="4" idx="3"/>
          </p:cNvCxnSpPr>
          <p:nvPr/>
        </p:nvCxnSpPr>
        <p:spPr>
          <a:xfrm flipV="1">
            <a:off x="2709864" y="3779389"/>
            <a:ext cx="3065911" cy="1021212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97F726E-9138-36CF-5249-DDED7DB91404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6907214" y="3310731"/>
            <a:ext cx="2209005" cy="1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7F45AF9-66C2-CADD-8536-F50D6E00078C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9779001" y="3310731"/>
            <a:ext cx="1574798" cy="0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7321057-65AB-4C3C-FEF4-9391BDCE2414}"/>
                  </a:ext>
                </a:extLst>
              </p:cNvPr>
              <p:cNvSpPr txBox="1"/>
              <p:nvPr/>
            </p:nvSpPr>
            <p:spPr>
              <a:xfrm>
                <a:off x="1377096" y="1900984"/>
                <a:ext cx="9812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7321057-65AB-4C3C-FEF4-9391BDCE2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096" y="1900984"/>
                <a:ext cx="981231" cy="461665"/>
              </a:xfrm>
              <a:prstGeom prst="rect">
                <a:avLst/>
              </a:prstGeom>
              <a:blipFill>
                <a:blip r:embed="rId2"/>
                <a:stretch>
                  <a:fillRect r="-1242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01BA6D8D-F5AE-3C85-5AE0-F07ED5E88C93}"/>
                  </a:ext>
                </a:extLst>
              </p:cNvPr>
              <p:cNvSpPr txBox="1"/>
              <p:nvPr/>
            </p:nvSpPr>
            <p:spPr>
              <a:xfrm>
                <a:off x="1354805" y="2600473"/>
                <a:ext cx="9883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01BA6D8D-F5AE-3C85-5AE0-F07ED5E88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805" y="2600473"/>
                <a:ext cx="988347" cy="461665"/>
              </a:xfrm>
              <a:prstGeom prst="rect">
                <a:avLst/>
              </a:prstGeom>
              <a:blipFill>
                <a:blip r:embed="rId3"/>
                <a:stretch>
                  <a:fillRect r="-2469" b="-17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CA179A8-2BCD-D4F7-169C-C00F08D63BC5}"/>
                  </a:ext>
                </a:extLst>
              </p:cNvPr>
              <p:cNvSpPr txBox="1"/>
              <p:nvPr/>
            </p:nvSpPr>
            <p:spPr>
              <a:xfrm>
                <a:off x="1393763" y="4569768"/>
                <a:ext cx="1072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CA179A8-2BCD-D4F7-169C-C00F08D63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763" y="4569768"/>
                <a:ext cx="1072345" cy="461665"/>
              </a:xfrm>
              <a:prstGeom prst="rect">
                <a:avLst/>
              </a:prstGeom>
              <a:blipFill>
                <a:blip r:embed="rId4"/>
                <a:stretch>
                  <a:fillRect r="-1136" b="-17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CFF8B071-7BC0-156E-D23F-20322A1922E0}"/>
                  </a:ext>
                </a:extLst>
              </p:cNvPr>
              <p:cNvSpPr txBox="1"/>
              <p:nvPr/>
            </p:nvSpPr>
            <p:spPr>
              <a:xfrm>
                <a:off x="2734863" y="1713949"/>
                <a:ext cx="11815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CFF8B071-7BC0-156E-D23F-20322A192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863" y="1713949"/>
                <a:ext cx="1181542" cy="461665"/>
              </a:xfrm>
              <a:prstGeom prst="rect">
                <a:avLst/>
              </a:prstGeom>
              <a:blipFill>
                <a:blip r:embed="rId5"/>
                <a:stretch>
                  <a:fillRect r="-1554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3AEC3E44-565B-8CC3-C961-1B66F6F5B8A3}"/>
                  </a:ext>
                </a:extLst>
              </p:cNvPr>
              <p:cNvSpPr txBox="1"/>
              <p:nvPr/>
            </p:nvSpPr>
            <p:spPr>
              <a:xfrm>
                <a:off x="2751530" y="2422711"/>
                <a:ext cx="11815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3AEC3E44-565B-8CC3-C961-1B66F6F5B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30" y="2422711"/>
                <a:ext cx="1181542" cy="461665"/>
              </a:xfrm>
              <a:prstGeom prst="rect">
                <a:avLst/>
              </a:prstGeom>
              <a:blipFill>
                <a:blip r:embed="rId6"/>
                <a:stretch>
                  <a:fillRect r="-1546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43D0EA7-902E-528B-C7A1-EC6B498BFB67}"/>
                  </a:ext>
                </a:extLst>
              </p:cNvPr>
              <p:cNvSpPr txBox="1"/>
              <p:nvPr/>
            </p:nvSpPr>
            <p:spPr>
              <a:xfrm>
                <a:off x="2783392" y="4707613"/>
                <a:ext cx="1265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43D0EA7-902E-528B-C7A1-EC6B498BF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392" y="4707613"/>
                <a:ext cx="1265539" cy="461665"/>
              </a:xfrm>
              <a:prstGeom prst="rect">
                <a:avLst/>
              </a:prstGeom>
              <a:blipFill>
                <a:blip r:embed="rId7"/>
                <a:stretch>
                  <a:fillRect r="-1449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AD43482-97D5-9CFF-C9E6-95C3F8BDFABE}"/>
                  </a:ext>
                </a:extLst>
              </p:cNvPr>
              <p:cNvSpPr txBox="1"/>
              <p:nvPr/>
            </p:nvSpPr>
            <p:spPr>
              <a:xfrm>
                <a:off x="5850390" y="4017725"/>
                <a:ext cx="9923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AD43482-97D5-9CFF-C9E6-95C3F8BDF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390" y="4017725"/>
                <a:ext cx="992388" cy="461665"/>
              </a:xfrm>
              <a:prstGeom prst="rect">
                <a:avLst/>
              </a:prstGeom>
              <a:blipFill>
                <a:blip r:embed="rId8"/>
                <a:stretch>
                  <a:fillRect r="-1227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6A17E448-2253-8238-C42A-927AD30CA05F}"/>
                  </a:ext>
                </a:extLst>
              </p:cNvPr>
              <p:cNvSpPr txBox="1"/>
              <p:nvPr/>
            </p:nvSpPr>
            <p:spPr>
              <a:xfrm>
                <a:off x="9132095" y="3642122"/>
                <a:ext cx="10030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6A17E448-2253-8238-C42A-927AD30CA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095" y="3642122"/>
                <a:ext cx="1003095" cy="461665"/>
              </a:xfrm>
              <a:prstGeom prst="rect">
                <a:avLst/>
              </a:prstGeom>
              <a:blipFill>
                <a:blip r:embed="rId9"/>
                <a:stretch>
                  <a:fillRect r="-1818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4482092-50AF-4E3E-A495-930FF3698D4E}"/>
                  </a:ext>
                </a:extLst>
              </p:cNvPr>
              <p:cNvSpPr txBox="1"/>
              <p:nvPr/>
            </p:nvSpPr>
            <p:spPr>
              <a:xfrm>
                <a:off x="7790656" y="2886353"/>
                <a:ext cx="4261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4482092-50AF-4E3E-A495-930FF3698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0656" y="2886353"/>
                <a:ext cx="426142" cy="461665"/>
              </a:xfrm>
              <a:prstGeom prst="rect">
                <a:avLst/>
              </a:prstGeom>
              <a:blipFill>
                <a:blip r:embed="rId10"/>
                <a:stretch>
                  <a:fillRect l="-5714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DED15F95-4446-1177-7609-172B49B5BED2}"/>
                  </a:ext>
                </a:extLst>
              </p:cNvPr>
              <p:cNvSpPr txBox="1"/>
              <p:nvPr/>
            </p:nvSpPr>
            <p:spPr>
              <a:xfrm>
                <a:off x="3846723" y="5245348"/>
                <a:ext cx="8010078" cy="12300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𝑎𝑡𝑢𝑎𝑙𝑖𝑧𝑎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𝑑𝑒𝑣𝑒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𝑑𝑒𝑝𝑒𝑛𝑑𝑒𝑟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𝑒𝑛𝑡𝑟𝑎𝑑𝑎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𝑠𝑎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pt-BR" sz="2400" b="0" dirty="0"/>
              </a:p>
              <a:p>
                <a:pPr/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]</a:t>
                </a:r>
              </a:p>
              <a:p>
                <a:endParaRPr lang="pt-BR" sz="2400" dirty="0"/>
              </a:p>
            </p:txBody>
          </p:sp>
        </mc:Choice>
        <mc:Fallback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DED15F95-4446-1177-7609-172B49B5B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723" y="5245348"/>
                <a:ext cx="8010078" cy="1230080"/>
              </a:xfrm>
              <a:prstGeom prst="rect">
                <a:avLst/>
              </a:prstGeom>
              <a:blipFill>
                <a:blip r:embed="rId11"/>
                <a:stretch>
                  <a:fillRect l="-1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90EA245-918A-82F3-1E18-D6F2937E84A3}"/>
                  </a:ext>
                </a:extLst>
              </p:cNvPr>
              <p:cNvSpPr txBox="1"/>
              <p:nvPr/>
            </p:nvSpPr>
            <p:spPr>
              <a:xfrm>
                <a:off x="1561758" y="1278517"/>
                <a:ext cx="368767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𝐸𝑛𝑡𝑟𝑎𝑑𝑎𝑠</m:t>
                    </m:r>
                  </m:oMath>
                </a14:m>
                <a:r>
                  <a:rPr lang="pt-BR" sz="2400" dirty="0"/>
                  <a:t>: </a:t>
                </a:r>
                <a:r>
                  <a:rPr lang="pt-BR" sz="2400" dirty="0" err="1"/>
                  <a:t>pré</a:t>
                </a:r>
                <a:r>
                  <a:rPr lang="pt-BR" sz="2400" dirty="0"/>
                  <a:t> - sinápticos</a:t>
                </a:r>
              </a:p>
              <a:p>
                <a:endParaRPr lang="pt-BR" sz="2400" dirty="0"/>
              </a:p>
            </p:txBody>
          </p:sp>
        </mc:Choice>
        <mc:Fallback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90EA245-918A-82F3-1E18-D6F2937E8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758" y="1278517"/>
                <a:ext cx="3687676" cy="830997"/>
              </a:xfrm>
              <a:prstGeom prst="rect">
                <a:avLst/>
              </a:prstGeom>
              <a:blipFill>
                <a:blip r:embed="rId12"/>
                <a:stretch>
                  <a:fillRect l="-496" t="-5882" r="-16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F34C461-68FD-54A6-6EA3-2FE559BED7FE}"/>
                  </a:ext>
                </a:extLst>
              </p:cNvPr>
              <p:cNvSpPr txBox="1"/>
              <p:nvPr/>
            </p:nvSpPr>
            <p:spPr>
              <a:xfrm>
                <a:off x="8483038" y="2202670"/>
                <a:ext cx="230120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𝑆𝑎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í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𝑑𝑎</m:t>
                    </m:r>
                  </m:oMath>
                </a14:m>
                <a:r>
                  <a:rPr lang="pt-BR" sz="2400" dirty="0"/>
                  <a:t>:</a:t>
                </a:r>
              </a:p>
              <a:p>
                <a:pPr algn="ctr"/>
                <a:r>
                  <a:rPr lang="pt-BR" sz="2400" dirty="0"/>
                  <a:t>pró - sinápticos</a:t>
                </a:r>
              </a:p>
            </p:txBody>
          </p:sp>
        </mc:Choice>
        <mc:Fallback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F34C461-68FD-54A6-6EA3-2FE559BED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038" y="2202670"/>
                <a:ext cx="2301207" cy="830997"/>
              </a:xfrm>
              <a:prstGeom prst="rect">
                <a:avLst/>
              </a:prstGeom>
              <a:blipFill>
                <a:blip r:embed="rId13"/>
                <a:stretch>
                  <a:fillRect l="-2653" t="-5839" r="-2122" b="-153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468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5D69763-61AD-D131-2F62-8D9D58CC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HEBBIANO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C2D067D-685C-D15F-3BE9-78D5041AD7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]</a:t>
                </a:r>
              </a:p>
              <a:p>
                <a:r>
                  <a:rPr lang="pt-BR" dirty="0"/>
                  <a:t>Forma Correlativa: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r>
                  <a:rPr lang="pt-BR" dirty="0"/>
                  <a:t>Forma da Covariância: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ã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𝑚𝑒𝑑𝑖𝑎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𝑑𝑎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𝑒𝑛𝑡𝑟𝑎𝑑𝑎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𝑑𝑎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𝑠𝑎𝑖𝑑𝑎</m:t>
                    </m:r>
                  </m:oMath>
                </a14:m>
                <a:endParaRPr lang="pt-BR" dirty="0"/>
              </a:p>
              <a:p>
                <a:r>
                  <a:rPr lang="pt-BR" dirty="0"/>
                  <a:t>Forma com Saturação (regularização)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d>
                      <m:dPr>
                        <m:begChr m:val="⟦"/>
                        <m:endChr m:val="⟧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</m:e>
                    </m:d>
                  </m:oMath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C2D067D-685C-D15F-3BE9-78D5041AD7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745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99D9C-B51D-52E3-B16F-B18D43BE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COMPETITIVO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5F113D-8AE7-9D87-A7F2-A40DA66B6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Neurônios de saída competem entre si para se tornarem ativos (disparar)</a:t>
            </a:r>
          </a:p>
          <a:p>
            <a:r>
              <a:rPr lang="pt-BR" dirty="0"/>
              <a:t>Um neurônio (vencedor) ganha o direito de disparar enquanto os demais permanecem em repouso.</a:t>
            </a:r>
          </a:p>
          <a:p>
            <a:r>
              <a:rPr lang="pt-BR" dirty="0"/>
              <a:t>Apenas o vencedor ( e seus vizinho) são atualizados (apendem)</a:t>
            </a:r>
          </a:p>
        </p:txBody>
      </p:sp>
    </p:spTree>
    <p:extLst>
      <p:ext uri="{BB962C8B-B14F-4D97-AF65-F5344CB8AC3E}">
        <p14:creationId xmlns:p14="http://schemas.microsoft.com/office/powerpoint/2010/main" val="43360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D5A97-9D08-0D69-81C8-23554C0EB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COMPETITIVO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B12DA-C957-391C-67BD-7F40EE20A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Temos três elementos básicos: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Um conjunto de neurônios equivalentes, com pequenas modificações na distribuição dos pesos.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Um limite de ativação é imposto sobre a força dos neurônios.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Um mecanismo de competição para que apenas um neurônio se torne vencedor a um dado padrão: “ O vencedor leva tudo”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4205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3EC6D-6ADF-2682-CA5C-6E897F38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COMPETITIVO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1737893-5637-C838-4618-5CD055E9A2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 ativação do neurônio é consolidade a partir do campo local induzido:</a:t>
                </a:r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𝑦𝑘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&gt; </m:t>
                            </m:r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0         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𝑐𝑜𝑛𝑡𝑟𝑎𝑟𝑖𝑜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  <a:p>
                <a:r>
                  <a:rPr lang="pt-BR" dirty="0"/>
                  <a:t>Regra de atualização: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é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𝑛𝑒𝑢𝑟𝑜𝑛𝑖𝑜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𝑣𝑒𝑛𝑐𝑒𝑑𝑜𝑟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0                                    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𝑐𝑜𝑛𝑡𝑟𝑎𝑟𝑖𝑜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1737893-5637-C838-4618-5CD055E9A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933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E9C9-DFC0-30DB-86DB-9B1D7ACF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25FDD-21AA-971D-3B9F-5E4ECFE5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COMPETITIVO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6C0D03-8519-B9B9-6EEC-2E30A8E01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706" y="1516822"/>
            <a:ext cx="6920589" cy="382435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9E47E8E-7998-AB86-E916-ECD505705868}"/>
              </a:ext>
            </a:extLst>
          </p:cNvPr>
          <p:cNvSpPr txBox="1"/>
          <p:nvPr/>
        </p:nvSpPr>
        <p:spPr>
          <a:xfrm>
            <a:off x="2524125" y="5341178"/>
            <a:ext cx="13500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Fonte: </a:t>
            </a:r>
            <a:r>
              <a:rPr lang="pt-BR" sz="1050" dirty="0" err="1"/>
              <a:t>Haykin</a:t>
            </a:r>
            <a:r>
              <a:rPr lang="pt-BR" sz="1050" dirty="0"/>
              <a:t>(2001)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37B2BD-D2DB-B241-4BC4-7BB0EF4C59CA}"/>
              </a:ext>
            </a:extLst>
          </p:cNvPr>
          <p:cNvSpPr txBox="1"/>
          <p:nvPr/>
        </p:nvSpPr>
        <p:spPr>
          <a:xfrm>
            <a:off x="2296337" y="5718001"/>
            <a:ext cx="7599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Os neurônios se especializam e se tornam protótipos dos dados existentes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D3F0B2-B013-3D62-DBC6-3B85B5C970BA}"/>
              </a:ext>
            </a:extLst>
          </p:cNvPr>
          <p:cNvSpPr txBox="1"/>
          <p:nvPr/>
        </p:nvSpPr>
        <p:spPr>
          <a:xfrm>
            <a:off x="340472" y="1919055"/>
            <a:ext cx="1285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Posição inicial dos neurônios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4C77037-0315-DBB1-A20A-6544295AB93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626347" y="2003898"/>
            <a:ext cx="3031378" cy="3768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B7D7A51-2462-2751-40EA-6EDCD76425D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626347" y="2380720"/>
            <a:ext cx="1135903" cy="5845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A21A18E-D1B5-E64E-90DF-9E00436C128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626347" y="2380720"/>
            <a:ext cx="2831353" cy="20965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0092D99-A4A9-A8FD-6291-2834ED94C7E7}"/>
              </a:ext>
            </a:extLst>
          </p:cNvPr>
          <p:cNvSpPr txBox="1"/>
          <p:nvPr/>
        </p:nvSpPr>
        <p:spPr>
          <a:xfrm>
            <a:off x="202214" y="3429000"/>
            <a:ext cx="1285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Conjunto de Dados, exemplo.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9ECE32AA-5485-7D91-C158-72DC4F28AF60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1488089" y="2569131"/>
            <a:ext cx="1883761" cy="1321534"/>
          </a:xfrm>
          <a:prstGeom prst="straightConnector1">
            <a:avLst/>
          </a:prstGeom>
          <a:ln w="38100">
            <a:solidFill>
              <a:srgbClr val="F2BF27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199E98BB-F4B5-1869-4C1E-D9CDD334BE71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1488089" y="3070752"/>
            <a:ext cx="3341086" cy="819913"/>
          </a:xfrm>
          <a:prstGeom prst="straightConnector1">
            <a:avLst/>
          </a:prstGeom>
          <a:ln w="38100">
            <a:solidFill>
              <a:srgbClr val="F2BF27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AF51FC30-D699-B4CD-D312-594D9C0B0E9C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1488089" y="3890665"/>
            <a:ext cx="1326058" cy="300335"/>
          </a:xfrm>
          <a:prstGeom prst="straightConnector1">
            <a:avLst/>
          </a:prstGeom>
          <a:ln w="38100">
            <a:solidFill>
              <a:srgbClr val="F2BF27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AC1279A3-1A24-D7CE-0501-5CD49493902F}"/>
              </a:ext>
            </a:extLst>
          </p:cNvPr>
          <p:cNvSpPr/>
          <p:nvPr/>
        </p:nvSpPr>
        <p:spPr>
          <a:xfrm>
            <a:off x="3284656" y="2100521"/>
            <a:ext cx="530900" cy="468610"/>
          </a:xfrm>
          <a:prstGeom prst="ellipse">
            <a:avLst/>
          </a:prstGeom>
          <a:noFill/>
          <a:ln w="38100">
            <a:solidFill>
              <a:srgbClr val="F2B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5CED397D-DD21-E4AB-EB00-637B1753A76F}"/>
              </a:ext>
            </a:extLst>
          </p:cNvPr>
          <p:cNvSpPr/>
          <p:nvPr/>
        </p:nvSpPr>
        <p:spPr>
          <a:xfrm>
            <a:off x="4795983" y="2380720"/>
            <a:ext cx="682142" cy="905405"/>
          </a:xfrm>
          <a:prstGeom prst="ellipse">
            <a:avLst/>
          </a:prstGeom>
          <a:noFill/>
          <a:ln w="38100">
            <a:solidFill>
              <a:srgbClr val="F2B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0D20E55-2CCF-89C9-DE19-B86D6AB81D7C}"/>
              </a:ext>
            </a:extLst>
          </p:cNvPr>
          <p:cNvSpPr/>
          <p:nvPr/>
        </p:nvSpPr>
        <p:spPr>
          <a:xfrm>
            <a:off x="3014172" y="3731271"/>
            <a:ext cx="967277" cy="905405"/>
          </a:xfrm>
          <a:prstGeom prst="ellipse">
            <a:avLst/>
          </a:prstGeom>
          <a:noFill/>
          <a:ln w="38100">
            <a:solidFill>
              <a:srgbClr val="F2B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06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E768B-88FD-9C6D-36E5-7D31A812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6AA92-1603-4662-5250-C45FFD90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COMPETITIVO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CF8B99-0F01-8B81-FB05-E6A205C2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706" y="1516822"/>
            <a:ext cx="6920589" cy="382435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BA5B713-73CA-4AEC-2EFB-7255DC17D220}"/>
              </a:ext>
            </a:extLst>
          </p:cNvPr>
          <p:cNvSpPr txBox="1"/>
          <p:nvPr/>
        </p:nvSpPr>
        <p:spPr>
          <a:xfrm>
            <a:off x="2524125" y="5341178"/>
            <a:ext cx="13500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Fonte: </a:t>
            </a:r>
            <a:r>
              <a:rPr lang="pt-BR" sz="1050" dirty="0" err="1"/>
              <a:t>Haykin</a:t>
            </a:r>
            <a:r>
              <a:rPr lang="pt-BR" sz="1050" dirty="0"/>
              <a:t>(2001)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B5ED01-969C-E077-F8B1-AEC634ABFE5C}"/>
              </a:ext>
            </a:extLst>
          </p:cNvPr>
          <p:cNvSpPr txBox="1"/>
          <p:nvPr/>
        </p:nvSpPr>
        <p:spPr>
          <a:xfrm>
            <a:off x="2296337" y="5718001"/>
            <a:ext cx="7599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Os neurônios se especializam e se tornam protótipos dos dados existentes</a:t>
            </a:r>
          </a:p>
        </p:txBody>
      </p:sp>
    </p:spTree>
    <p:extLst>
      <p:ext uri="{BB962C8B-B14F-4D97-AF65-F5344CB8AC3E}">
        <p14:creationId xmlns:p14="http://schemas.microsoft.com/office/powerpoint/2010/main" val="2744017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D3651-92C4-6954-4A60-BE1C27E9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DE BOLTZMANN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F62ACD6-99B6-EAA2-8155-CFA728FC85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Regra de aprendizagem enraizada nas ideias da mecânica estatística. </a:t>
                </a:r>
              </a:p>
              <a:p>
                <a:r>
                  <a:rPr lang="pt-BR" dirty="0"/>
                  <a:t>Neurônios representam células binárias estocásticas</a:t>
                </a:r>
              </a:p>
              <a:p>
                <a:r>
                  <a:rPr lang="pt-BR" b="0" dirty="0"/>
                  <a:t>A máquina é caracterizada por uma função de energia: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3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36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pt-BR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pt-BR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pt-BR" sz="3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pt-BR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sz="3600" b="0" i="1" smtClean="0">
                                    <a:latin typeface="Cambria Math" panose="02040503050406030204" pitchFamily="18" charset="0"/>
                                  </a:rPr>
                                  <m:t>𝑘𝑗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3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3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pt-BR" sz="36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F62ACD6-99B6-EAA2-8155-CFA728FC85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633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071E4-C981-150F-CFA1-FE19B87B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DE BOLTZMANN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0F3F704-055A-1B14-DAE6-9883DE003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 máquina opera de forma estocástica, alterando o estado de um dado neurônio com probabilidade:</a:t>
                </a:r>
              </a:p>
              <a:p>
                <a14:m>
                  <m:oMath xmlns:m="http://schemas.openxmlformats.org/officeDocument/2006/math">
                    <m:r>
                      <a:rPr lang="pt-BR" sz="4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pt-BR" sz="40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⁡(−</m:t>
                        </m:r>
                        <m:f>
                          <m:fPr>
                            <m:ctrlP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4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pt-BR" sz="4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pt-BR" sz="4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pt-BR" sz="4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pt-BR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pt-BR" sz="4000" dirty="0"/>
              </a:p>
              <a:p>
                <a:r>
                  <a:rPr lang="pt-BR" dirty="0"/>
                  <a:t>A aplicação contínua dessa regra levará a máquina a um estado de equilíbrio “térmico”.</a:t>
                </a:r>
              </a:p>
              <a:p>
                <a:r>
                  <a:rPr lang="pt-BR" dirty="0"/>
                  <a:t>Há dois tipos de neurônios na máquina de Boltzmann: </a:t>
                </a:r>
                <a:r>
                  <a:rPr lang="pt-BR" b="1" dirty="0">
                    <a:solidFill>
                      <a:srgbClr val="F2A516"/>
                    </a:solidFill>
                  </a:rPr>
                  <a:t>visíveis</a:t>
                </a:r>
                <a:r>
                  <a:rPr lang="pt-BR" dirty="0"/>
                  <a:t> e </a:t>
                </a:r>
                <a:r>
                  <a:rPr lang="pt-BR" b="1" dirty="0">
                    <a:solidFill>
                      <a:srgbClr val="F2A516"/>
                    </a:solidFill>
                  </a:rPr>
                  <a:t>ocultos</a:t>
                </a:r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0F3F704-055A-1B14-DAE6-9883DE003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 r="-7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147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3110B25-D666-1483-B59D-A7B76DD31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838" y="228868"/>
            <a:ext cx="3402162" cy="320013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FB4C540-03E0-1F4B-F4BE-D1B2DA545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DE BOLTZMANN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E1F32BA-AE58-B18B-4DE9-9DC0841F84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26945"/>
                <a:ext cx="10370390" cy="4351338"/>
              </a:xfrm>
            </p:spPr>
            <p:txBody>
              <a:bodyPr/>
              <a:lstStyle/>
              <a:p>
                <a:r>
                  <a:rPr lang="pt-BR" dirty="0"/>
                  <a:t>A máquina opera em duas condições:</a:t>
                </a:r>
              </a:p>
              <a:p>
                <a:pPr lvl="1"/>
                <a:r>
                  <a:rPr lang="pt-BR" dirty="0"/>
                  <a:t>Presa: os neurônios visíveis permanecem com valores fixo</a:t>
                </a:r>
              </a:p>
              <a:p>
                <a:pPr lvl="1"/>
                <a:r>
                  <a:rPr lang="pt-BR" dirty="0"/>
                  <a:t>Livre: todos os neurônios podem evoluir.</a:t>
                </a:r>
              </a:p>
              <a:p>
                <a:r>
                  <a:rPr lang="pt-BR" dirty="0"/>
                  <a:t>A regra de atualização da máquina é definida por: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E1F32BA-AE58-B18B-4DE9-9DC0841F84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6945"/>
                <a:ext cx="10370390" cy="4351338"/>
              </a:xfrm>
              <a:blipFill>
                <a:blip r:embed="rId4"/>
                <a:stretch>
                  <a:fillRect l="-1058" t="-25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6A595E70-6ED6-7D03-6C0E-F7582C0EDFEF}"/>
              </a:ext>
            </a:extLst>
          </p:cNvPr>
          <p:cNvSpPr txBox="1"/>
          <p:nvPr/>
        </p:nvSpPr>
        <p:spPr>
          <a:xfrm>
            <a:off x="1821610" y="342900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+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C18AAB6-D80F-22A0-36E6-0B54B96D628C}"/>
              </a:ext>
            </a:extLst>
          </p:cNvPr>
          <p:cNvSpPr txBox="1"/>
          <p:nvPr/>
        </p:nvSpPr>
        <p:spPr>
          <a:xfrm>
            <a:off x="2732415" y="3417839"/>
            <a:ext cx="324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290053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C070D-86B6-2F86-ADC2-F126E499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PARADIGMAS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667BDB-10FB-9348-9EF6-DB696840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  <a:p>
            <a:r>
              <a:rPr lang="pt-BR" dirty="0"/>
              <a:t>Aprendizado Não – Supervisionado </a:t>
            </a:r>
          </a:p>
          <a:p>
            <a:r>
              <a:rPr lang="pt-BR" dirty="0"/>
              <a:t>Aprendizado por Reforço</a:t>
            </a:r>
          </a:p>
          <a:p>
            <a:r>
              <a:rPr lang="pt-BR" dirty="0"/>
              <a:t>Outras formas:</a:t>
            </a:r>
          </a:p>
          <a:p>
            <a:pPr lvl="1"/>
            <a:r>
              <a:rPr lang="pt-BR" dirty="0"/>
              <a:t>Aprendizado Auto – supervisionado</a:t>
            </a:r>
          </a:p>
          <a:p>
            <a:pPr lvl="1"/>
            <a:r>
              <a:rPr lang="pt-BR" dirty="0"/>
              <a:t>Aprendizado </a:t>
            </a:r>
            <a:r>
              <a:rPr lang="pt-BR" dirty="0" err="1"/>
              <a:t>Semisupervisionado</a:t>
            </a:r>
            <a:endParaRPr lang="pt-BR" dirty="0"/>
          </a:p>
          <a:p>
            <a:pPr lvl="1"/>
            <a:r>
              <a:rPr lang="pt-BR" dirty="0"/>
              <a:t>Aprendizado Ativo</a:t>
            </a:r>
          </a:p>
        </p:txBody>
      </p:sp>
    </p:spTree>
    <p:extLst>
      <p:ext uri="{BB962C8B-B14F-4D97-AF65-F5344CB8AC3E}">
        <p14:creationId xmlns:p14="http://schemas.microsoft.com/office/powerpoint/2010/main" val="792451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47790-2D7C-EE67-9255-C13B9579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8EFFC1-19BC-E032-46B7-028698A3D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Aplicações:</a:t>
            </a:r>
          </a:p>
          <a:p>
            <a:pPr lvl="1"/>
            <a:r>
              <a:rPr lang="pt-BR" dirty="0"/>
              <a:t>Classificação de dados</a:t>
            </a:r>
          </a:p>
          <a:p>
            <a:pPr lvl="1"/>
            <a:r>
              <a:rPr lang="pt-BR" dirty="0"/>
              <a:t>Regressão</a:t>
            </a:r>
          </a:p>
          <a:p>
            <a:pPr lvl="1"/>
            <a:r>
              <a:rPr lang="pt-BR" dirty="0"/>
              <a:t>Tradução</a:t>
            </a:r>
          </a:p>
          <a:p>
            <a:pPr lvl="1"/>
            <a:r>
              <a:rPr lang="pt-BR" dirty="0"/>
              <a:t>Reconhecimento</a:t>
            </a:r>
          </a:p>
        </p:txBody>
      </p:sp>
    </p:spTree>
    <p:extLst>
      <p:ext uri="{BB962C8B-B14F-4D97-AF65-F5344CB8AC3E}">
        <p14:creationId xmlns:p14="http://schemas.microsoft.com/office/powerpoint/2010/main" val="856804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87223-5B8E-7455-BCE4-1BA5BE98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 – Supervisionado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FDCBDE-B049-CC82-EDF5-D03E9CE2B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Aplicações:</a:t>
            </a:r>
          </a:p>
          <a:p>
            <a:pPr lvl="1"/>
            <a:r>
              <a:rPr lang="pt-BR" dirty="0"/>
              <a:t>Agrupamento de dados</a:t>
            </a:r>
          </a:p>
          <a:p>
            <a:pPr lvl="1"/>
            <a:r>
              <a:rPr lang="pt-BR" dirty="0"/>
              <a:t>Redução de dimensionalidade </a:t>
            </a:r>
          </a:p>
          <a:p>
            <a:pPr lvl="1"/>
            <a:r>
              <a:rPr lang="pt-BR" dirty="0"/>
              <a:t>Seleção de atributos</a:t>
            </a:r>
          </a:p>
          <a:p>
            <a:pPr lvl="1"/>
            <a:r>
              <a:rPr lang="pt-BR" dirty="0"/>
              <a:t>Associação de padrões</a:t>
            </a:r>
          </a:p>
          <a:p>
            <a:pPr lvl="1"/>
            <a:r>
              <a:rPr lang="pt-BR" dirty="0"/>
              <a:t>Detecção de anomalias</a:t>
            </a:r>
          </a:p>
        </p:txBody>
      </p:sp>
    </p:spTree>
    <p:extLst>
      <p:ext uri="{BB962C8B-B14F-4D97-AF65-F5344CB8AC3E}">
        <p14:creationId xmlns:p14="http://schemas.microsoft.com/office/powerpoint/2010/main" val="1009516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84810-9DD6-31C1-0F74-F961B91B5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5AE2545-6948-3792-515F-52FB8BF9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78" y="3604114"/>
            <a:ext cx="2038635" cy="2548293"/>
          </a:xfrm>
          <a:prstGeom prst="rect">
            <a:avLst/>
          </a:prstGeom>
        </p:spPr>
      </p:pic>
      <p:pic>
        <p:nvPicPr>
          <p:cNvPr id="14" name="Imagem 13">
            <a:hlinkClick r:id="rId3"/>
            <a:extLst>
              <a:ext uri="{FF2B5EF4-FFF2-40B4-BE49-F238E27FC236}">
                <a16:creationId xmlns:a16="http://schemas.microsoft.com/office/drawing/2014/main" id="{2A7DF2BF-0491-D13B-6E78-A93D961E6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142" y="2939628"/>
            <a:ext cx="3972651" cy="299227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7E808144-1F75-5B64-F0CA-2D83B7C31565}"/>
              </a:ext>
            </a:extLst>
          </p:cNvPr>
          <p:cNvSpPr txBox="1"/>
          <p:nvPr/>
        </p:nvSpPr>
        <p:spPr>
          <a:xfrm>
            <a:off x="8090999" y="6152407"/>
            <a:ext cx="35766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/>
              <a:t>https://www.youtube.com/watch?v=tLgXvUgsYmw&amp;t=4s</a:t>
            </a: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3485C597-E9E8-706F-53EF-FF3E02F32E7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674497" y="-495067"/>
            <a:ext cx="608791" cy="7404836"/>
          </a:xfrm>
          <a:prstGeom prst="bentConnector4">
            <a:avLst>
              <a:gd name="adj1" fmla="val -37550"/>
              <a:gd name="adj2" fmla="val 99944"/>
            </a:avLst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C4D15B6A-3E8D-5954-0A43-4ECE0B32103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512430" y="-771292"/>
            <a:ext cx="608790" cy="7957285"/>
          </a:xfrm>
          <a:prstGeom prst="bentConnector4">
            <a:avLst>
              <a:gd name="adj1" fmla="val -165846"/>
              <a:gd name="adj2" fmla="val 99948"/>
            </a:avLst>
          </a:prstGeom>
          <a:ln w="76200">
            <a:solidFill>
              <a:srgbClr val="F2A51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AB983EC9-B76C-B6BF-07E8-771EA4E2DCD1}"/>
              </a:ext>
            </a:extLst>
          </p:cNvPr>
          <p:cNvCxnSpPr/>
          <p:nvPr/>
        </p:nvCxnSpPr>
        <p:spPr>
          <a:xfrm>
            <a:off x="3219450" y="4676775"/>
            <a:ext cx="421957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0B47E8F-6ABC-DF8C-33B9-8266160BC20C}"/>
              </a:ext>
            </a:extLst>
          </p:cNvPr>
          <p:cNvSpPr txBox="1"/>
          <p:nvPr/>
        </p:nvSpPr>
        <p:spPr>
          <a:xfrm>
            <a:off x="4058975" y="1447334"/>
            <a:ext cx="383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2A516"/>
                </a:solidFill>
              </a:rPr>
              <a:t>Recompensa/Penalização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18F5154-F036-1157-1AA1-35514FECC7AD}"/>
              </a:ext>
            </a:extLst>
          </p:cNvPr>
          <p:cNvSpPr txBox="1"/>
          <p:nvPr/>
        </p:nvSpPr>
        <p:spPr>
          <a:xfrm>
            <a:off x="5179339" y="2237256"/>
            <a:ext cx="1153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0050"/>
                </a:solidFill>
              </a:rPr>
              <a:t>Estado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2DEA142-714F-0348-8CBF-60687ED66FC6}"/>
              </a:ext>
            </a:extLst>
          </p:cNvPr>
          <p:cNvSpPr txBox="1"/>
          <p:nvPr/>
        </p:nvSpPr>
        <p:spPr>
          <a:xfrm>
            <a:off x="4293889" y="4168261"/>
            <a:ext cx="2070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B050"/>
                </a:solidFill>
              </a:rPr>
              <a:t>Executa Ação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1DDF4A0-47F0-B3EC-1CD0-5FA70BA88AA9}"/>
              </a:ext>
            </a:extLst>
          </p:cNvPr>
          <p:cNvSpPr txBox="1"/>
          <p:nvPr/>
        </p:nvSpPr>
        <p:spPr>
          <a:xfrm>
            <a:off x="1083786" y="6152407"/>
            <a:ext cx="1162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Agente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D3D0255-EFD6-7893-C298-E3969F90E7F4}"/>
              </a:ext>
            </a:extLst>
          </p:cNvPr>
          <p:cNvSpPr txBox="1"/>
          <p:nvPr/>
        </p:nvSpPr>
        <p:spPr>
          <a:xfrm>
            <a:off x="9102489" y="5849379"/>
            <a:ext cx="1540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Ambiente</a:t>
            </a:r>
          </a:p>
        </p:txBody>
      </p:sp>
    </p:spTree>
    <p:extLst>
      <p:ext uri="{BB962C8B-B14F-4D97-AF65-F5344CB8AC3E}">
        <p14:creationId xmlns:p14="http://schemas.microsoft.com/office/powerpoint/2010/main" val="1184785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98E2A-5A34-09BC-B5DF-F1AF46B7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07ED11-3F75-DA34-6598-F7E51C14C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10370390" cy="1603375"/>
          </a:xfrm>
        </p:spPr>
        <p:txBody>
          <a:bodyPr/>
          <a:lstStyle/>
          <a:p>
            <a:r>
              <a:rPr lang="pt-BR" dirty="0"/>
              <a:t>Objetivo do algoritmo de aprendizagem: </a:t>
            </a:r>
          </a:p>
          <a:p>
            <a:r>
              <a:rPr lang="pt-BR" dirty="0"/>
              <a:t>Aprender as regras a partir da resposta do ambiente</a:t>
            </a:r>
          </a:p>
          <a:p>
            <a:r>
              <a:rPr lang="pt-BR" dirty="0"/>
              <a:t>Normalmente usamos a Q-</a:t>
            </a:r>
            <a:r>
              <a:rPr lang="pt-BR" dirty="0" err="1"/>
              <a:t>Table</a:t>
            </a:r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EEF1C91-D614-898F-41C6-CAF0CCE98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800109"/>
              </p:ext>
            </p:extLst>
          </p:nvPr>
        </p:nvGraphicFramePr>
        <p:xfrm>
          <a:off x="1679575" y="384016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3618562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32877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80868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32547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1609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Ação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Ação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Ação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Ação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48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8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36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50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862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F9DC-8518-E47F-7FB6-32BC9F246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0B63BC40-9651-4914-2AD0-1F870343B61E}"/>
              </a:ext>
            </a:extLst>
          </p:cNvPr>
          <p:cNvCxnSpPr/>
          <p:nvPr/>
        </p:nvCxnSpPr>
        <p:spPr>
          <a:xfrm>
            <a:off x="3219450" y="4676775"/>
            <a:ext cx="421957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luxograma: Processo 94">
            <a:extLst>
              <a:ext uri="{FF2B5EF4-FFF2-40B4-BE49-F238E27FC236}">
                <a16:creationId xmlns:a16="http://schemas.microsoft.com/office/drawing/2014/main" id="{A7F4B3E0-3E42-AFA5-A6E6-DC66EB4C847B}"/>
              </a:ext>
            </a:extLst>
          </p:cNvPr>
          <p:cNvSpPr/>
          <p:nvPr/>
        </p:nvSpPr>
        <p:spPr>
          <a:xfrm>
            <a:off x="3937000" y="3604114"/>
            <a:ext cx="2984500" cy="2136285"/>
          </a:xfrm>
          <a:prstGeom prst="flowChartProcess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AAF762-FB95-A441-29A6-BD1D477C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9F6E373-A838-C7C7-204C-A8ABFCF1C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78" y="3604114"/>
            <a:ext cx="2038635" cy="2548293"/>
          </a:xfrm>
          <a:prstGeom prst="rect">
            <a:avLst/>
          </a:prstGeom>
        </p:spPr>
      </p:pic>
      <p:pic>
        <p:nvPicPr>
          <p:cNvPr id="14" name="Imagem 13">
            <a:hlinkClick r:id="rId3"/>
            <a:extLst>
              <a:ext uri="{FF2B5EF4-FFF2-40B4-BE49-F238E27FC236}">
                <a16:creationId xmlns:a16="http://schemas.microsoft.com/office/drawing/2014/main" id="{3E2E1308-CA7F-3BEE-AB5D-FB078EA7C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142" y="2939628"/>
            <a:ext cx="3972651" cy="299227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CEA2DED-626F-D782-55F2-E132C82CEB5D}"/>
              </a:ext>
            </a:extLst>
          </p:cNvPr>
          <p:cNvSpPr txBox="1"/>
          <p:nvPr/>
        </p:nvSpPr>
        <p:spPr>
          <a:xfrm>
            <a:off x="8090999" y="6152407"/>
            <a:ext cx="35766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/>
              <a:t>https://www.youtube.com/watch?v=tLgXvUgsYmw&amp;t=4s</a:t>
            </a: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B85CF86D-4504-B0D9-1A6F-734C128F347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674497" y="-495067"/>
            <a:ext cx="608791" cy="7404836"/>
          </a:xfrm>
          <a:prstGeom prst="bentConnector4">
            <a:avLst>
              <a:gd name="adj1" fmla="val -37550"/>
              <a:gd name="adj2" fmla="val 99944"/>
            </a:avLst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EC398458-933E-B256-DF1F-7878CBC55015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512430" y="-771292"/>
            <a:ext cx="608790" cy="7957285"/>
          </a:xfrm>
          <a:prstGeom prst="bentConnector4">
            <a:avLst>
              <a:gd name="adj1" fmla="val -165846"/>
              <a:gd name="adj2" fmla="val 99948"/>
            </a:avLst>
          </a:prstGeom>
          <a:ln w="76200">
            <a:solidFill>
              <a:srgbClr val="F2A51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4028300-F388-06F2-0A65-6F0433B34086}"/>
              </a:ext>
            </a:extLst>
          </p:cNvPr>
          <p:cNvSpPr txBox="1"/>
          <p:nvPr/>
        </p:nvSpPr>
        <p:spPr>
          <a:xfrm>
            <a:off x="4058975" y="1447334"/>
            <a:ext cx="383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2A516"/>
                </a:solidFill>
              </a:rPr>
              <a:t>Recompensa/Penalização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ED361D6-99B4-AB68-E9A7-4247CC3AD1F9}"/>
              </a:ext>
            </a:extLst>
          </p:cNvPr>
          <p:cNvSpPr txBox="1"/>
          <p:nvPr/>
        </p:nvSpPr>
        <p:spPr>
          <a:xfrm>
            <a:off x="5179339" y="2237256"/>
            <a:ext cx="1153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0050"/>
                </a:solidFill>
              </a:rPr>
              <a:t>Estado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0F33B0D-210F-30CD-147F-CE2DCB86E746}"/>
              </a:ext>
            </a:extLst>
          </p:cNvPr>
          <p:cNvSpPr txBox="1"/>
          <p:nvPr/>
        </p:nvSpPr>
        <p:spPr>
          <a:xfrm>
            <a:off x="4261717" y="3142449"/>
            <a:ext cx="2070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B050"/>
                </a:solidFill>
              </a:rPr>
              <a:t>Executa 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A5F5D9-AEB6-8C6B-761D-6F4467C034D9}"/>
              </a:ext>
            </a:extLst>
          </p:cNvPr>
          <p:cNvSpPr txBox="1"/>
          <p:nvPr/>
        </p:nvSpPr>
        <p:spPr>
          <a:xfrm>
            <a:off x="1083786" y="6152407"/>
            <a:ext cx="1162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Agente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8ADE4E-4E85-4D53-126A-681F5D8C1B1E}"/>
              </a:ext>
            </a:extLst>
          </p:cNvPr>
          <p:cNvSpPr txBox="1"/>
          <p:nvPr/>
        </p:nvSpPr>
        <p:spPr>
          <a:xfrm>
            <a:off x="9102489" y="5849379"/>
            <a:ext cx="1540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Ambiente</a:t>
            </a:r>
          </a:p>
        </p:txBody>
      </p: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3818A03A-788F-E22B-CE3B-CDE927AAA107}"/>
              </a:ext>
            </a:extLst>
          </p:cNvPr>
          <p:cNvGrpSpPr/>
          <p:nvPr/>
        </p:nvGrpSpPr>
        <p:grpSpPr>
          <a:xfrm>
            <a:off x="4058975" y="3790367"/>
            <a:ext cx="2733675" cy="1867292"/>
            <a:chOff x="3578225" y="4769142"/>
            <a:chExt cx="2733675" cy="1867292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2C14169C-BE91-A158-4119-DDA75B769378}"/>
                </a:ext>
              </a:extLst>
            </p:cNvPr>
            <p:cNvSpPr/>
            <p:nvPr/>
          </p:nvSpPr>
          <p:spPr>
            <a:xfrm>
              <a:off x="4058975" y="5353050"/>
              <a:ext cx="219073" cy="21907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24393CA9-2D65-A68B-B638-98EAE2F2F641}"/>
                </a:ext>
              </a:extLst>
            </p:cNvPr>
            <p:cNvSpPr/>
            <p:nvPr/>
          </p:nvSpPr>
          <p:spPr>
            <a:xfrm>
              <a:off x="4058975" y="5806585"/>
              <a:ext cx="219073" cy="21907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75B226D-A336-33EB-69ED-72F87612CFCB}"/>
                </a:ext>
              </a:extLst>
            </p:cNvPr>
            <p:cNvSpPr/>
            <p:nvPr/>
          </p:nvSpPr>
          <p:spPr>
            <a:xfrm>
              <a:off x="4839967" y="4769142"/>
              <a:ext cx="219073" cy="219073"/>
            </a:xfrm>
            <a:prstGeom prst="ellipse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6A4300B-436E-1122-24E9-0335F7BCC0BE}"/>
                </a:ext>
              </a:extLst>
            </p:cNvPr>
            <p:cNvSpPr/>
            <p:nvPr/>
          </p:nvSpPr>
          <p:spPr>
            <a:xfrm>
              <a:off x="4839967" y="5181197"/>
              <a:ext cx="219073" cy="219073"/>
            </a:xfrm>
            <a:prstGeom prst="ellipse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D23E764C-0D0C-6781-F9F3-4DC8F31B7C6B}"/>
                </a:ext>
              </a:extLst>
            </p:cNvPr>
            <p:cNvSpPr/>
            <p:nvPr/>
          </p:nvSpPr>
          <p:spPr>
            <a:xfrm>
              <a:off x="4839967" y="6005307"/>
              <a:ext cx="219073" cy="219073"/>
            </a:xfrm>
            <a:prstGeom prst="ellipse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C9C52E32-384C-741F-B580-3BE394A296D7}"/>
                </a:ext>
              </a:extLst>
            </p:cNvPr>
            <p:cNvSpPr/>
            <p:nvPr/>
          </p:nvSpPr>
          <p:spPr>
            <a:xfrm>
              <a:off x="4839967" y="6417361"/>
              <a:ext cx="219073" cy="219073"/>
            </a:xfrm>
            <a:prstGeom prst="ellipse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588A233-711F-7193-B587-70DB90FE26CC}"/>
                </a:ext>
              </a:extLst>
            </p:cNvPr>
            <p:cNvSpPr/>
            <p:nvPr/>
          </p:nvSpPr>
          <p:spPr>
            <a:xfrm>
              <a:off x="4839967" y="5593252"/>
              <a:ext cx="219073" cy="219073"/>
            </a:xfrm>
            <a:prstGeom prst="ellipse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755D2E26-7D40-CAFE-8A37-5CAB0C1CB15B}"/>
                </a:ext>
              </a:extLst>
            </p:cNvPr>
            <p:cNvSpPr/>
            <p:nvPr/>
          </p:nvSpPr>
          <p:spPr>
            <a:xfrm>
              <a:off x="5620959" y="5353050"/>
              <a:ext cx="219073" cy="21907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87193535-F5AC-4777-248C-DFF80A37717D}"/>
                </a:ext>
              </a:extLst>
            </p:cNvPr>
            <p:cNvSpPr/>
            <p:nvPr/>
          </p:nvSpPr>
          <p:spPr>
            <a:xfrm>
              <a:off x="5620959" y="5806585"/>
              <a:ext cx="219073" cy="21907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0F95534C-6764-56A2-7BDE-3D6D01519ADB}"/>
                </a:ext>
              </a:extLst>
            </p:cNvPr>
            <p:cNvCxnSpPr/>
            <p:nvPr/>
          </p:nvCxnSpPr>
          <p:spPr>
            <a:xfrm>
              <a:off x="3578225" y="5457825"/>
              <a:ext cx="43180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D1014602-939C-794E-7D99-4B4EDF9B3959}"/>
                </a:ext>
              </a:extLst>
            </p:cNvPr>
            <p:cNvCxnSpPr/>
            <p:nvPr/>
          </p:nvCxnSpPr>
          <p:spPr>
            <a:xfrm>
              <a:off x="3578225" y="5931904"/>
              <a:ext cx="43180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3BDC7694-D36C-B08F-5451-CD9D00B46B86}"/>
                </a:ext>
              </a:extLst>
            </p:cNvPr>
            <p:cNvCxnSpPr/>
            <p:nvPr/>
          </p:nvCxnSpPr>
          <p:spPr>
            <a:xfrm>
              <a:off x="5880100" y="5457825"/>
              <a:ext cx="4318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5F38E7FD-0C4B-7E9D-F4D5-230C17377FB7}"/>
                </a:ext>
              </a:extLst>
            </p:cNvPr>
            <p:cNvCxnSpPr/>
            <p:nvPr/>
          </p:nvCxnSpPr>
          <p:spPr>
            <a:xfrm>
              <a:off x="5880100" y="5908675"/>
              <a:ext cx="4318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A720C3BB-23EF-8DAF-BEA4-335EA662AF4C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 flipV="1">
              <a:off x="4278048" y="4878679"/>
              <a:ext cx="561919" cy="58390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D057AFB0-DAA0-3645-1724-51C7AC78C580}"/>
                </a:ext>
              </a:extLst>
            </p:cNvPr>
            <p:cNvCxnSpPr>
              <a:cxnSpLocks/>
              <a:stCxn id="9" idx="6"/>
              <a:endCxn id="13" idx="2"/>
            </p:cNvCxnSpPr>
            <p:nvPr/>
          </p:nvCxnSpPr>
          <p:spPr>
            <a:xfrm flipV="1">
              <a:off x="4278048" y="5290734"/>
              <a:ext cx="561919" cy="1718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>
              <a:extLst>
                <a:ext uri="{FF2B5EF4-FFF2-40B4-BE49-F238E27FC236}">
                  <a16:creationId xmlns:a16="http://schemas.microsoft.com/office/drawing/2014/main" id="{1F5A47F1-860B-39C7-F312-C9B530F1BE93}"/>
                </a:ext>
              </a:extLst>
            </p:cNvPr>
            <p:cNvCxnSpPr>
              <a:cxnSpLocks/>
              <a:stCxn id="9" idx="6"/>
              <a:endCxn id="19" idx="2"/>
            </p:cNvCxnSpPr>
            <p:nvPr/>
          </p:nvCxnSpPr>
          <p:spPr>
            <a:xfrm>
              <a:off x="4278048" y="5462587"/>
              <a:ext cx="561919" cy="240202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A5E758A8-EBC4-8F99-E107-5A337F345A82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>
              <a:off x="4278048" y="5462587"/>
              <a:ext cx="561919" cy="65225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1890FA9E-9A3F-C3CA-6694-49C2003CE2EB}"/>
                </a:ext>
              </a:extLst>
            </p:cNvPr>
            <p:cNvCxnSpPr>
              <a:cxnSpLocks/>
              <a:stCxn id="9" idx="6"/>
              <a:endCxn id="17" idx="2"/>
            </p:cNvCxnSpPr>
            <p:nvPr/>
          </p:nvCxnSpPr>
          <p:spPr>
            <a:xfrm>
              <a:off x="4278048" y="5462587"/>
              <a:ext cx="561919" cy="1064311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>
              <a:extLst>
                <a:ext uri="{FF2B5EF4-FFF2-40B4-BE49-F238E27FC236}">
                  <a16:creationId xmlns:a16="http://schemas.microsoft.com/office/drawing/2014/main" id="{492A1AD0-BE78-EE58-5616-750167368174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 flipV="1">
              <a:off x="4278048" y="4878679"/>
              <a:ext cx="561919" cy="103744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id="{3ECDD246-C256-DC2F-F1B9-FC153EE460B4}"/>
                </a:ext>
              </a:extLst>
            </p:cNvPr>
            <p:cNvCxnSpPr>
              <a:cxnSpLocks/>
              <a:stCxn id="10" idx="6"/>
              <a:endCxn id="13" idx="2"/>
            </p:cNvCxnSpPr>
            <p:nvPr/>
          </p:nvCxnSpPr>
          <p:spPr>
            <a:xfrm flipV="1">
              <a:off x="4278048" y="5290734"/>
              <a:ext cx="561919" cy="62538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0E8BEDA8-FB02-FC2B-3CA9-BC3C893806C8}"/>
                </a:ext>
              </a:extLst>
            </p:cNvPr>
            <p:cNvCxnSpPr>
              <a:cxnSpLocks/>
              <a:stCxn id="10" idx="6"/>
              <a:endCxn id="19" idx="2"/>
            </p:cNvCxnSpPr>
            <p:nvPr/>
          </p:nvCxnSpPr>
          <p:spPr>
            <a:xfrm flipV="1">
              <a:off x="4278048" y="5702789"/>
              <a:ext cx="561919" cy="21333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de Seta Reta 57">
              <a:extLst>
                <a:ext uri="{FF2B5EF4-FFF2-40B4-BE49-F238E27FC236}">
                  <a16:creationId xmlns:a16="http://schemas.microsoft.com/office/drawing/2014/main" id="{CE71FFC3-FCD3-EFE2-5E90-BB74FA2FEA26}"/>
                </a:ext>
              </a:extLst>
            </p:cNvPr>
            <p:cNvCxnSpPr>
              <a:cxnSpLocks/>
              <a:stCxn id="10" idx="6"/>
              <a:endCxn id="15" idx="2"/>
            </p:cNvCxnSpPr>
            <p:nvPr/>
          </p:nvCxnSpPr>
          <p:spPr>
            <a:xfrm>
              <a:off x="4278048" y="5916122"/>
              <a:ext cx="561919" cy="19872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de Seta Reta 60">
              <a:extLst>
                <a:ext uri="{FF2B5EF4-FFF2-40B4-BE49-F238E27FC236}">
                  <a16:creationId xmlns:a16="http://schemas.microsoft.com/office/drawing/2014/main" id="{95AFA643-480C-1548-D9EE-7230F3403244}"/>
                </a:ext>
              </a:extLst>
            </p:cNvPr>
            <p:cNvCxnSpPr>
              <a:cxnSpLocks/>
              <a:stCxn id="10" idx="6"/>
              <a:endCxn id="17" idx="2"/>
            </p:cNvCxnSpPr>
            <p:nvPr/>
          </p:nvCxnSpPr>
          <p:spPr>
            <a:xfrm>
              <a:off x="4278048" y="5916122"/>
              <a:ext cx="561919" cy="61077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de Seta Reta 63">
              <a:extLst>
                <a:ext uri="{FF2B5EF4-FFF2-40B4-BE49-F238E27FC236}">
                  <a16:creationId xmlns:a16="http://schemas.microsoft.com/office/drawing/2014/main" id="{A942C527-805E-B3B8-7A92-9CE6957DEF6A}"/>
                </a:ext>
              </a:extLst>
            </p:cNvPr>
            <p:cNvCxnSpPr>
              <a:cxnSpLocks/>
              <a:stCxn id="11" idx="6"/>
              <a:endCxn id="21" idx="2"/>
            </p:cNvCxnSpPr>
            <p:nvPr/>
          </p:nvCxnSpPr>
          <p:spPr>
            <a:xfrm>
              <a:off x="5059040" y="4878679"/>
              <a:ext cx="561919" cy="583908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de Seta Reta 66">
              <a:extLst>
                <a:ext uri="{FF2B5EF4-FFF2-40B4-BE49-F238E27FC236}">
                  <a16:creationId xmlns:a16="http://schemas.microsoft.com/office/drawing/2014/main" id="{BB4A9978-A72E-76B5-9211-3A9B4C2AD422}"/>
                </a:ext>
              </a:extLst>
            </p:cNvPr>
            <p:cNvCxnSpPr>
              <a:cxnSpLocks/>
              <a:stCxn id="13" idx="6"/>
              <a:endCxn id="21" idx="2"/>
            </p:cNvCxnSpPr>
            <p:nvPr/>
          </p:nvCxnSpPr>
          <p:spPr>
            <a:xfrm>
              <a:off x="5059040" y="5290734"/>
              <a:ext cx="561919" cy="171853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de Seta Reta 69">
              <a:extLst>
                <a:ext uri="{FF2B5EF4-FFF2-40B4-BE49-F238E27FC236}">
                  <a16:creationId xmlns:a16="http://schemas.microsoft.com/office/drawing/2014/main" id="{59E4BE6D-8FBF-ED22-F7E6-3F575AE401DB}"/>
                </a:ext>
              </a:extLst>
            </p:cNvPr>
            <p:cNvCxnSpPr>
              <a:cxnSpLocks/>
              <a:stCxn id="19" idx="6"/>
              <a:endCxn id="21" idx="2"/>
            </p:cNvCxnSpPr>
            <p:nvPr/>
          </p:nvCxnSpPr>
          <p:spPr>
            <a:xfrm flipV="1">
              <a:off x="5059040" y="5462587"/>
              <a:ext cx="561919" cy="240202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de Seta Reta 72">
              <a:extLst>
                <a:ext uri="{FF2B5EF4-FFF2-40B4-BE49-F238E27FC236}">
                  <a16:creationId xmlns:a16="http://schemas.microsoft.com/office/drawing/2014/main" id="{8DA7D02D-CA7B-6C22-B23E-2143A664BFE1}"/>
                </a:ext>
              </a:extLst>
            </p:cNvPr>
            <p:cNvCxnSpPr>
              <a:cxnSpLocks/>
              <a:stCxn id="15" idx="6"/>
              <a:endCxn id="21" idx="2"/>
            </p:cNvCxnSpPr>
            <p:nvPr/>
          </p:nvCxnSpPr>
          <p:spPr>
            <a:xfrm flipV="1">
              <a:off x="5059040" y="5462587"/>
              <a:ext cx="561919" cy="65225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>
              <a:extLst>
                <a:ext uri="{FF2B5EF4-FFF2-40B4-BE49-F238E27FC236}">
                  <a16:creationId xmlns:a16="http://schemas.microsoft.com/office/drawing/2014/main" id="{2FDCF254-B081-A9A6-4C49-CB4F811244E8}"/>
                </a:ext>
              </a:extLst>
            </p:cNvPr>
            <p:cNvCxnSpPr>
              <a:cxnSpLocks/>
              <a:stCxn id="17" idx="6"/>
              <a:endCxn id="21" idx="2"/>
            </p:cNvCxnSpPr>
            <p:nvPr/>
          </p:nvCxnSpPr>
          <p:spPr>
            <a:xfrm flipV="1">
              <a:off x="5059040" y="5462587"/>
              <a:ext cx="561919" cy="1064311"/>
            </a:xfrm>
            <a:prstGeom prst="straightConnector1">
              <a:avLst/>
            </a:prstGeom>
            <a:ln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>
              <a:extLst>
                <a:ext uri="{FF2B5EF4-FFF2-40B4-BE49-F238E27FC236}">
                  <a16:creationId xmlns:a16="http://schemas.microsoft.com/office/drawing/2014/main" id="{2FEB50C7-ABFE-CD46-19E5-1A1CAE12A88E}"/>
                </a:ext>
              </a:extLst>
            </p:cNvPr>
            <p:cNvCxnSpPr>
              <a:cxnSpLocks/>
              <a:stCxn id="11" idx="6"/>
              <a:endCxn id="22" idx="2"/>
            </p:cNvCxnSpPr>
            <p:nvPr/>
          </p:nvCxnSpPr>
          <p:spPr>
            <a:xfrm>
              <a:off x="5059040" y="4878679"/>
              <a:ext cx="561919" cy="1037443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de Seta Reta 81">
              <a:extLst>
                <a:ext uri="{FF2B5EF4-FFF2-40B4-BE49-F238E27FC236}">
                  <a16:creationId xmlns:a16="http://schemas.microsoft.com/office/drawing/2014/main" id="{D4EC4264-05C5-5B01-25F7-D47BC983261D}"/>
                </a:ext>
              </a:extLst>
            </p:cNvPr>
            <p:cNvCxnSpPr>
              <a:cxnSpLocks/>
              <a:stCxn id="13" idx="6"/>
              <a:endCxn id="22" idx="2"/>
            </p:cNvCxnSpPr>
            <p:nvPr/>
          </p:nvCxnSpPr>
          <p:spPr>
            <a:xfrm>
              <a:off x="5059040" y="5290734"/>
              <a:ext cx="561919" cy="62538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de Seta Reta 84">
              <a:extLst>
                <a:ext uri="{FF2B5EF4-FFF2-40B4-BE49-F238E27FC236}">
                  <a16:creationId xmlns:a16="http://schemas.microsoft.com/office/drawing/2014/main" id="{36689CA6-73CC-DC86-5B21-89ABFAD5406A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5059040" y="5702789"/>
              <a:ext cx="561919" cy="213333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de Seta Reta 87">
              <a:extLst>
                <a:ext uri="{FF2B5EF4-FFF2-40B4-BE49-F238E27FC236}">
                  <a16:creationId xmlns:a16="http://schemas.microsoft.com/office/drawing/2014/main" id="{9AE1FA07-A110-1AED-2F69-ECCB5CB2CAE5}"/>
                </a:ext>
              </a:extLst>
            </p:cNvPr>
            <p:cNvCxnSpPr>
              <a:cxnSpLocks/>
              <a:stCxn id="15" idx="6"/>
              <a:endCxn id="22" idx="2"/>
            </p:cNvCxnSpPr>
            <p:nvPr/>
          </p:nvCxnSpPr>
          <p:spPr>
            <a:xfrm flipV="1">
              <a:off x="5059040" y="5916122"/>
              <a:ext cx="561919" cy="19872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de Seta Reta 90">
              <a:extLst>
                <a:ext uri="{FF2B5EF4-FFF2-40B4-BE49-F238E27FC236}">
                  <a16:creationId xmlns:a16="http://schemas.microsoft.com/office/drawing/2014/main" id="{425F203F-37C0-F942-3E85-E3562712503E}"/>
                </a:ext>
              </a:extLst>
            </p:cNvPr>
            <p:cNvCxnSpPr>
              <a:cxnSpLocks/>
              <a:stCxn id="17" idx="6"/>
              <a:endCxn id="22" idx="2"/>
            </p:cNvCxnSpPr>
            <p:nvPr/>
          </p:nvCxnSpPr>
          <p:spPr>
            <a:xfrm flipV="1">
              <a:off x="5059040" y="5916122"/>
              <a:ext cx="561919" cy="610776"/>
            </a:xfrm>
            <a:prstGeom prst="straightConnector1">
              <a:avLst/>
            </a:prstGeom>
            <a:ln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8348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AB996-1298-3192-11A8-C95F1875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6EDBA-DBF4-2CBF-1994-5601CEE2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EC8DC6-75DA-DF76-79F1-EBBF77B3F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Aplicações:</a:t>
            </a:r>
          </a:p>
          <a:p>
            <a:pPr lvl="1"/>
            <a:r>
              <a:rPr lang="pt-BR" dirty="0"/>
              <a:t>Controle</a:t>
            </a:r>
          </a:p>
          <a:p>
            <a:pPr lvl="1"/>
            <a:r>
              <a:rPr lang="pt-BR" dirty="0"/>
              <a:t>Jogos</a:t>
            </a:r>
          </a:p>
        </p:txBody>
      </p:sp>
    </p:spTree>
    <p:extLst>
      <p:ext uri="{BB962C8B-B14F-4D97-AF65-F5344CB8AC3E}">
        <p14:creationId xmlns:p14="http://schemas.microsoft.com/office/powerpoint/2010/main" val="1369971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F3F2B-6BB2-C551-463C-A21D5877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VIMOS?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CB08B3-C05B-CE30-9323-F451BB082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Conhecemos o que é aprendizado em redes neurais</a:t>
            </a:r>
          </a:p>
          <a:p>
            <a:r>
              <a:rPr lang="pt-BR" dirty="0"/>
              <a:t>Conhecemos as principais técnicas de aprendizagem</a:t>
            </a:r>
          </a:p>
          <a:p>
            <a:r>
              <a:rPr lang="pt-BR" dirty="0"/>
              <a:t>Revisamos os principais paradigmas de aprendizagem e algumas das suas aplicações</a:t>
            </a:r>
          </a:p>
        </p:txBody>
      </p:sp>
    </p:spTree>
    <p:extLst>
      <p:ext uri="{BB962C8B-B14F-4D97-AF65-F5344CB8AC3E}">
        <p14:creationId xmlns:p14="http://schemas.microsoft.com/office/powerpoint/2010/main" val="2591594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AA172-B764-CE38-B17F-40F3396E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Porque essa atividade;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A2E88A-17E0-4FB7-681E-41AB83B87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Essas bibliotecas formam praticamente o “kit básico” moderno de:</a:t>
            </a:r>
          </a:p>
          <a:p>
            <a:pPr lvl="1"/>
            <a:r>
              <a:rPr lang="pt-BR" dirty="0"/>
              <a:t>Ciência de Dados </a:t>
            </a:r>
          </a:p>
          <a:p>
            <a:pPr lvl="1"/>
            <a:r>
              <a:rPr lang="pt-BR" dirty="0"/>
              <a:t>IA </a:t>
            </a:r>
          </a:p>
          <a:p>
            <a:pPr lvl="1"/>
            <a:r>
              <a:rPr lang="pt-BR" dirty="0"/>
              <a:t>Machine Learning </a:t>
            </a:r>
          </a:p>
          <a:p>
            <a:pPr lvl="1"/>
            <a:r>
              <a:rPr lang="pt-BR" dirty="0" err="1"/>
              <a:t>Deep</a:t>
            </a:r>
            <a:r>
              <a:rPr lang="pt-BR" dirty="0"/>
              <a:t> Learning </a:t>
            </a:r>
          </a:p>
          <a:p>
            <a:pPr lvl="1"/>
            <a:r>
              <a:rPr lang="pt-BR" dirty="0"/>
              <a:t>Engenharia de Dados </a:t>
            </a:r>
          </a:p>
          <a:p>
            <a:r>
              <a:rPr lang="pt-BR" dirty="0"/>
              <a:t>Aprender esse ecossistema abre caminho para:</a:t>
            </a:r>
          </a:p>
          <a:p>
            <a:pPr lvl="1"/>
            <a:r>
              <a:rPr lang="pt-BR" dirty="0"/>
              <a:t>análise de dados </a:t>
            </a:r>
          </a:p>
          <a:p>
            <a:pPr lvl="1"/>
            <a:r>
              <a:rPr lang="pt-BR" dirty="0"/>
              <a:t>IA generativa </a:t>
            </a:r>
          </a:p>
          <a:p>
            <a:pPr lvl="1"/>
            <a:r>
              <a:rPr lang="pt-BR" dirty="0"/>
              <a:t>visão computacional </a:t>
            </a:r>
          </a:p>
          <a:p>
            <a:pPr lvl="1"/>
            <a:r>
              <a:rPr lang="pt-BR" dirty="0"/>
              <a:t>automação inteligente </a:t>
            </a:r>
          </a:p>
          <a:p>
            <a:pPr lvl="1"/>
            <a:r>
              <a:rPr lang="pt-BR" dirty="0"/>
              <a:t>pesquisa acadêmica </a:t>
            </a:r>
          </a:p>
          <a:p>
            <a:pPr lvl="1"/>
            <a:r>
              <a:rPr lang="pt-BR" dirty="0"/>
              <a:t>projetos de IA aplicada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0662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14FE-8BD7-CCE1-5ABC-7CB1B00A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ESTAÇÕES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E99594-3019-058E-A264-29D516B1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Ambiente google Colab</a:t>
            </a:r>
          </a:p>
          <a:p>
            <a:r>
              <a:rPr lang="pt-BR" dirty="0"/>
              <a:t>Implementação em Python</a:t>
            </a:r>
          </a:p>
          <a:p>
            <a:r>
              <a:rPr lang="pt-BR" dirty="0"/>
              <a:t>Framework </a:t>
            </a:r>
            <a:r>
              <a:rPr lang="pt-BR" dirty="0" err="1"/>
              <a:t>Pytorch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5045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16A5E-13F7-B35F-E058-ED6F2EBD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ESTAÇÕES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210FC5-6944-FAC0-D244-3B3067425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Bibliotecas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 err="1"/>
              <a:t>Numpy</a:t>
            </a:r>
            <a:r>
              <a:rPr lang="pt-BR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Pandas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 err="1"/>
              <a:t>Torch</a:t>
            </a:r>
            <a:r>
              <a:rPr lang="pt-BR" dirty="0"/>
              <a:t>, </a:t>
            </a:r>
            <a:r>
              <a:rPr lang="pt-BR" dirty="0" err="1"/>
              <a:t>torch.nn</a:t>
            </a:r>
            <a:r>
              <a:rPr lang="pt-BR" dirty="0"/>
              <a:t> e </a:t>
            </a:r>
            <a:r>
              <a:rPr lang="pt-BR" dirty="0" err="1"/>
              <a:t>torch.bb.functional</a:t>
            </a:r>
            <a:endParaRPr lang="pt-BR" dirty="0"/>
          </a:p>
          <a:p>
            <a:pPr marL="914400" lvl="1" indent="-457200">
              <a:buFont typeface="+mj-lt"/>
              <a:buAutoNum type="arabicPeriod"/>
            </a:pPr>
            <a:r>
              <a:rPr lang="pt-BR" dirty="0" err="1"/>
              <a:t>Sklearn.datasts</a:t>
            </a:r>
            <a:r>
              <a:rPr lang="pt-BR" dirty="0"/>
              <a:t> 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Sklearn.preprocessing</a:t>
            </a:r>
            <a:r>
              <a:rPr lang="pt-BR" dirty="0"/>
              <a:t> </a:t>
            </a: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minmaxscaler</a:t>
            </a:r>
            <a:r>
              <a:rPr lang="pt-BR" dirty="0"/>
              <a:t>, 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Sklearn.model_selection</a:t>
            </a:r>
            <a:r>
              <a:rPr lang="pt-BR" dirty="0"/>
              <a:t> </a:t>
            </a: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train_test_split</a:t>
            </a:r>
            <a:endParaRPr lang="pt-BR" dirty="0"/>
          </a:p>
          <a:p>
            <a:pPr marL="914400" lvl="1" indent="-457200">
              <a:buFont typeface="+mj-lt"/>
              <a:buAutoNum type="arabicPeriod"/>
            </a:pPr>
            <a:r>
              <a:rPr lang="pt-BR" dirty="0" err="1"/>
              <a:t>Seaborn</a:t>
            </a:r>
            <a:endParaRPr lang="pt-BR" dirty="0"/>
          </a:p>
          <a:p>
            <a:pPr marL="914400" lvl="1" indent="-457200">
              <a:buFont typeface="+mj-lt"/>
              <a:buAutoNum type="arabicPeriod"/>
            </a:pPr>
            <a:r>
              <a:rPr lang="pt-BR" dirty="0" err="1"/>
              <a:t>Matplotlib.pyplot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6146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C03CA-9A7A-EB73-FBB3-2476A90D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ESTAÇÕES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315168-BA14-77F8-02DC-5A2EA037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Entenda para que serve a biblioteca; </a:t>
            </a:r>
          </a:p>
          <a:p>
            <a:r>
              <a:rPr lang="pt-BR" dirty="0"/>
              <a:t>Escreva 1 exemplo de utilização com; </a:t>
            </a:r>
          </a:p>
          <a:p>
            <a:pPr lvl="1"/>
            <a:r>
              <a:rPr lang="pt-BR" dirty="0"/>
              <a:t>Instalação (se necessário)</a:t>
            </a:r>
          </a:p>
          <a:p>
            <a:pPr lvl="1"/>
            <a:r>
              <a:rPr lang="pt-BR" dirty="0"/>
              <a:t>Chamada da biblioteca;</a:t>
            </a:r>
          </a:p>
          <a:p>
            <a:pPr lvl="1"/>
            <a:r>
              <a:rPr lang="pt-BR" dirty="0"/>
              <a:t>Entrada, </a:t>
            </a:r>
          </a:p>
          <a:p>
            <a:pPr lvl="1"/>
            <a:r>
              <a:rPr lang="pt-BR" dirty="0"/>
              <a:t>Execução </a:t>
            </a:r>
          </a:p>
          <a:p>
            <a:pPr lvl="1"/>
            <a:r>
              <a:rPr lang="pt-BR" dirty="0"/>
              <a:t>Saída de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19638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B329D-1966-0850-BC1D-D026260A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8C5DE-3732-F203-22CE-F69C5014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ESTAÇÕES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1DA142-54A2-0F09-3063-4199929CE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Atividade tempo de 30 min para pesquisa entendimento;</a:t>
            </a:r>
          </a:p>
          <a:p>
            <a:r>
              <a:rPr lang="pt-BR" dirty="0"/>
              <a:t>5 mim de apresentação em cada grupo.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715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65F12-6C09-1201-20C0-7739441E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8CD130-1E73-3241-4B04-E310B4083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2545720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248</TotalTime>
  <Words>1439</Words>
  <Application>Microsoft Office PowerPoint</Application>
  <PresentationFormat>Widescreen</PresentationFormat>
  <Paragraphs>291</Paragraphs>
  <Slides>37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1" baseType="lpstr">
      <vt:lpstr>Aptos</vt:lpstr>
      <vt:lpstr>Arial</vt:lpstr>
      <vt:lpstr>Cambria Math</vt:lpstr>
      <vt:lpstr>Tema_Aems_2026_v1</vt:lpstr>
      <vt:lpstr>Disciplina: Inteligência Artificial</vt:lpstr>
      <vt:lpstr>O QUE É APRENDIZAGEM?</vt:lpstr>
      <vt:lpstr>EXEMPLO:</vt:lpstr>
      <vt:lpstr>O QUE É APRENDIZAGEM?</vt:lpstr>
      <vt:lpstr>O QUE É APRENDIZAGEM?</vt:lpstr>
      <vt:lpstr>REGRAS DE APRENDIZAGEM?</vt:lpstr>
      <vt:lpstr>APRENDIZADO POR CORREÇÃO DO ERRO.</vt:lpstr>
      <vt:lpstr>APRENDIZADO POR CORREÇÃO DO ERRO.</vt:lpstr>
      <vt:lpstr>APRENDIZADO POR CORREÇÃO DO ERRO.</vt:lpstr>
      <vt:lpstr>APRENDIZADO BASEADO EM MÉMORIA</vt:lpstr>
      <vt:lpstr>APRENDIZADO BASEADO EM MÉMORIA</vt:lpstr>
      <vt:lpstr>APRENDIZADO HEBBIANO  {Postulado de Hebb – The Organization of Behavior (1949)}</vt:lpstr>
      <vt:lpstr>APRENDIZADO HEBBIANO</vt:lpstr>
      <vt:lpstr>APRENDIZADO HEBBIANO</vt:lpstr>
      <vt:lpstr>APRENDIZADO HEBBIANO</vt:lpstr>
      <vt:lpstr>APRENDIZADO COMPETITIVO</vt:lpstr>
      <vt:lpstr>APRENDIZADO COMPETITIVO</vt:lpstr>
      <vt:lpstr>APRENDIZADO COMPETITIVO</vt:lpstr>
      <vt:lpstr>APRENDIZADO COMPETITIVO</vt:lpstr>
      <vt:lpstr>APRENDIZADO COMPETITIVO</vt:lpstr>
      <vt:lpstr>APRENDIZADO DE BOLTZMANN</vt:lpstr>
      <vt:lpstr>APRENDIZADO DE BOLTZMANN</vt:lpstr>
      <vt:lpstr>APRENDIZADO DE BOLTZMANN</vt:lpstr>
      <vt:lpstr>PARADIGMAS DE APRENDIZAGEM</vt:lpstr>
      <vt:lpstr>Aprendizado Supervisionado</vt:lpstr>
      <vt:lpstr>Aprendizado Não – Supervisionado </vt:lpstr>
      <vt:lpstr>APRENDIZADO POR REFORÇO</vt:lpstr>
      <vt:lpstr>APRENDIZADO POR REFORÇO</vt:lpstr>
      <vt:lpstr>APRENDIZADO POR REFORÇO</vt:lpstr>
      <vt:lpstr>APRENDIZADO POR REFORÇO</vt:lpstr>
      <vt:lpstr>O QUE VIMOS?</vt:lpstr>
      <vt:lpstr>Porque essa atividade;</vt:lpstr>
      <vt:lpstr>DESAFIO ESTAÇÕES</vt:lpstr>
      <vt:lpstr>DESAFIO ESTAÇÕES</vt:lpstr>
      <vt:lpstr>DESAFIO ESTAÇÕES</vt:lpstr>
      <vt:lpstr>DESAFIO ESTAÇÕES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19</cp:revision>
  <dcterms:created xsi:type="dcterms:W3CDTF">2026-03-09T03:25:46Z</dcterms:created>
  <dcterms:modified xsi:type="dcterms:W3CDTF">2026-05-11T21:13:48Z</dcterms:modified>
</cp:coreProperties>
</file>