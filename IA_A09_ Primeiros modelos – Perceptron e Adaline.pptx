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256" r:id="rId2"/>
    <p:sldId id="257" r:id="rId3"/>
    <p:sldId id="296" r:id="rId4"/>
    <p:sldId id="303" r:id="rId5"/>
    <p:sldId id="305" r:id="rId6"/>
    <p:sldId id="258" r:id="rId7"/>
    <p:sldId id="259" r:id="rId8"/>
    <p:sldId id="260" r:id="rId9"/>
    <p:sldId id="261" r:id="rId10"/>
    <p:sldId id="262" r:id="rId11"/>
    <p:sldId id="297" r:id="rId12"/>
    <p:sldId id="298" r:id="rId13"/>
    <p:sldId id="299" r:id="rId14"/>
    <p:sldId id="301" r:id="rId15"/>
    <p:sldId id="300" r:id="rId16"/>
    <p:sldId id="302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306" r:id="rId25"/>
    <p:sldId id="307" r:id="rId26"/>
    <p:sldId id="308" r:id="rId27"/>
    <p:sldId id="309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95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F0A"/>
    <a:srgbClr val="000000"/>
    <a:srgbClr val="000050"/>
    <a:srgbClr val="F2A516"/>
    <a:srgbClr val="033E8C"/>
    <a:srgbClr val="F2BF27"/>
    <a:srgbClr val="E8E8E8"/>
    <a:srgbClr val="036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69613" autoAdjust="0"/>
  </p:normalViewPr>
  <p:slideViewPr>
    <p:cSldViewPr snapToGrid="0">
      <p:cViewPr varScale="1">
        <p:scale>
          <a:sx n="107" d="100"/>
          <a:sy n="107" d="100"/>
        </p:scale>
        <p:origin x="6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0376B4-82A8-4A51-9732-CAEF91B047D0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pt-BR"/>
        </a:p>
      </dgm:t>
    </dgm:pt>
    <dgm:pt modelId="{8C566623-F50F-4BD8-BDC4-AC931CBCF5B9}">
      <dgm:prSet/>
      <dgm:spPr>
        <a:solidFill>
          <a:srgbClr val="000050"/>
        </a:solidFill>
      </dgm:spPr>
      <dgm:t>
        <a:bodyPr/>
        <a:lstStyle/>
        <a:p>
          <a:r>
            <a:rPr lang="pt-BR"/>
            <a:t>Associa um algoritmo de aprendizagem ao neurônio MCP.</a:t>
          </a:r>
        </a:p>
      </dgm:t>
    </dgm:pt>
    <dgm:pt modelId="{3BEB90A1-AB43-4B5F-82FB-DD7E0A129E0E}" type="parTrans" cxnId="{82D1EA98-7061-4386-9F06-AD6ACB002D2F}">
      <dgm:prSet/>
      <dgm:spPr/>
      <dgm:t>
        <a:bodyPr/>
        <a:lstStyle/>
        <a:p>
          <a:endParaRPr lang="pt-BR"/>
        </a:p>
      </dgm:t>
    </dgm:pt>
    <dgm:pt modelId="{43783E6D-3301-4974-BAB4-0C0174115929}" type="sibTrans" cxnId="{82D1EA98-7061-4386-9F06-AD6ACB002D2F}">
      <dgm:prSet/>
      <dgm:spPr/>
      <dgm:t>
        <a:bodyPr/>
        <a:lstStyle/>
        <a:p>
          <a:endParaRPr lang="pt-BR"/>
        </a:p>
      </dgm:t>
    </dgm:pt>
    <dgm:pt modelId="{B8500E61-2ABE-42A0-B92B-3E9823258AF1}">
      <dgm:prSet/>
      <dgm:spPr/>
      <dgm:t>
        <a:bodyPr/>
        <a:lstStyle/>
        <a:p>
          <a:r>
            <a:rPr lang="pt-BR" dirty="0"/>
            <a:t>Ajuste automático dos pesos via correção de erros.</a:t>
          </a:r>
        </a:p>
      </dgm:t>
    </dgm:pt>
    <dgm:pt modelId="{82D924F3-61E3-4EF1-BB6F-7AB59C3BC5F9}" type="parTrans" cxnId="{29A5F181-C3C4-4123-BB7D-DD79098DAF0A}">
      <dgm:prSet/>
      <dgm:spPr/>
      <dgm:t>
        <a:bodyPr/>
        <a:lstStyle/>
        <a:p>
          <a:endParaRPr lang="pt-BR"/>
        </a:p>
      </dgm:t>
    </dgm:pt>
    <dgm:pt modelId="{366D00EC-FFF3-4661-8A7B-8B921611C930}" type="sibTrans" cxnId="{29A5F181-C3C4-4123-BB7D-DD79098DAF0A}">
      <dgm:prSet/>
      <dgm:spPr/>
      <dgm:t>
        <a:bodyPr/>
        <a:lstStyle/>
        <a:p>
          <a:endParaRPr lang="pt-BR"/>
        </a:p>
      </dgm:t>
    </dgm:pt>
    <dgm:pt modelId="{04EC96F0-F38A-47DA-92EE-563EF244C9E5}">
      <dgm:prSet/>
      <dgm:spPr/>
      <dgm:t>
        <a:bodyPr/>
        <a:lstStyle/>
        <a:p>
          <a:r>
            <a:rPr lang="pt-BR" dirty="0"/>
            <a:t>A rede possui apenas uma camada de neurônios ajustáveis.</a:t>
          </a:r>
        </a:p>
      </dgm:t>
    </dgm:pt>
    <dgm:pt modelId="{FED8BD79-5958-4514-8102-59FFE5079B3B}" type="parTrans" cxnId="{A135AED7-BD20-4BF6-8188-129B641012C3}">
      <dgm:prSet/>
      <dgm:spPr/>
      <dgm:t>
        <a:bodyPr/>
        <a:lstStyle/>
        <a:p>
          <a:endParaRPr lang="pt-BR"/>
        </a:p>
      </dgm:t>
    </dgm:pt>
    <dgm:pt modelId="{5DDE7538-406F-43D0-A4CD-72087AE57D75}" type="sibTrans" cxnId="{A135AED7-BD20-4BF6-8188-129B641012C3}">
      <dgm:prSet/>
      <dgm:spPr/>
      <dgm:t>
        <a:bodyPr/>
        <a:lstStyle/>
        <a:p>
          <a:endParaRPr lang="pt-BR"/>
        </a:p>
      </dgm:t>
    </dgm:pt>
    <dgm:pt modelId="{8D6AA4C2-71A5-48B4-B246-670542D3BB30}">
      <dgm:prSet/>
      <dgm:spPr>
        <a:solidFill>
          <a:srgbClr val="033E8C"/>
        </a:solidFill>
      </dgm:spPr>
      <dgm:t>
        <a:bodyPr/>
        <a:lstStyle/>
        <a:p>
          <a:r>
            <a:rPr lang="pt-BR" dirty="0" err="1"/>
            <a:t>Obs</a:t>
          </a:r>
          <a:r>
            <a:rPr lang="pt-BR" dirty="0"/>
            <a:t> IMPORTANTE: No artigo original de 1958, faz referencia a outras camadas embora as outras camadas apresentam neurônios de retina (neurônios não ajustáveis, apenas recebem os sinais de outras camadas)</a:t>
          </a:r>
        </a:p>
      </dgm:t>
    </dgm:pt>
    <dgm:pt modelId="{965922E7-0927-48DB-A641-F1086D57D4BE}" type="parTrans" cxnId="{48594FBF-4597-4D1A-85E3-2CE38FF34FFA}">
      <dgm:prSet/>
      <dgm:spPr/>
      <dgm:t>
        <a:bodyPr/>
        <a:lstStyle/>
        <a:p>
          <a:endParaRPr lang="pt-BR"/>
        </a:p>
      </dgm:t>
    </dgm:pt>
    <dgm:pt modelId="{F2CBD110-2963-4EEE-A64E-B4D7845B7AD1}" type="sibTrans" cxnId="{48594FBF-4597-4D1A-85E3-2CE38FF34FFA}">
      <dgm:prSet/>
      <dgm:spPr/>
      <dgm:t>
        <a:bodyPr/>
        <a:lstStyle/>
        <a:p>
          <a:endParaRPr lang="pt-BR"/>
        </a:p>
      </dgm:t>
    </dgm:pt>
    <dgm:pt modelId="{A7BBCE53-2264-4E68-992C-7037443DB9C4}">
      <dgm:prSet/>
      <dgm:spPr>
        <a:solidFill>
          <a:srgbClr val="0367A6"/>
        </a:solidFill>
      </dgm:spPr>
      <dgm:t>
        <a:bodyPr/>
        <a:lstStyle/>
        <a:p>
          <a:r>
            <a:rPr lang="pt-BR"/>
            <a:t>Usado para classificação de padrões</a:t>
          </a:r>
          <a:endParaRPr lang="pt-BR" dirty="0"/>
        </a:p>
      </dgm:t>
    </dgm:pt>
    <dgm:pt modelId="{6446CC7B-C1F5-437E-B9C1-E016DE43B228}" type="parTrans" cxnId="{EE1CE811-9A39-4EB5-85B7-49C3E7682A35}">
      <dgm:prSet/>
      <dgm:spPr/>
      <dgm:t>
        <a:bodyPr/>
        <a:lstStyle/>
        <a:p>
          <a:endParaRPr lang="pt-BR"/>
        </a:p>
      </dgm:t>
    </dgm:pt>
    <dgm:pt modelId="{7D1BFFC0-AFCD-4DC3-BFF9-1521582C881E}" type="sibTrans" cxnId="{EE1CE811-9A39-4EB5-85B7-49C3E7682A35}">
      <dgm:prSet/>
      <dgm:spPr/>
      <dgm:t>
        <a:bodyPr/>
        <a:lstStyle/>
        <a:p>
          <a:endParaRPr lang="pt-BR"/>
        </a:p>
      </dgm:t>
    </dgm:pt>
    <dgm:pt modelId="{5E7A1886-02CB-4F78-A620-59E9AACFBCBF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pt-BR" b="1" dirty="0">
              <a:solidFill>
                <a:srgbClr val="C00000"/>
              </a:solidFill>
            </a:rPr>
            <a:t>Converge com erro zero se as classes forem linearmente separáveis.</a:t>
          </a:r>
        </a:p>
      </dgm:t>
    </dgm:pt>
    <dgm:pt modelId="{D54E320A-52B9-470A-A642-138DD5F55B8A}" type="parTrans" cxnId="{B54E0EFA-00C6-43BE-84AC-74B0C1F5D92F}">
      <dgm:prSet/>
      <dgm:spPr/>
      <dgm:t>
        <a:bodyPr/>
        <a:lstStyle/>
        <a:p>
          <a:endParaRPr lang="pt-BR"/>
        </a:p>
      </dgm:t>
    </dgm:pt>
    <dgm:pt modelId="{6CD60ACD-CC57-48B3-AA37-290AD56C45CD}" type="sibTrans" cxnId="{B54E0EFA-00C6-43BE-84AC-74B0C1F5D92F}">
      <dgm:prSet/>
      <dgm:spPr/>
      <dgm:t>
        <a:bodyPr/>
        <a:lstStyle/>
        <a:p>
          <a:endParaRPr lang="pt-BR"/>
        </a:p>
      </dgm:t>
    </dgm:pt>
    <dgm:pt modelId="{E60BAC09-DDC2-45DA-AF72-970172D89592}" type="pres">
      <dgm:prSet presAssocID="{E30376B4-82A8-4A51-9732-CAEF91B047D0}" presName="linear" presStyleCnt="0">
        <dgm:presLayoutVars>
          <dgm:animLvl val="lvl"/>
          <dgm:resizeHandles val="exact"/>
        </dgm:presLayoutVars>
      </dgm:prSet>
      <dgm:spPr/>
    </dgm:pt>
    <dgm:pt modelId="{8DA01856-C871-45C9-91C2-51A12A641225}" type="pres">
      <dgm:prSet presAssocID="{8C566623-F50F-4BD8-BDC4-AC931CBCF5B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225FF89-1398-43CA-B214-F6B69786F95D}" type="pres">
      <dgm:prSet presAssocID="{8C566623-F50F-4BD8-BDC4-AC931CBCF5B9}" presName="childText" presStyleLbl="revTx" presStyleIdx="0" presStyleCnt="1">
        <dgm:presLayoutVars>
          <dgm:bulletEnabled val="1"/>
        </dgm:presLayoutVars>
      </dgm:prSet>
      <dgm:spPr/>
    </dgm:pt>
    <dgm:pt modelId="{8252A0E2-0524-4358-9C21-C06BB6963075}" type="pres">
      <dgm:prSet presAssocID="{8D6AA4C2-71A5-48B4-B246-670542D3BB3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10BE908-3B44-4CE0-81B3-9BE86DDDBEEA}" type="pres">
      <dgm:prSet presAssocID="{F2CBD110-2963-4EEE-A64E-B4D7845B7AD1}" presName="spacer" presStyleCnt="0"/>
      <dgm:spPr/>
    </dgm:pt>
    <dgm:pt modelId="{5AB58B75-E8BC-42C4-9CDE-65F2005BA8E8}" type="pres">
      <dgm:prSet presAssocID="{A7BBCE53-2264-4E68-992C-7037443DB9C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320895C-7A56-465E-8A81-4D86FEC6723E}" type="pres">
      <dgm:prSet presAssocID="{7D1BFFC0-AFCD-4DC3-BFF9-1521582C881E}" presName="spacer" presStyleCnt="0"/>
      <dgm:spPr/>
    </dgm:pt>
    <dgm:pt modelId="{8FB572FC-0498-4053-AAAC-958A8BA5E1FC}" type="pres">
      <dgm:prSet presAssocID="{5E7A1886-02CB-4F78-A620-59E9AACFBCB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FD37211-A6A7-42EC-A3BB-A523276DD2B3}" type="presOf" srcId="{8C566623-F50F-4BD8-BDC4-AC931CBCF5B9}" destId="{8DA01856-C871-45C9-91C2-51A12A641225}" srcOrd="0" destOrd="0" presId="urn:microsoft.com/office/officeart/2005/8/layout/vList2"/>
    <dgm:cxn modelId="{EE1CE811-9A39-4EB5-85B7-49C3E7682A35}" srcId="{E30376B4-82A8-4A51-9732-CAEF91B047D0}" destId="{A7BBCE53-2264-4E68-992C-7037443DB9C4}" srcOrd="2" destOrd="0" parTransId="{6446CC7B-C1F5-437E-B9C1-E016DE43B228}" sibTransId="{7D1BFFC0-AFCD-4DC3-BFF9-1521582C881E}"/>
    <dgm:cxn modelId="{7B67466C-3BE8-4074-BD0E-AAC8386E21CA}" type="presOf" srcId="{04EC96F0-F38A-47DA-92EE-563EF244C9E5}" destId="{7225FF89-1398-43CA-B214-F6B69786F95D}" srcOrd="0" destOrd="1" presId="urn:microsoft.com/office/officeart/2005/8/layout/vList2"/>
    <dgm:cxn modelId="{29A5F181-C3C4-4123-BB7D-DD79098DAF0A}" srcId="{8C566623-F50F-4BD8-BDC4-AC931CBCF5B9}" destId="{B8500E61-2ABE-42A0-B92B-3E9823258AF1}" srcOrd="0" destOrd="0" parTransId="{82D924F3-61E3-4EF1-BB6F-7AB59C3BC5F9}" sibTransId="{366D00EC-FFF3-4661-8A7B-8B921611C930}"/>
    <dgm:cxn modelId="{6DF24C91-8711-4BD7-9134-B51EED5C8610}" type="presOf" srcId="{A7BBCE53-2264-4E68-992C-7037443DB9C4}" destId="{5AB58B75-E8BC-42C4-9CDE-65F2005BA8E8}" srcOrd="0" destOrd="0" presId="urn:microsoft.com/office/officeart/2005/8/layout/vList2"/>
    <dgm:cxn modelId="{82D1EA98-7061-4386-9F06-AD6ACB002D2F}" srcId="{E30376B4-82A8-4A51-9732-CAEF91B047D0}" destId="{8C566623-F50F-4BD8-BDC4-AC931CBCF5B9}" srcOrd="0" destOrd="0" parTransId="{3BEB90A1-AB43-4B5F-82FB-DD7E0A129E0E}" sibTransId="{43783E6D-3301-4974-BAB4-0C0174115929}"/>
    <dgm:cxn modelId="{BC3C0E9F-0284-4D75-B940-614013188531}" type="presOf" srcId="{5E7A1886-02CB-4F78-A620-59E9AACFBCBF}" destId="{8FB572FC-0498-4053-AAAC-958A8BA5E1FC}" srcOrd="0" destOrd="0" presId="urn:microsoft.com/office/officeart/2005/8/layout/vList2"/>
    <dgm:cxn modelId="{48594FBF-4597-4D1A-85E3-2CE38FF34FFA}" srcId="{E30376B4-82A8-4A51-9732-CAEF91B047D0}" destId="{8D6AA4C2-71A5-48B4-B246-670542D3BB30}" srcOrd="1" destOrd="0" parTransId="{965922E7-0927-48DB-A641-F1086D57D4BE}" sibTransId="{F2CBD110-2963-4EEE-A64E-B4D7845B7AD1}"/>
    <dgm:cxn modelId="{5CB43BC9-1900-4FC6-A9C5-63A2E16F657D}" type="presOf" srcId="{E30376B4-82A8-4A51-9732-CAEF91B047D0}" destId="{E60BAC09-DDC2-45DA-AF72-970172D89592}" srcOrd="0" destOrd="0" presId="urn:microsoft.com/office/officeart/2005/8/layout/vList2"/>
    <dgm:cxn modelId="{A135AED7-BD20-4BF6-8188-129B641012C3}" srcId="{8C566623-F50F-4BD8-BDC4-AC931CBCF5B9}" destId="{04EC96F0-F38A-47DA-92EE-563EF244C9E5}" srcOrd="1" destOrd="0" parTransId="{FED8BD79-5958-4514-8102-59FFE5079B3B}" sibTransId="{5DDE7538-406F-43D0-A4CD-72087AE57D75}"/>
    <dgm:cxn modelId="{3CCBCFEB-5A9B-4F53-B54A-424B456731B1}" type="presOf" srcId="{B8500E61-2ABE-42A0-B92B-3E9823258AF1}" destId="{7225FF89-1398-43CA-B214-F6B69786F95D}" srcOrd="0" destOrd="0" presId="urn:microsoft.com/office/officeart/2005/8/layout/vList2"/>
    <dgm:cxn modelId="{B54E0EFA-00C6-43BE-84AC-74B0C1F5D92F}" srcId="{E30376B4-82A8-4A51-9732-CAEF91B047D0}" destId="{5E7A1886-02CB-4F78-A620-59E9AACFBCBF}" srcOrd="3" destOrd="0" parTransId="{D54E320A-52B9-470A-A642-138DD5F55B8A}" sibTransId="{6CD60ACD-CC57-48B3-AA37-290AD56C45CD}"/>
    <dgm:cxn modelId="{32354FFF-3904-4806-BA3E-D29CFDD7956D}" type="presOf" srcId="{8D6AA4C2-71A5-48B4-B246-670542D3BB30}" destId="{8252A0E2-0524-4358-9C21-C06BB6963075}" srcOrd="0" destOrd="0" presId="urn:microsoft.com/office/officeart/2005/8/layout/vList2"/>
    <dgm:cxn modelId="{B6E8F44B-29CB-4ED4-9C82-D842240A33DE}" type="presParOf" srcId="{E60BAC09-DDC2-45DA-AF72-970172D89592}" destId="{8DA01856-C871-45C9-91C2-51A12A641225}" srcOrd="0" destOrd="0" presId="urn:microsoft.com/office/officeart/2005/8/layout/vList2"/>
    <dgm:cxn modelId="{257FD642-F8C6-4496-AD27-05CE030F6350}" type="presParOf" srcId="{E60BAC09-DDC2-45DA-AF72-970172D89592}" destId="{7225FF89-1398-43CA-B214-F6B69786F95D}" srcOrd="1" destOrd="0" presId="urn:microsoft.com/office/officeart/2005/8/layout/vList2"/>
    <dgm:cxn modelId="{4697EFE2-4451-4342-8B3B-5A8CF71AEB78}" type="presParOf" srcId="{E60BAC09-DDC2-45DA-AF72-970172D89592}" destId="{8252A0E2-0524-4358-9C21-C06BB6963075}" srcOrd="2" destOrd="0" presId="urn:microsoft.com/office/officeart/2005/8/layout/vList2"/>
    <dgm:cxn modelId="{5B554322-684C-4204-8859-142ECDA54CFF}" type="presParOf" srcId="{E60BAC09-DDC2-45DA-AF72-970172D89592}" destId="{610BE908-3B44-4CE0-81B3-9BE86DDDBEEA}" srcOrd="3" destOrd="0" presId="urn:microsoft.com/office/officeart/2005/8/layout/vList2"/>
    <dgm:cxn modelId="{FED8AD9E-8BD8-486B-9AFE-D1A2BD602DDB}" type="presParOf" srcId="{E60BAC09-DDC2-45DA-AF72-970172D89592}" destId="{5AB58B75-E8BC-42C4-9CDE-65F2005BA8E8}" srcOrd="4" destOrd="0" presId="urn:microsoft.com/office/officeart/2005/8/layout/vList2"/>
    <dgm:cxn modelId="{3F138232-A882-4C70-81D2-12A067FE5103}" type="presParOf" srcId="{E60BAC09-DDC2-45DA-AF72-970172D89592}" destId="{D320895C-7A56-465E-8A81-4D86FEC6723E}" srcOrd="5" destOrd="0" presId="urn:microsoft.com/office/officeart/2005/8/layout/vList2"/>
    <dgm:cxn modelId="{33686992-6397-4B72-9D76-5833F7254DED}" type="presParOf" srcId="{E60BAC09-DDC2-45DA-AF72-970172D89592}" destId="{8FB572FC-0498-4053-AAAC-958A8BA5E1F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729103-2329-45FC-9443-5BADEFC874A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D089A79-4FE9-4123-B73F-73527C374647}">
      <dgm:prSet/>
      <dgm:spPr/>
      <dgm:t>
        <a:bodyPr/>
        <a:lstStyle/>
        <a:p>
          <a:r>
            <a:rPr lang="pt-BR"/>
            <a:t>Função de ativação degrau;</a:t>
          </a:r>
        </a:p>
      </dgm:t>
    </dgm:pt>
    <dgm:pt modelId="{1166DD53-95D7-4668-8B0F-531379A08034}" type="parTrans" cxnId="{2659BB7F-E37A-492C-AA75-500F4C39AE3D}">
      <dgm:prSet/>
      <dgm:spPr/>
      <dgm:t>
        <a:bodyPr/>
        <a:lstStyle/>
        <a:p>
          <a:endParaRPr lang="pt-BR"/>
        </a:p>
      </dgm:t>
    </dgm:pt>
    <dgm:pt modelId="{5B9EFB86-9412-4FC2-9C25-F6A9F3F25F90}" type="sibTrans" cxnId="{2659BB7F-E37A-492C-AA75-500F4C39AE3D}">
      <dgm:prSet/>
      <dgm:spPr/>
      <dgm:t>
        <a:bodyPr/>
        <a:lstStyle/>
        <a:p>
          <a:endParaRPr lang="pt-BR"/>
        </a:p>
      </dgm:t>
    </dgm:pt>
    <dgm:pt modelId="{E152816A-FABA-4855-829D-F0F8E1EF8AD8}">
      <dgm:prSet/>
      <dgm:spPr/>
      <dgm:t>
        <a:bodyPr/>
        <a:lstStyle/>
        <a:p>
          <a:r>
            <a:rPr lang="pt-BR" dirty="0"/>
            <a:t>Algoritmo de aprendizado supervisionado via correções de erros.</a:t>
          </a:r>
        </a:p>
      </dgm:t>
    </dgm:pt>
    <dgm:pt modelId="{BCA638A7-B50E-4019-8366-AE1562A75DF7}" type="parTrans" cxnId="{5C9494C3-ED10-4E18-8E66-30F885D3474D}">
      <dgm:prSet/>
      <dgm:spPr/>
      <dgm:t>
        <a:bodyPr/>
        <a:lstStyle/>
        <a:p>
          <a:endParaRPr lang="pt-BR"/>
        </a:p>
      </dgm:t>
    </dgm:pt>
    <dgm:pt modelId="{C3296F1D-651C-4C06-BF7B-61E2165CCCAA}" type="sibTrans" cxnId="{5C9494C3-ED10-4E18-8E66-30F885D3474D}">
      <dgm:prSet/>
      <dgm:spPr/>
      <dgm:t>
        <a:bodyPr/>
        <a:lstStyle/>
        <a:p>
          <a:endParaRPr lang="pt-BR"/>
        </a:p>
      </dgm:t>
    </dgm:pt>
    <dgm:pt modelId="{41D9F354-1E1A-4303-9633-C95D1079F610}">
      <dgm:prSet/>
      <dgm:spPr/>
      <dgm:t>
        <a:bodyPr/>
        <a:lstStyle/>
        <a:p>
          <a:r>
            <a:rPr lang="pt-BR"/>
            <a:t>Um único neurônio permite resolver problemas de classificação binárias.</a:t>
          </a:r>
        </a:p>
      </dgm:t>
    </dgm:pt>
    <dgm:pt modelId="{349DE42C-DB8C-4263-BBC9-9BDA4CD3B206}" type="parTrans" cxnId="{81FFB58B-9661-41E3-B851-87A61153AA93}">
      <dgm:prSet/>
      <dgm:spPr/>
      <dgm:t>
        <a:bodyPr/>
        <a:lstStyle/>
        <a:p>
          <a:endParaRPr lang="pt-BR"/>
        </a:p>
      </dgm:t>
    </dgm:pt>
    <dgm:pt modelId="{84A47CB3-5E67-4797-B800-EFB6B35E4260}" type="sibTrans" cxnId="{81FFB58B-9661-41E3-B851-87A61153AA93}">
      <dgm:prSet/>
      <dgm:spPr/>
      <dgm:t>
        <a:bodyPr/>
        <a:lstStyle/>
        <a:p>
          <a:endParaRPr lang="pt-BR"/>
        </a:p>
      </dgm:t>
    </dgm:pt>
    <dgm:pt modelId="{2F2F4432-2168-45A8-BF7A-43A5AA7BE73F}">
      <dgm:prSet/>
      <dgm:spPr/>
      <dgm:t>
        <a:bodyPr/>
        <a:lstStyle/>
        <a:p>
          <a:r>
            <a:rPr lang="pt-BR"/>
            <a:t>Com múltiplos neurônios, problemas com várias classes podem ser resolvidos.</a:t>
          </a:r>
        </a:p>
      </dgm:t>
    </dgm:pt>
    <dgm:pt modelId="{D7C16E93-D965-431D-A2D1-4FCF00781B42}" type="parTrans" cxnId="{D2DCDDD8-1ECB-4B20-A168-BB04A1E85528}">
      <dgm:prSet/>
      <dgm:spPr/>
      <dgm:t>
        <a:bodyPr/>
        <a:lstStyle/>
        <a:p>
          <a:endParaRPr lang="pt-BR"/>
        </a:p>
      </dgm:t>
    </dgm:pt>
    <dgm:pt modelId="{B86AECBA-B98F-41C2-BCC4-4BA469595CB4}" type="sibTrans" cxnId="{D2DCDDD8-1ECB-4B20-A168-BB04A1E85528}">
      <dgm:prSet/>
      <dgm:spPr/>
      <dgm:t>
        <a:bodyPr/>
        <a:lstStyle/>
        <a:p>
          <a:endParaRPr lang="pt-BR"/>
        </a:p>
      </dgm:t>
    </dgm:pt>
    <dgm:pt modelId="{50D9B6BE-552E-44AB-A9ED-3E78E0D0E013}" type="pres">
      <dgm:prSet presAssocID="{B5729103-2329-45FC-9443-5BADEFC874A6}" presName="Name0" presStyleCnt="0">
        <dgm:presLayoutVars>
          <dgm:dir/>
          <dgm:resizeHandles val="exact"/>
        </dgm:presLayoutVars>
      </dgm:prSet>
      <dgm:spPr/>
    </dgm:pt>
    <dgm:pt modelId="{18A98361-0B4E-4B5F-8A80-EA0DA27C8253}" type="pres">
      <dgm:prSet presAssocID="{3D089A79-4FE9-4123-B73F-73527C374647}" presName="node" presStyleLbl="node1" presStyleIdx="0" presStyleCnt="4">
        <dgm:presLayoutVars>
          <dgm:bulletEnabled val="1"/>
        </dgm:presLayoutVars>
      </dgm:prSet>
      <dgm:spPr/>
    </dgm:pt>
    <dgm:pt modelId="{D4E1B942-4C29-467C-9BDA-978202BBB5F0}" type="pres">
      <dgm:prSet presAssocID="{5B9EFB86-9412-4FC2-9C25-F6A9F3F25F90}" presName="sibTrans" presStyleLbl="sibTrans2D1" presStyleIdx="0" presStyleCnt="3"/>
      <dgm:spPr/>
    </dgm:pt>
    <dgm:pt modelId="{5697A77F-6E17-445B-9DF1-181B104BF5A1}" type="pres">
      <dgm:prSet presAssocID="{5B9EFB86-9412-4FC2-9C25-F6A9F3F25F90}" presName="connectorText" presStyleLbl="sibTrans2D1" presStyleIdx="0" presStyleCnt="3"/>
      <dgm:spPr/>
    </dgm:pt>
    <dgm:pt modelId="{15BEFF0F-6982-4324-A2FE-0D53A59CE36A}" type="pres">
      <dgm:prSet presAssocID="{E152816A-FABA-4855-829D-F0F8E1EF8AD8}" presName="node" presStyleLbl="node1" presStyleIdx="1" presStyleCnt="4">
        <dgm:presLayoutVars>
          <dgm:bulletEnabled val="1"/>
        </dgm:presLayoutVars>
      </dgm:prSet>
      <dgm:spPr/>
    </dgm:pt>
    <dgm:pt modelId="{12E3C057-682A-42F7-B9B3-95F2588E7FC8}" type="pres">
      <dgm:prSet presAssocID="{C3296F1D-651C-4C06-BF7B-61E2165CCCAA}" presName="sibTrans" presStyleLbl="sibTrans2D1" presStyleIdx="1" presStyleCnt="3"/>
      <dgm:spPr/>
    </dgm:pt>
    <dgm:pt modelId="{58B1718C-365A-4CC9-9A6E-B4E65FFCA0BD}" type="pres">
      <dgm:prSet presAssocID="{C3296F1D-651C-4C06-BF7B-61E2165CCCAA}" presName="connectorText" presStyleLbl="sibTrans2D1" presStyleIdx="1" presStyleCnt="3"/>
      <dgm:spPr/>
    </dgm:pt>
    <dgm:pt modelId="{8D46DE2D-B6F8-4108-8455-AF96480BBBC5}" type="pres">
      <dgm:prSet presAssocID="{41D9F354-1E1A-4303-9633-C95D1079F610}" presName="node" presStyleLbl="node1" presStyleIdx="2" presStyleCnt="4">
        <dgm:presLayoutVars>
          <dgm:bulletEnabled val="1"/>
        </dgm:presLayoutVars>
      </dgm:prSet>
      <dgm:spPr/>
    </dgm:pt>
    <dgm:pt modelId="{43406612-F207-4F0C-BC0D-4DC9F2537339}" type="pres">
      <dgm:prSet presAssocID="{84A47CB3-5E67-4797-B800-EFB6B35E4260}" presName="sibTrans" presStyleLbl="sibTrans2D1" presStyleIdx="2" presStyleCnt="3"/>
      <dgm:spPr/>
    </dgm:pt>
    <dgm:pt modelId="{BE054457-1E0A-4614-AA10-08E9FABD2C4E}" type="pres">
      <dgm:prSet presAssocID="{84A47CB3-5E67-4797-B800-EFB6B35E4260}" presName="connectorText" presStyleLbl="sibTrans2D1" presStyleIdx="2" presStyleCnt="3"/>
      <dgm:spPr/>
    </dgm:pt>
    <dgm:pt modelId="{F277E321-93D8-4404-B36A-52462B6E7C8A}" type="pres">
      <dgm:prSet presAssocID="{2F2F4432-2168-45A8-BF7A-43A5AA7BE73F}" presName="node" presStyleLbl="node1" presStyleIdx="3" presStyleCnt="4">
        <dgm:presLayoutVars>
          <dgm:bulletEnabled val="1"/>
        </dgm:presLayoutVars>
      </dgm:prSet>
      <dgm:spPr/>
    </dgm:pt>
  </dgm:ptLst>
  <dgm:cxnLst>
    <dgm:cxn modelId="{00902424-F532-42D1-8485-4C0560B9F982}" type="presOf" srcId="{2F2F4432-2168-45A8-BF7A-43A5AA7BE73F}" destId="{F277E321-93D8-4404-B36A-52462B6E7C8A}" srcOrd="0" destOrd="0" presId="urn:microsoft.com/office/officeart/2005/8/layout/process1"/>
    <dgm:cxn modelId="{5077BA31-7A7D-4A7D-9241-693BC068B445}" type="presOf" srcId="{E152816A-FABA-4855-829D-F0F8E1EF8AD8}" destId="{15BEFF0F-6982-4324-A2FE-0D53A59CE36A}" srcOrd="0" destOrd="0" presId="urn:microsoft.com/office/officeart/2005/8/layout/process1"/>
    <dgm:cxn modelId="{8B30BA34-2A2E-49E1-89E7-D0E0556FDA65}" type="presOf" srcId="{84A47CB3-5E67-4797-B800-EFB6B35E4260}" destId="{BE054457-1E0A-4614-AA10-08E9FABD2C4E}" srcOrd="1" destOrd="0" presId="urn:microsoft.com/office/officeart/2005/8/layout/process1"/>
    <dgm:cxn modelId="{7465C44B-B3D6-4CDD-9D19-A29B18C2E199}" type="presOf" srcId="{5B9EFB86-9412-4FC2-9C25-F6A9F3F25F90}" destId="{5697A77F-6E17-445B-9DF1-181B104BF5A1}" srcOrd="1" destOrd="0" presId="urn:microsoft.com/office/officeart/2005/8/layout/process1"/>
    <dgm:cxn modelId="{4A623D51-6241-497C-A6AE-DC26E888B360}" type="presOf" srcId="{3D089A79-4FE9-4123-B73F-73527C374647}" destId="{18A98361-0B4E-4B5F-8A80-EA0DA27C8253}" srcOrd="0" destOrd="0" presId="urn:microsoft.com/office/officeart/2005/8/layout/process1"/>
    <dgm:cxn modelId="{62B14C74-4B98-4467-B040-F15DF9C1AFE3}" type="presOf" srcId="{B5729103-2329-45FC-9443-5BADEFC874A6}" destId="{50D9B6BE-552E-44AB-A9ED-3E78E0D0E013}" srcOrd="0" destOrd="0" presId="urn:microsoft.com/office/officeart/2005/8/layout/process1"/>
    <dgm:cxn modelId="{2659BB7F-E37A-492C-AA75-500F4C39AE3D}" srcId="{B5729103-2329-45FC-9443-5BADEFC874A6}" destId="{3D089A79-4FE9-4123-B73F-73527C374647}" srcOrd="0" destOrd="0" parTransId="{1166DD53-95D7-4668-8B0F-531379A08034}" sibTransId="{5B9EFB86-9412-4FC2-9C25-F6A9F3F25F90}"/>
    <dgm:cxn modelId="{81FFB58B-9661-41E3-B851-87A61153AA93}" srcId="{B5729103-2329-45FC-9443-5BADEFC874A6}" destId="{41D9F354-1E1A-4303-9633-C95D1079F610}" srcOrd="2" destOrd="0" parTransId="{349DE42C-DB8C-4263-BBC9-9BDA4CD3B206}" sibTransId="{84A47CB3-5E67-4797-B800-EFB6B35E4260}"/>
    <dgm:cxn modelId="{2E770A9A-1171-4202-A058-D0039263E5B1}" type="presOf" srcId="{84A47CB3-5E67-4797-B800-EFB6B35E4260}" destId="{43406612-F207-4F0C-BC0D-4DC9F2537339}" srcOrd="0" destOrd="0" presId="urn:microsoft.com/office/officeart/2005/8/layout/process1"/>
    <dgm:cxn modelId="{1B342F9B-C8E5-4061-BE30-8BA897BB4207}" type="presOf" srcId="{C3296F1D-651C-4C06-BF7B-61E2165CCCAA}" destId="{12E3C057-682A-42F7-B9B3-95F2588E7FC8}" srcOrd="0" destOrd="0" presId="urn:microsoft.com/office/officeart/2005/8/layout/process1"/>
    <dgm:cxn modelId="{5C9494C3-ED10-4E18-8E66-30F885D3474D}" srcId="{B5729103-2329-45FC-9443-5BADEFC874A6}" destId="{E152816A-FABA-4855-829D-F0F8E1EF8AD8}" srcOrd="1" destOrd="0" parTransId="{BCA638A7-B50E-4019-8366-AE1562A75DF7}" sibTransId="{C3296F1D-651C-4C06-BF7B-61E2165CCCAA}"/>
    <dgm:cxn modelId="{AFD047C8-4D76-448F-9846-500559BDD0DE}" type="presOf" srcId="{C3296F1D-651C-4C06-BF7B-61E2165CCCAA}" destId="{58B1718C-365A-4CC9-9A6E-B4E65FFCA0BD}" srcOrd="1" destOrd="0" presId="urn:microsoft.com/office/officeart/2005/8/layout/process1"/>
    <dgm:cxn modelId="{D2DCDDD8-1ECB-4B20-A168-BB04A1E85528}" srcId="{B5729103-2329-45FC-9443-5BADEFC874A6}" destId="{2F2F4432-2168-45A8-BF7A-43A5AA7BE73F}" srcOrd="3" destOrd="0" parTransId="{D7C16E93-D965-431D-A2D1-4FCF00781B42}" sibTransId="{B86AECBA-B98F-41C2-BCC4-4BA469595CB4}"/>
    <dgm:cxn modelId="{C83D87DB-128F-4708-A24D-8FF6EA73B7BF}" type="presOf" srcId="{5B9EFB86-9412-4FC2-9C25-F6A9F3F25F90}" destId="{D4E1B942-4C29-467C-9BDA-978202BBB5F0}" srcOrd="0" destOrd="0" presId="urn:microsoft.com/office/officeart/2005/8/layout/process1"/>
    <dgm:cxn modelId="{07332DF0-6D10-4867-A443-1261178AC184}" type="presOf" srcId="{41D9F354-1E1A-4303-9633-C95D1079F610}" destId="{8D46DE2D-B6F8-4108-8455-AF96480BBBC5}" srcOrd="0" destOrd="0" presId="urn:microsoft.com/office/officeart/2005/8/layout/process1"/>
    <dgm:cxn modelId="{87EF2DD9-6EA7-4332-ACCD-3F6EFA9C1415}" type="presParOf" srcId="{50D9B6BE-552E-44AB-A9ED-3E78E0D0E013}" destId="{18A98361-0B4E-4B5F-8A80-EA0DA27C8253}" srcOrd="0" destOrd="0" presId="urn:microsoft.com/office/officeart/2005/8/layout/process1"/>
    <dgm:cxn modelId="{CEE06F23-E4E9-4781-BB16-C710216EDCF3}" type="presParOf" srcId="{50D9B6BE-552E-44AB-A9ED-3E78E0D0E013}" destId="{D4E1B942-4C29-467C-9BDA-978202BBB5F0}" srcOrd="1" destOrd="0" presId="urn:microsoft.com/office/officeart/2005/8/layout/process1"/>
    <dgm:cxn modelId="{F229C947-69B7-49E8-94E6-24D656D2EA37}" type="presParOf" srcId="{D4E1B942-4C29-467C-9BDA-978202BBB5F0}" destId="{5697A77F-6E17-445B-9DF1-181B104BF5A1}" srcOrd="0" destOrd="0" presId="urn:microsoft.com/office/officeart/2005/8/layout/process1"/>
    <dgm:cxn modelId="{1BC6F635-8D38-45FB-AE16-2B245B52FF8A}" type="presParOf" srcId="{50D9B6BE-552E-44AB-A9ED-3E78E0D0E013}" destId="{15BEFF0F-6982-4324-A2FE-0D53A59CE36A}" srcOrd="2" destOrd="0" presId="urn:microsoft.com/office/officeart/2005/8/layout/process1"/>
    <dgm:cxn modelId="{76DFDF87-BD41-44CF-9D05-AB4042471550}" type="presParOf" srcId="{50D9B6BE-552E-44AB-A9ED-3E78E0D0E013}" destId="{12E3C057-682A-42F7-B9B3-95F2588E7FC8}" srcOrd="3" destOrd="0" presId="urn:microsoft.com/office/officeart/2005/8/layout/process1"/>
    <dgm:cxn modelId="{B5A17A92-AFEF-474A-A416-B394F3631BDD}" type="presParOf" srcId="{12E3C057-682A-42F7-B9B3-95F2588E7FC8}" destId="{58B1718C-365A-4CC9-9A6E-B4E65FFCA0BD}" srcOrd="0" destOrd="0" presId="urn:microsoft.com/office/officeart/2005/8/layout/process1"/>
    <dgm:cxn modelId="{48CB400F-2218-43EC-AE4F-083756EED7E5}" type="presParOf" srcId="{50D9B6BE-552E-44AB-A9ED-3E78E0D0E013}" destId="{8D46DE2D-B6F8-4108-8455-AF96480BBBC5}" srcOrd="4" destOrd="0" presId="urn:microsoft.com/office/officeart/2005/8/layout/process1"/>
    <dgm:cxn modelId="{76FA27FE-A9DF-407A-B6EE-59A5DC7142D2}" type="presParOf" srcId="{50D9B6BE-552E-44AB-A9ED-3E78E0D0E013}" destId="{43406612-F207-4F0C-BC0D-4DC9F2537339}" srcOrd="5" destOrd="0" presId="urn:microsoft.com/office/officeart/2005/8/layout/process1"/>
    <dgm:cxn modelId="{DA456AF8-CB49-41D7-8B2B-C3042E05043B}" type="presParOf" srcId="{43406612-F207-4F0C-BC0D-4DC9F2537339}" destId="{BE054457-1E0A-4614-AA10-08E9FABD2C4E}" srcOrd="0" destOrd="0" presId="urn:microsoft.com/office/officeart/2005/8/layout/process1"/>
    <dgm:cxn modelId="{F2331E2E-9075-4E3B-9350-3070BF87086C}" type="presParOf" srcId="{50D9B6BE-552E-44AB-A9ED-3E78E0D0E013}" destId="{F277E321-93D8-4404-B36A-52462B6E7C8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A01856-C871-45C9-91C2-51A12A641225}">
      <dsp:nvSpPr>
        <dsp:cNvPr id="0" name=""/>
        <dsp:cNvSpPr/>
      </dsp:nvSpPr>
      <dsp:spPr>
        <a:xfrm>
          <a:off x="0" y="544880"/>
          <a:ext cx="10370389" cy="678746"/>
        </a:xfrm>
        <a:prstGeom prst="roundRect">
          <a:avLst/>
        </a:prstGeom>
        <a:solidFill>
          <a:srgbClr val="000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/>
            <a:t>Associa um algoritmo de aprendizagem ao neurônio MCP.</a:t>
          </a:r>
        </a:p>
      </dsp:txBody>
      <dsp:txXfrm>
        <a:off x="33134" y="578014"/>
        <a:ext cx="10304121" cy="612478"/>
      </dsp:txXfrm>
    </dsp:sp>
    <dsp:sp modelId="{7225FF89-1398-43CA-B214-F6B69786F95D}">
      <dsp:nvSpPr>
        <dsp:cNvPr id="0" name=""/>
        <dsp:cNvSpPr/>
      </dsp:nvSpPr>
      <dsp:spPr>
        <a:xfrm>
          <a:off x="0" y="1223626"/>
          <a:ext cx="10370389" cy="448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26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300" kern="1200" dirty="0"/>
            <a:t>Ajuste automático dos pesos via correção de erros.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300" kern="1200" dirty="0"/>
            <a:t>A rede possui apenas uma camada de neurônios ajustáveis.</a:t>
          </a:r>
        </a:p>
      </dsp:txBody>
      <dsp:txXfrm>
        <a:off x="0" y="1223626"/>
        <a:ext cx="10370389" cy="448672"/>
      </dsp:txXfrm>
    </dsp:sp>
    <dsp:sp modelId="{8252A0E2-0524-4358-9C21-C06BB6963075}">
      <dsp:nvSpPr>
        <dsp:cNvPr id="0" name=""/>
        <dsp:cNvSpPr/>
      </dsp:nvSpPr>
      <dsp:spPr>
        <a:xfrm>
          <a:off x="0" y="1672299"/>
          <a:ext cx="10370389" cy="678746"/>
        </a:xfrm>
        <a:prstGeom prst="roundRect">
          <a:avLst/>
        </a:prstGeom>
        <a:solidFill>
          <a:srgbClr val="033E8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 err="1"/>
            <a:t>Obs</a:t>
          </a:r>
          <a:r>
            <a:rPr lang="pt-BR" sz="1700" kern="1200" dirty="0"/>
            <a:t> IMPORTANTE: No artigo original de 1958, faz referencia a outras camadas embora as outras camadas apresentam neurônios de retina (neurônios não ajustáveis, apenas recebem os sinais de outras camadas)</a:t>
          </a:r>
        </a:p>
      </dsp:txBody>
      <dsp:txXfrm>
        <a:off x="33134" y="1705433"/>
        <a:ext cx="10304121" cy="612478"/>
      </dsp:txXfrm>
    </dsp:sp>
    <dsp:sp modelId="{5AB58B75-E8BC-42C4-9CDE-65F2005BA8E8}">
      <dsp:nvSpPr>
        <dsp:cNvPr id="0" name=""/>
        <dsp:cNvSpPr/>
      </dsp:nvSpPr>
      <dsp:spPr>
        <a:xfrm>
          <a:off x="0" y="2400005"/>
          <a:ext cx="10370389" cy="678746"/>
        </a:xfrm>
        <a:prstGeom prst="roundRect">
          <a:avLst/>
        </a:prstGeom>
        <a:solidFill>
          <a:srgbClr val="0367A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/>
            <a:t>Usado para classificação de padrões</a:t>
          </a:r>
          <a:endParaRPr lang="pt-BR" sz="1700" kern="1200" dirty="0"/>
        </a:p>
      </dsp:txBody>
      <dsp:txXfrm>
        <a:off x="33134" y="2433139"/>
        <a:ext cx="10304121" cy="612478"/>
      </dsp:txXfrm>
    </dsp:sp>
    <dsp:sp modelId="{8FB572FC-0498-4053-AAAC-958A8BA5E1FC}">
      <dsp:nvSpPr>
        <dsp:cNvPr id="0" name=""/>
        <dsp:cNvSpPr/>
      </dsp:nvSpPr>
      <dsp:spPr>
        <a:xfrm>
          <a:off x="0" y="3127711"/>
          <a:ext cx="10370389" cy="678746"/>
        </a:xfrm>
        <a:prstGeom prst="round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>
              <a:solidFill>
                <a:srgbClr val="C00000"/>
              </a:solidFill>
            </a:rPr>
            <a:t>Converge com erro zero se as classes forem linearmente separáveis.</a:t>
          </a:r>
        </a:p>
      </dsp:txBody>
      <dsp:txXfrm>
        <a:off x="33134" y="3160845"/>
        <a:ext cx="10304121" cy="612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A98361-0B4E-4B5F-8A80-EA0DA27C8253}">
      <dsp:nvSpPr>
        <dsp:cNvPr id="0" name=""/>
        <dsp:cNvSpPr/>
      </dsp:nvSpPr>
      <dsp:spPr>
        <a:xfrm>
          <a:off x="4557" y="494261"/>
          <a:ext cx="1992552" cy="1759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Função de ativação degrau;</a:t>
          </a:r>
        </a:p>
      </dsp:txBody>
      <dsp:txXfrm>
        <a:off x="56089" y="545793"/>
        <a:ext cx="1889488" cy="1656375"/>
      </dsp:txXfrm>
    </dsp:sp>
    <dsp:sp modelId="{D4E1B942-4C29-467C-9BDA-978202BBB5F0}">
      <dsp:nvSpPr>
        <dsp:cNvPr id="0" name=""/>
        <dsp:cNvSpPr/>
      </dsp:nvSpPr>
      <dsp:spPr>
        <a:xfrm>
          <a:off x="2196365" y="1126904"/>
          <a:ext cx="422421" cy="4941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/>
        </a:p>
      </dsp:txBody>
      <dsp:txXfrm>
        <a:off x="2196365" y="1225735"/>
        <a:ext cx="295695" cy="296491"/>
      </dsp:txXfrm>
    </dsp:sp>
    <dsp:sp modelId="{15BEFF0F-6982-4324-A2FE-0D53A59CE36A}">
      <dsp:nvSpPr>
        <dsp:cNvPr id="0" name=""/>
        <dsp:cNvSpPr/>
      </dsp:nvSpPr>
      <dsp:spPr>
        <a:xfrm>
          <a:off x="2794131" y="494261"/>
          <a:ext cx="1992552" cy="1759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Algoritmo de aprendizado supervisionado via correções de erros.</a:t>
          </a:r>
        </a:p>
      </dsp:txBody>
      <dsp:txXfrm>
        <a:off x="2845663" y="545793"/>
        <a:ext cx="1889488" cy="1656375"/>
      </dsp:txXfrm>
    </dsp:sp>
    <dsp:sp modelId="{12E3C057-682A-42F7-B9B3-95F2588E7FC8}">
      <dsp:nvSpPr>
        <dsp:cNvPr id="0" name=""/>
        <dsp:cNvSpPr/>
      </dsp:nvSpPr>
      <dsp:spPr>
        <a:xfrm>
          <a:off x="4985939" y="1126904"/>
          <a:ext cx="422421" cy="4941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/>
        </a:p>
      </dsp:txBody>
      <dsp:txXfrm>
        <a:off x="4985939" y="1225735"/>
        <a:ext cx="295695" cy="296491"/>
      </dsp:txXfrm>
    </dsp:sp>
    <dsp:sp modelId="{8D46DE2D-B6F8-4108-8455-AF96480BBBC5}">
      <dsp:nvSpPr>
        <dsp:cNvPr id="0" name=""/>
        <dsp:cNvSpPr/>
      </dsp:nvSpPr>
      <dsp:spPr>
        <a:xfrm>
          <a:off x="5583705" y="494261"/>
          <a:ext cx="1992552" cy="1759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Um único neurônio permite resolver problemas de classificação binárias.</a:t>
          </a:r>
        </a:p>
      </dsp:txBody>
      <dsp:txXfrm>
        <a:off x="5635237" y="545793"/>
        <a:ext cx="1889488" cy="1656375"/>
      </dsp:txXfrm>
    </dsp:sp>
    <dsp:sp modelId="{43406612-F207-4F0C-BC0D-4DC9F2537339}">
      <dsp:nvSpPr>
        <dsp:cNvPr id="0" name=""/>
        <dsp:cNvSpPr/>
      </dsp:nvSpPr>
      <dsp:spPr>
        <a:xfrm>
          <a:off x="7775513" y="1126904"/>
          <a:ext cx="422421" cy="4941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/>
        </a:p>
      </dsp:txBody>
      <dsp:txXfrm>
        <a:off x="7775513" y="1225735"/>
        <a:ext cx="295695" cy="296491"/>
      </dsp:txXfrm>
    </dsp:sp>
    <dsp:sp modelId="{F277E321-93D8-4404-B36A-52462B6E7C8A}">
      <dsp:nvSpPr>
        <dsp:cNvPr id="0" name=""/>
        <dsp:cNvSpPr/>
      </dsp:nvSpPr>
      <dsp:spPr>
        <a:xfrm>
          <a:off x="8373279" y="494261"/>
          <a:ext cx="1992552" cy="1759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Com múltiplos neurônios, problemas com várias classes podem ser resolvidos.</a:t>
          </a:r>
        </a:p>
      </dsp:txBody>
      <dsp:txXfrm>
        <a:off x="8424811" y="545793"/>
        <a:ext cx="1889488" cy="1656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DFDF5E-BE83-4FF8-B275-052D5FEFF70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886E6-2495-4E9F-A44C-7046EDF88E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36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886E6-2495-4E9F-A44C-7046EDF88ED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1351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l-GR" dirty="0"/>
                  <a:t>ἠ</a:t>
                </a:r>
                <a:r>
                  <a:rPr lang="pt-BR" dirty="0"/>
                  <a:t> = </a:t>
                </a:r>
                <a:r>
                  <a:rPr lang="pt-BR" dirty="0" err="1"/>
                  <a:t>eta</a:t>
                </a:r>
                <a:r>
                  <a:rPr lang="pt-BR" dirty="0"/>
                  <a:t>  -&gt; taxa de aprendizagem</a:t>
                </a:r>
              </a:p>
              <a:p>
                <a:r>
                  <a:rPr lang="pt-BR" dirty="0"/>
                  <a:t>e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𝑒𝑟𝑟𝑜</m:t>
                    </m:r>
                  </m:oMath>
                </a14:m>
                <a:endParaRPr lang="pt-BR" dirty="0"/>
              </a:p>
              <a:p>
                <a:r>
                  <a:rPr lang="pt-BR" dirty="0"/>
                  <a:t>X = entrada de dados na sinapse</a:t>
                </a:r>
              </a:p>
              <a:p>
                <a:r>
                  <a:rPr lang="pt-BR" dirty="0"/>
                  <a:t>d – desejado </a:t>
                </a:r>
              </a:p>
              <a:p>
                <a:r>
                  <a:rPr lang="pt-BR" dirty="0"/>
                  <a:t>y = obtido (</a:t>
                </a:r>
                <a:r>
                  <a:rPr lang="pt-BR" dirty="0" err="1"/>
                  <a:t>saida</a:t>
                </a:r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l-GR" dirty="0"/>
                  <a:t>ἠ</a:t>
                </a:r>
                <a:r>
                  <a:rPr lang="pt-BR" dirty="0"/>
                  <a:t> = </a:t>
                </a:r>
                <a:r>
                  <a:rPr lang="pt-BR" dirty="0" err="1"/>
                  <a:t>eta</a:t>
                </a:r>
                <a:r>
                  <a:rPr lang="pt-BR" dirty="0"/>
                  <a:t>  -&gt; taxa de aprendizagem</a:t>
                </a:r>
              </a:p>
              <a:p>
                <a:r>
                  <a:rPr lang="pt-BR" dirty="0"/>
                  <a:t>e</a:t>
                </a:r>
                <a:r>
                  <a:rPr lang="pt-B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=𝑒𝑟𝑟𝑜</a:t>
                </a:r>
                <a:endParaRPr lang="pt-BR" dirty="0"/>
              </a:p>
              <a:p>
                <a:r>
                  <a:rPr lang="pt-BR" dirty="0"/>
                  <a:t>X = entrada de dados na sinapse</a:t>
                </a:r>
              </a:p>
              <a:p>
                <a:r>
                  <a:rPr lang="pt-BR" dirty="0"/>
                  <a:t>d – desejado </a:t>
                </a:r>
              </a:p>
              <a:p>
                <a:r>
                  <a:rPr lang="pt-BR" dirty="0"/>
                  <a:t>y = obtido (</a:t>
                </a:r>
                <a:r>
                  <a:rPr lang="pt-BR" dirty="0" err="1"/>
                  <a:t>saida</a:t>
                </a:r>
                <a:r>
                  <a:rPr lang="pt-BR" dirty="0"/>
                  <a:t>)</a:t>
                </a:r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886E6-2495-4E9F-A44C-7046EDF88ED7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091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Utilizado para classificações de filtros </a:t>
            </a:r>
          </a:p>
          <a:p>
            <a:r>
              <a:rPr lang="pt-BR" dirty="0" err="1"/>
              <a:t>Tbm</a:t>
            </a:r>
            <a:r>
              <a:rPr lang="pt-BR" dirty="0"/>
              <a:t> usado para </a:t>
            </a:r>
            <a:r>
              <a:rPr lang="pt-BR" dirty="0" err="1"/>
              <a:t>saida</a:t>
            </a:r>
            <a:r>
              <a:rPr lang="pt-BR" dirty="0"/>
              <a:t> de neurônio com função tipo DEGRAU ou </a:t>
            </a:r>
            <a:r>
              <a:rPr lang="pt-BR" dirty="0" err="1"/>
              <a:t>sigmoid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886E6-2495-4E9F-A44C-7046EDF88ED7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1565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Apresentamos para a Rede um sinal, e com base nos parâmetros atuais a rede fornece uma </a:t>
            </a:r>
            <a:r>
              <a:rPr lang="pt-BR" dirty="0" err="1"/>
              <a:t>saida</a:t>
            </a:r>
            <a:r>
              <a:rPr lang="pt-BR" dirty="0"/>
              <a:t>. </a:t>
            </a:r>
            <a:br>
              <a:rPr lang="pt-BR" dirty="0"/>
            </a:br>
            <a:r>
              <a:rPr lang="pt-BR" dirty="0"/>
              <a:t>Essa </a:t>
            </a:r>
            <a:r>
              <a:rPr lang="pt-BR" dirty="0" err="1"/>
              <a:t>saida</a:t>
            </a:r>
            <a:r>
              <a:rPr lang="pt-BR" dirty="0"/>
              <a:t> fornecida é comparada com o  sinal de referencia ( a Desejada) dessa comparação sai um ERRO</a:t>
            </a:r>
          </a:p>
          <a:p>
            <a:r>
              <a:rPr lang="pt-BR" dirty="0"/>
              <a:t>Esse ERRO Gerado alimenta o algoritmo de adaptação </a:t>
            </a:r>
            <a:br>
              <a:rPr lang="pt-BR" dirty="0"/>
            </a:br>
            <a:r>
              <a:rPr lang="pt-BR" dirty="0"/>
              <a:t>O algoritmo de adaptação vai modificar os parâmetros do filtro que vai fornecer uma </a:t>
            </a:r>
            <a:r>
              <a:rPr lang="pt-BR" dirty="0" err="1"/>
              <a:t>saida</a:t>
            </a:r>
            <a:r>
              <a:rPr lang="pt-BR" dirty="0"/>
              <a:t> melhor (T-1) </a:t>
            </a:r>
            <a:br>
              <a:rPr lang="pt-BR" dirty="0"/>
            </a:br>
            <a:r>
              <a:rPr lang="pt-BR" dirty="0"/>
              <a:t>Ou seja a rede esta aprendendo com seus erros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886E6-2495-4E9F-A44C-7046EDF88ED7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906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Analisando o gráfico, nós temos a saída do erro, que depende da saída y. A saída, por sua vez, depende dos pesos, que por sua vez, depende das entradas. </a:t>
                </a:r>
              </a:p>
              <a:p>
                <a:r>
                  <a:rPr lang="pt-BR" dirty="0"/>
                  <a:t>Como eu estou falando que eu quero a derivada parcial da energia  do erro em relação aos peso, eu posso aplicar a regra da cadeia, que é o seguinte: </a:t>
                </a:r>
                <a:br>
                  <a:rPr lang="pt-BR" dirty="0"/>
                </a:br>
                <a:r>
                  <a:rPr lang="pt-BR" dirty="0"/>
                  <a:t>o erro depende do peso, mas antes dele depender do peso, ele depende da saída do neurônio...</a:t>
                </a:r>
              </a:p>
              <a:p>
                <a:r>
                  <a:rPr lang="pt-BR" dirty="0"/>
                  <a:t> A derivada parcial da energia do erro em relação aos pesos vai ser igual a derivada parcial das da energia do erro em relação à saída do neurônio multiplicado pela derivada parcial da saída do neurônio em relação aos pesos </a:t>
                </a:r>
              </a:p>
              <a:p>
                <a:r>
                  <a:rPr lang="pt-BR" dirty="0"/>
                  <a:t>Parte 2 </a:t>
                </a:r>
              </a:p>
              <a:p>
                <a:pPr algn="l"/>
                <a14:m>
                  <m:oMath xmlns:m="http://schemas.openxmlformats.org/officeDocument/2006/math">
                    <m:f>
                      <m:fPr>
                        <m:ctrlPr>
                          <a:rPr lang="pt-B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BR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pt-B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pt-BR" dirty="0"/>
                  <a:t>    O cálculo da saída em relação aos pesos é igual ao próprio campo local induzido. Se a gente derivar a função por um w específico, aí vai sobrar apenas o Xi.</a:t>
                </a:r>
              </a:p>
              <a:p>
                <a:endParaRPr lang="pt-BR" dirty="0"/>
              </a:p>
              <a:p>
                <a:r>
                  <a:rPr lang="pt-BR" dirty="0"/>
                  <a:t>Parte 1</a:t>
                </a:r>
              </a:p>
              <a:p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t-B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pt-B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t-B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pt-B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lang="pt-BR" dirty="0"/>
                  <a:t> É</a:t>
                </a:r>
                <a:r>
                  <a:rPr lang="pt-BR" baseline="0" dirty="0"/>
                  <a:t> a energia do erro em relação as saídas   .... É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1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pt-BR" sz="1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pt-BR" baseline="0" dirty="0"/>
                  <a:t>  derivando isso por y temos : </a:t>
                </a:r>
              </a:p>
              <a:p>
                <a:r>
                  <a:rPr lang="pt-BR" dirty="0"/>
                  <a:t>,</a:t>
                </a:r>
                <a:r>
                  <a:rPr lang="pt-BR" dirty="0">
                    <a:sym typeface="Wingdings" panose="05000000000000000000" pitchFamily="2" charset="2"/>
                  </a:rPr>
                  <a:t> </a:t>
                </a:r>
                <a:r>
                  <a:rPr lang="pt-BR" dirty="0"/>
                  <a:t>2 × 1/2 vezes a parte interna da função vezes, a derivada da função interna em relação ao YK. Que é exatamente -1 . Então, se juntando tudo, a gente vai ter a seguinte forma de atualização.</a:t>
                </a:r>
              </a:p>
              <a:p>
                <a:r>
                  <a:rPr lang="pt-BR" dirty="0"/>
                  <a:t> Que é O </a:t>
                </a:r>
                <a14:m>
                  <m:oMath xmlns:m="http://schemas.openxmlformats.org/officeDocument/2006/math">
                    <m:r>
                      <a:rPr lang="pt-B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pt-B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𝑘𝑖</m:t>
                        </m:r>
                      </m:sub>
                    </m:sSub>
                    <m:r>
                      <a:rPr lang="pt-BR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vai ser taxa de aprendizagem Vezes o erro do neurônio multiplicado pela entrada daquela sinapse.</a:t>
                </a:r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Analisando o gráfico, nós temos a saída do erro, que depende da saída y. A saída, por sua vez, depende dos pesos, que por sua vez, depende das entradas. </a:t>
                </a:r>
              </a:p>
              <a:p>
                <a:r>
                  <a:rPr lang="pt-BR" dirty="0"/>
                  <a:t>Como eu estou falando que eu quero a derivada parcial da energia  do erro em relação aos peso, eu posso aplicar a regra da cadeia, que é o seguinte: </a:t>
                </a:r>
                <a:br>
                  <a:rPr lang="pt-BR" dirty="0"/>
                </a:br>
                <a:r>
                  <a:rPr lang="pt-BR" dirty="0"/>
                  <a:t>o erro depende do peso, mas antes dele depender do peso, ele depende da saída do neurônio...</a:t>
                </a:r>
              </a:p>
              <a:p>
                <a:r>
                  <a:rPr lang="pt-BR" dirty="0"/>
                  <a:t> A derivada parcial da energia do erro em relação aos pesos vai ser igual a derivada parcial das da energia do erro em relação à saída do neurônio multiplicado pela derivada parcial da saída do neurônio em relação aos pesos </a:t>
                </a:r>
              </a:p>
              <a:p>
                <a:r>
                  <a:rPr lang="pt-BR" dirty="0"/>
                  <a:t>Parte 2 </a:t>
                </a:r>
              </a:p>
              <a:p>
                <a:pPr algn="l"/>
                <a:r>
                  <a:rPr lang="pt-BR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(𝜕</a:t>
                </a:r>
                <a:r>
                  <a:rPr lang="pt-BR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𝑦_𝑘)/(</a:t>
                </a:r>
                <a:r>
                  <a:rPr lang="pt-BR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𝜕𝑤_𝑘𝑖 )</a:t>
                </a:r>
                <a:r>
                  <a:rPr lang="pt-BR" dirty="0"/>
                  <a:t>    O cálculo da saída em relação aos pesos é igual ao próprio campo local induzido. Se a gente derivar a função por um w específico, aí vai sobrar apenas o Xi.</a:t>
                </a:r>
              </a:p>
              <a:p>
                <a:endParaRPr lang="pt-BR" dirty="0"/>
              </a:p>
              <a:p>
                <a:r>
                  <a:rPr lang="pt-BR" dirty="0"/>
                  <a:t>Parte 1</a:t>
                </a:r>
              </a:p>
              <a:p>
                <a:r>
                  <a:rPr lang="pt-BR" dirty="0"/>
                  <a:t> </a:t>
                </a:r>
                <a:r>
                  <a:rPr lang="pt-BR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−𝜂 𝜕𝐸/(𝜕𝑦_𝑘 )</a:t>
                </a:r>
                <a:r>
                  <a:rPr lang="pt-BR" dirty="0"/>
                  <a:t> É</a:t>
                </a:r>
                <a:r>
                  <a:rPr lang="pt-BR" baseline="0" dirty="0"/>
                  <a:t> a energia do erro em relação as saídas   .... É </a:t>
                </a:r>
                <a:r>
                  <a:rPr lang="pt-BR" sz="1200" i="0">
                    <a:latin typeface="Cambria Math" panose="02040503050406030204" pitchFamily="18" charset="0"/>
                  </a:rPr>
                  <a:t>1/2 ∑▒〖(𝑑_𝑘 (𝑛)−𝑦_𝑘 (𝑛))〗^2 </a:t>
                </a:r>
                <a:r>
                  <a:rPr lang="pt-BR" baseline="0" dirty="0"/>
                  <a:t>  derivando isso por y temos : </a:t>
                </a:r>
              </a:p>
              <a:p>
                <a:r>
                  <a:rPr lang="pt-BR" dirty="0"/>
                  <a:t>,</a:t>
                </a:r>
                <a:r>
                  <a:rPr lang="pt-BR" dirty="0">
                    <a:sym typeface="Wingdings" panose="05000000000000000000" pitchFamily="2" charset="2"/>
                  </a:rPr>
                  <a:t> </a:t>
                </a:r>
                <a:r>
                  <a:rPr lang="pt-BR" dirty="0"/>
                  <a:t>2 × 1/2 vezes a parte interna da função vezes, a derivada da função interna em relação ao YK. Que é exatamente -1 . Então, se juntando tudo, a gente vai ter a seguinte forma de atualização.</a:t>
                </a:r>
              </a:p>
              <a:p>
                <a:r>
                  <a:rPr lang="pt-BR" dirty="0"/>
                  <a:t> Que é O </a:t>
                </a:r>
                <a:r>
                  <a:rPr lang="pt-BR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∆𝑤_𝑘𝑖</a:t>
                </a:r>
                <a:r>
                  <a:rPr lang="pt-BR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pt-BR" dirty="0"/>
                  <a:t>vai ser taxa de aprendizagem Vezes o erro do neurônio multiplicado pela entrada daquela sinapse.</a:t>
                </a:r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886E6-2495-4E9F-A44C-7046EDF88ED7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90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84BBB-0AEA-105D-5F87-52B2FC1ED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453965-2FB7-E6C1-2D48-C1EF35957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9B0BE4-0B3E-30BE-D41C-62AEAD97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9BFDA-415E-5F6B-F87B-0F7FE939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4493DA-AB46-D8FB-2185-A49008D8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75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30393-E547-B402-03CC-977C713C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10C602-D520-EDC4-187E-103F6250C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44A02-B00A-409C-0ABE-4C69A0CE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294A3-DBD2-373A-96BA-A6B1C2AA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5BC20E-BDE8-6472-1B3C-016524FF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472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5BAED-F86F-0AC7-647B-B8A925DF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C3476-CD80-4260-A4C2-2CDFA248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7C15D3-799E-BBB0-85BA-584502B9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44EF58-7AC8-27CC-5B9B-EED41826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CF4E0-A0A1-08F0-A73C-ED4919D8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7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1E92E-A5BC-3F60-E557-825A4E8B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FC1AA8-FB7E-039A-24C9-71933BE39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DC13D-ACF4-6279-0D25-F68EA3F21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A62DA2-9535-D227-515B-1933B4B2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76CAFA-D0FB-A2B8-C97A-B5DB7B47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B6B634-E234-0270-994E-2864DA39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83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71544-7593-F36C-2C36-80B84B2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D72AF6-0728-2D6D-BC4E-B25FAFF8B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E110DB-6D43-82EB-25DC-408B09D8E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EB588C-6277-79CF-6343-0F585A2EA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08D674-5AFF-D280-6D48-E4C2C0329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38353D-4395-51BF-CDCA-A35D7B2E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BD0EDD-60AD-FA3C-F280-01AD946E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31E9E0-B60E-A76D-82FF-B23C21AE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431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4A328-27BA-6C20-2FB6-98760D5F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DA9652-A327-6D9E-CC07-C8A1023A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F18115-5EF4-574B-D44D-27550650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486F2C-FC0F-0478-8E5F-0F85241C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20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6C3CC4-9550-C1FA-5318-A6D53D36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6C7134-7863-79A8-B1E5-08D59D16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85BF5D-51E3-7925-A994-498EF63F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410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34C60-48F7-DCD4-ABEF-6CBCECEA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33E1DA-09C8-60BB-8F89-F2BA8226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4122BE-EE75-4F1D-5A91-54AB05B8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CEB627-3A8E-D68B-28DA-6A4A9820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76BCA7-BF39-4B03-3B17-C8549873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BFB53-36B2-B3BC-0577-DA7D2731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34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3B6C0-5830-21EF-B785-2AD6C6D7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2380AF-2FC0-47F1-4FAA-2E1EFAF1E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DEE9A2-9D8F-309B-B2CB-CBF155527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6F3A24-39BC-1118-1FF6-17929985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24CBDC-807B-6B9B-B9BD-7A5690E8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CAB5BE-1395-3BF1-FF58-028235DF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41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D97B7-A87C-36DD-B679-99B72EA2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928B2A-290D-B5B2-E50B-4F4C9FAF6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7D33C-1337-5311-833E-2D7643CF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A5F3B-4FB2-BE00-DF94-87A44049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37468-1245-F38C-437C-6033D878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620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93BD76-06E7-209F-0376-2E47F78A6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C96CE7-9026-FDC0-0242-9AF0C3FC3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BDCA1-0E3E-BB76-A5F0-729B4879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6FF04-149E-14D1-915C-EFF7EF09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DEEC5E-B552-AE4E-C1D9-36C046EA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48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xto&#10;&#10;Descrição gerada automaticamente com confiança baixa">
            <a:extLst>
              <a:ext uri="{FF2B5EF4-FFF2-40B4-BE49-F238E27FC236}">
                <a16:creationId xmlns:a16="http://schemas.microsoft.com/office/drawing/2014/main" id="{2BC3A1D1-431E-0470-24A9-941A1C326EA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2" t="1853" r="64727" b="42836"/>
          <a:stretch/>
        </p:blipFill>
        <p:spPr>
          <a:xfrm>
            <a:off x="0" y="11262"/>
            <a:ext cx="1054100" cy="1051045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564E83-31D4-9D45-4A19-04EFC823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FA1DFB-5681-4229-5B94-71B9E9559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3410" y="1825625"/>
            <a:ext cx="103703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7EB250-651F-F2DA-477B-A568DED1B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FA704-DDBD-4AE1-95D7-6B8D9C9024FC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12ADF-D139-99D1-CE25-D18F6CF31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A8DBA7-56FD-416B-3A34-FAAB40E86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0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5334C9-A291-E2BC-B303-645466EEF4C7}"/>
              </a:ext>
            </a:extLst>
          </p:cNvPr>
          <p:cNvSpPr/>
          <p:nvPr/>
        </p:nvSpPr>
        <p:spPr>
          <a:xfrm>
            <a:off x="1262744" y="-435789"/>
            <a:ext cx="377372" cy="377372"/>
          </a:xfrm>
          <a:prstGeom prst="rect">
            <a:avLst/>
          </a:prstGeom>
          <a:solidFill>
            <a:srgbClr val="0367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106479-385D-C6FD-2709-39137C20CE48}"/>
              </a:ext>
            </a:extLst>
          </p:cNvPr>
          <p:cNvSpPr/>
          <p:nvPr/>
        </p:nvSpPr>
        <p:spPr>
          <a:xfrm>
            <a:off x="841830" y="-435789"/>
            <a:ext cx="377372" cy="377372"/>
          </a:xfrm>
          <a:prstGeom prst="rect">
            <a:avLst/>
          </a:prstGeom>
          <a:solidFill>
            <a:srgbClr val="034C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EF7CBD-2BB8-036A-70B2-B2A220CB3F2A}"/>
              </a:ext>
            </a:extLst>
          </p:cNvPr>
          <p:cNvSpPr/>
          <p:nvPr/>
        </p:nvSpPr>
        <p:spPr>
          <a:xfrm>
            <a:off x="420916" y="-435789"/>
            <a:ext cx="377372" cy="377372"/>
          </a:xfrm>
          <a:prstGeom prst="rect">
            <a:avLst/>
          </a:prstGeom>
          <a:solidFill>
            <a:srgbClr val="033E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D3ED86F-1E57-DE2F-6EB3-89C0943F53BC}"/>
              </a:ext>
            </a:extLst>
          </p:cNvPr>
          <p:cNvSpPr/>
          <p:nvPr/>
        </p:nvSpPr>
        <p:spPr>
          <a:xfrm>
            <a:off x="2525486" y="-435789"/>
            <a:ext cx="377372" cy="377372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90E2CE5-0969-31F1-13AA-C76C7FD546AC}"/>
              </a:ext>
            </a:extLst>
          </p:cNvPr>
          <p:cNvSpPr/>
          <p:nvPr/>
        </p:nvSpPr>
        <p:spPr>
          <a:xfrm>
            <a:off x="2104572" y="-434315"/>
            <a:ext cx="377372" cy="377372"/>
          </a:xfrm>
          <a:prstGeom prst="rect">
            <a:avLst/>
          </a:prstGeom>
          <a:solidFill>
            <a:srgbClr val="F2A51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D49E67-D59A-6D06-1B7C-A99F60761CAA}"/>
              </a:ext>
            </a:extLst>
          </p:cNvPr>
          <p:cNvSpPr/>
          <p:nvPr/>
        </p:nvSpPr>
        <p:spPr>
          <a:xfrm>
            <a:off x="1683658" y="-434315"/>
            <a:ext cx="377372" cy="377372"/>
          </a:xfrm>
          <a:prstGeom prst="rect">
            <a:avLst/>
          </a:prstGeom>
          <a:solidFill>
            <a:srgbClr val="F2BF2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7D67DA-8B35-427E-A6FD-8DBD101026FC}"/>
              </a:ext>
            </a:extLst>
          </p:cNvPr>
          <p:cNvSpPr/>
          <p:nvPr/>
        </p:nvSpPr>
        <p:spPr>
          <a:xfrm>
            <a:off x="0" y="-434315"/>
            <a:ext cx="377372" cy="377372"/>
          </a:xfrm>
          <a:prstGeom prst="rect">
            <a:avLst/>
          </a:prstGeom>
          <a:solidFill>
            <a:srgbClr val="000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A423E13-8E08-0F8C-E482-6F9D05CB9F55}"/>
              </a:ext>
            </a:extLst>
          </p:cNvPr>
          <p:cNvGrpSpPr/>
          <p:nvPr/>
        </p:nvGrpSpPr>
        <p:grpSpPr>
          <a:xfrm>
            <a:off x="0" y="6642613"/>
            <a:ext cx="12192000" cy="215387"/>
            <a:chOff x="0" y="6464800"/>
            <a:chExt cx="12192000" cy="21538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E4B12E3-B991-7147-5AE5-B7D8DD728B2E}"/>
                </a:ext>
              </a:extLst>
            </p:cNvPr>
            <p:cNvSpPr/>
            <p:nvPr/>
          </p:nvSpPr>
          <p:spPr>
            <a:xfrm>
              <a:off x="0" y="6500466"/>
              <a:ext cx="12192000" cy="7200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F94ACB2C-0551-938A-97B9-A9F2C4D838B7}"/>
                </a:ext>
              </a:extLst>
            </p:cNvPr>
            <p:cNvSpPr/>
            <p:nvPr/>
          </p:nvSpPr>
          <p:spPr>
            <a:xfrm>
              <a:off x="0" y="6464800"/>
              <a:ext cx="12192000" cy="3600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1BB72F72-6C9D-DED7-AE87-3D1500432B97}"/>
                </a:ext>
              </a:extLst>
            </p:cNvPr>
            <p:cNvSpPr/>
            <p:nvPr/>
          </p:nvSpPr>
          <p:spPr>
            <a:xfrm>
              <a:off x="0" y="6572466"/>
              <a:ext cx="12192000" cy="107721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noFill/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9092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005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42.png"/><Relationship Id="rId3" Type="http://schemas.openxmlformats.org/officeDocument/2006/relationships/image" Target="../media/image46.png"/><Relationship Id="rId7" Type="http://schemas.openxmlformats.org/officeDocument/2006/relationships/image" Target="../media/image36.png"/><Relationship Id="rId12" Type="http://schemas.openxmlformats.org/officeDocument/2006/relationships/image" Target="../media/image5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5" Type="http://schemas.openxmlformats.org/officeDocument/2006/relationships/image" Target="../media/image34.png"/><Relationship Id="rId15" Type="http://schemas.openxmlformats.org/officeDocument/2006/relationships/image" Target="../media/image54.png"/><Relationship Id="rId10" Type="http://schemas.openxmlformats.org/officeDocument/2006/relationships/image" Target="../media/image50.png"/><Relationship Id="rId4" Type="http://schemas.openxmlformats.org/officeDocument/2006/relationships/image" Target="../media/image33.png"/><Relationship Id="rId9" Type="http://schemas.openxmlformats.org/officeDocument/2006/relationships/image" Target="../media/image49.png"/><Relationship Id="rId1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12" Type="http://schemas.openxmlformats.org/officeDocument/2006/relationships/image" Target="../media/image4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62.png"/><Relationship Id="rId5" Type="http://schemas.openxmlformats.org/officeDocument/2006/relationships/image" Target="../media/image58.png"/><Relationship Id="rId10" Type="http://schemas.openxmlformats.org/officeDocument/2006/relationships/image" Target="../media/image61.png"/><Relationship Id="rId4" Type="http://schemas.openxmlformats.org/officeDocument/2006/relationships/image" Target="../media/image57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47.png"/><Relationship Id="rId12" Type="http://schemas.openxmlformats.org/officeDocument/2006/relationships/image" Target="../media/image4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1.png"/><Relationship Id="rId5" Type="http://schemas.openxmlformats.org/officeDocument/2006/relationships/image" Target="../media/image57.png"/><Relationship Id="rId10" Type="http://schemas.openxmlformats.org/officeDocument/2006/relationships/image" Target="../media/image67.png"/><Relationship Id="rId4" Type="http://schemas.openxmlformats.org/officeDocument/2006/relationships/image" Target="../media/image65.png"/><Relationship Id="rId9" Type="http://schemas.openxmlformats.org/officeDocument/2006/relationships/image" Target="../media/image66.png"/><Relationship Id="rId1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47.png"/><Relationship Id="rId12" Type="http://schemas.openxmlformats.org/officeDocument/2006/relationships/image" Target="../media/image4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1.png"/><Relationship Id="rId5" Type="http://schemas.openxmlformats.org/officeDocument/2006/relationships/image" Target="../media/image57.png"/><Relationship Id="rId10" Type="http://schemas.openxmlformats.org/officeDocument/2006/relationships/image" Target="../media/image67.png"/><Relationship Id="rId4" Type="http://schemas.openxmlformats.org/officeDocument/2006/relationships/image" Target="../media/image65.png"/><Relationship Id="rId9" Type="http://schemas.openxmlformats.org/officeDocument/2006/relationships/image" Target="../media/image66.png"/><Relationship Id="rId14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9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gK2Gx1pA3w" TargetMode="Externa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7E7BE-3A07-2FF6-62D1-DFDE33402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5000" dirty="0"/>
              <a:t>Disciplina:</a:t>
            </a:r>
            <a:br>
              <a:rPr lang="pt-BR" dirty="0"/>
            </a:br>
            <a:r>
              <a:rPr lang="pt-BR" dirty="0"/>
              <a:t>Inteligência Artificial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EBED47-DD57-D1E8-C0C3-C07A6CBA58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09: Primeiros modelos – </a:t>
            </a:r>
            <a:r>
              <a:rPr lang="pt-BR" dirty="0" err="1"/>
              <a:t>Perceptron</a:t>
            </a:r>
            <a:r>
              <a:rPr lang="pt-BR" dirty="0"/>
              <a:t> e </a:t>
            </a:r>
            <a:r>
              <a:rPr lang="pt-BR" dirty="0" err="1"/>
              <a:t>Adaline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6129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FDB28C0-8CC5-E84F-1F55-62F014A9BD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Primeiros modelos: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D3233606-1C1A-B7F7-D775-4DC3F21AD5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Perceptron</a:t>
            </a:r>
            <a:r>
              <a:rPr lang="pt-BR" dirty="0"/>
              <a:t> e </a:t>
            </a:r>
            <a:r>
              <a:rPr lang="pt-BR" dirty="0" err="1"/>
              <a:t>Adaline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7628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6DA98-D28E-F14F-99DF-660C2FF1E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APLICAÇÃO DA AULA DE HOJE, PORTA LÓGICA AND... </a:t>
            </a:r>
            <a:br>
              <a:rPr lang="pt-BR" dirty="0"/>
            </a:br>
            <a:r>
              <a:rPr lang="pt-BR" sz="1200" dirty="0">
                <a:solidFill>
                  <a:schemeClr val="bg1">
                    <a:lumMod val="75000"/>
                  </a:schemeClr>
                </a:solidFill>
              </a:rPr>
              <a:t>TEMOS QUE COMEÇAR POR ALGUM LUGAR NÉ!!!!</a:t>
            </a:r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m 3" descr="Portas Lógicas em sistemas digitais - Embarcados">
            <a:extLst>
              <a:ext uri="{FF2B5EF4-FFF2-40B4-BE49-F238E27FC236}">
                <a16:creationId xmlns:a16="http://schemas.microsoft.com/office/drawing/2014/main" id="{8F9E688B-EBBD-A6DD-26F3-7A1B37112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786" y="2106269"/>
            <a:ext cx="7892969" cy="330244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6BD220C-ECD0-35B5-A297-F9CE822C71AA}"/>
              </a:ext>
            </a:extLst>
          </p:cNvPr>
          <p:cNvSpPr txBox="1"/>
          <p:nvPr/>
        </p:nvSpPr>
        <p:spPr>
          <a:xfrm>
            <a:off x="3957325" y="5555349"/>
            <a:ext cx="442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Problema tipicamente binário, saída 0 ou 1</a:t>
            </a:r>
          </a:p>
        </p:txBody>
      </p:sp>
    </p:spTree>
    <p:extLst>
      <p:ext uri="{BB962C8B-B14F-4D97-AF65-F5344CB8AC3E}">
        <p14:creationId xmlns:p14="http://schemas.microsoft.com/office/powerpoint/2010/main" val="2356380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68C50-AE22-D476-9184-81F78E10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 NEURAL PARA RESOLVER O PROBLEMA DA PORTA AND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6AC7381-92C5-5867-5E76-7BA2329D0AA1}"/>
              </a:ext>
            </a:extLst>
          </p:cNvPr>
          <p:cNvSpPr txBox="1"/>
          <p:nvPr/>
        </p:nvSpPr>
        <p:spPr>
          <a:xfrm>
            <a:off x="796534" y="2251259"/>
            <a:ext cx="147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ENTRADA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CEBCBDEF-A3CC-64DB-830A-ECA010FA2446}"/>
              </a:ext>
            </a:extLst>
          </p:cNvPr>
          <p:cNvSpPr/>
          <p:nvPr/>
        </p:nvSpPr>
        <p:spPr>
          <a:xfrm>
            <a:off x="4812143" y="4156401"/>
            <a:ext cx="662781" cy="662781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000" dirty="0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E5F3D5AE-7419-FAA9-BE26-214440FEBB6C}"/>
              </a:ext>
            </a:extLst>
          </p:cNvPr>
          <p:cNvSpPr/>
          <p:nvPr/>
        </p:nvSpPr>
        <p:spPr>
          <a:xfrm>
            <a:off x="7379858" y="4159929"/>
            <a:ext cx="662782" cy="66278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C39142E2-8889-00A8-DFD9-C28971FF4D03}"/>
              </a:ext>
            </a:extLst>
          </p:cNvPr>
          <p:cNvSpPr/>
          <p:nvPr/>
        </p:nvSpPr>
        <p:spPr>
          <a:xfrm>
            <a:off x="1581997" y="3411459"/>
            <a:ext cx="366712" cy="36671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D8364D62-D758-FEEE-98EF-9676236E3D45}"/>
              </a:ext>
            </a:extLst>
          </p:cNvPr>
          <p:cNvSpPr/>
          <p:nvPr/>
        </p:nvSpPr>
        <p:spPr>
          <a:xfrm>
            <a:off x="1581997" y="5465545"/>
            <a:ext cx="366712" cy="36671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429A8EE0-4F6F-7251-37C7-EFE7F89EADD8}"/>
              </a:ext>
            </a:extLst>
          </p:cNvPr>
          <p:cNvCxnSpPr>
            <a:cxnSpLocks/>
            <a:stCxn id="27" idx="6"/>
            <a:endCxn id="25" idx="1"/>
          </p:cNvCxnSpPr>
          <p:nvPr/>
        </p:nvCxnSpPr>
        <p:spPr>
          <a:xfrm>
            <a:off x="1948709" y="3594815"/>
            <a:ext cx="2960496" cy="658648"/>
          </a:xfrm>
          <a:prstGeom prst="straightConnector1">
            <a:avLst/>
          </a:prstGeom>
          <a:ln w="76200">
            <a:solidFill>
              <a:srgbClr val="000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BFD9922C-CC8C-D59F-99E9-33B3F75D4691}"/>
              </a:ext>
            </a:extLst>
          </p:cNvPr>
          <p:cNvCxnSpPr>
            <a:cxnSpLocks/>
            <a:stCxn id="28" idx="6"/>
            <a:endCxn id="25" idx="3"/>
          </p:cNvCxnSpPr>
          <p:nvPr/>
        </p:nvCxnSpPr>
        <p:spPr>
          <a:xfrm flipV="1">
            <a:off x="1948709" y="4722120"/>
            <a:ext cx="2960496" cy="926781"/>
          </a:xfrm>
          <a:prstGeom prst="straightConnector1">
            <a:avLst/>
          </a:prstGeom>
          <a:ln w="76200">
            <a:solidFill>
              <a:srgbClr val="000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1C6AE01B-F578-1FCB-27DD-F5CDFE2AAB34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5474924" y="4487792"/>
            <a:ext cx="1904934" cy="3528"/>
          </a:xfrm>
          <a:prstGeom prst="straightConnector1">
            <a:avLst/>
          </a:prstGeom>
          <a:ln w="76200">
            <a:solidFill>
              <a:srgbClr val="000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B5CA1E29-FD01-3214-3DB7-0FB56D91250C}"/>
              </a:ext>
            </a:extLst>
          </p:cNvPr>
          <p:cNvCxnSpPr>
            <a:cxnSpLocks/>
          </p:cNvCxnSpPr>
          <p:nvPr/>
        </p:nvCxnSpPr>
        <p:spPr>
          <a:xfrm>
            <a:off x="8123323" y="4491320"/>
            <a:ext cx="847941" cy="0"/>
          </a:xfrm>
          <a:prstGeom prst="straightConnector1">
            <a:avLst/>
          </a:prstGeom>
          <a:ln w="76200">
            <a:solidFill>
              <a:srgbClr val="000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DCB2771-F1D5-776E-79A1-0BFD77FC8D40}"/>
                  </a:ext>
                </a:extLst>
              </p:cNvPr>
              <p:cNvSpPr txBox="1"/>
              <p:nvPr/>
            </p:nvSpPr>
            <p:spPr>
              <a:xfrm>
                <a:off x="1016278" y="3341387"/>
                <a:ext cx="4457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DCB2771-F1D5-776E-79A1-0BFD77FC8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78" y="3341387"/>
                <a:ext cx="445763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99609022-0E8E-5BE9-8FAA-F2EC98CB15EE}"/>
                  </a:ext>
                </a:extLst>
              </p:cNvPr>
              <p:cNvSpPr txBox="1"/>
              <p:nvPr/>
            </p:nvSpPr>
            <p:spPr>
              <a:xfrm>
                <a:off x="915188" y="5465545"/>
                <a:ext cx="4574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99609022-0E8E-5BE9-8FAA-F2EC98CB1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188" y="5465545"/>
                <a:ext cx="45743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FF5A549D-5687-46F4-CD2C-1CB9C8C50614}"/>
                  </a:ext>
                </a:extLst>
              </p:cNvPr>
              <p:cNvSpPr txBox="1"/>
              <p:nvPr/>
            </p:nvSpPr>
            <p:spPr>
              <a:xfrm>
                <a:off x="8890581" y="4219154"/>
                <a:ext cx="10763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/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FF5A549D-5687-46F4-CD2C-1CB9C8C50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581" y="4219154"/>
                <a:ext cx="1076320" cy="461665"/>
              </a:xfrm>
              <a:prstGeom prst="rect">
                <a:avLst/>
              </a:prstGeom>
              <a:blipFill>
                <a:blip r:embed="rId4"/>
                <a:stretch>
                  <a:fillRect r="-1695" b="-157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CaixaDeTexto 43">
            <a:extLst>
              <a:ext uri="{FF2B5EF4-FFF2-40B4-BE49-F238E27FC236}">
                <a16:creationId xmlns:a16="http://schemas.microsoft.com/office/drawing/2014/main" id="{EB825463-F2B5-B1FB-EF5C-51FDF8F5D3B4}"/>
              </a:ext>
            </a:extLst>
          </p:cNvPr>
          <p:cNvSpPr txBox="1"/>
          <p:nvPr/>
        </p:nvSpPr>
        <p:spPr>
          <a:xfrm>
            <a:off x="7244462" y="2201565"/>
            <a:ext cx="100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SAÍDA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114C835E-26A6-A0C5-8C05-E1C288EF7796}"/>
              </a:ext>
            </a:extLst>
          </p:cNvPr>
          <p:cNvSpPr txBox="1"/>
          <p:nvPr/>
        </p:nvSpPr>
        <p:spPr>
          <a:xfrm>
            <a:off x="4400583" y="3607582"/>
            <a:ext cx="1329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NEURÔNIO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D037B0F5-8240-47A1-8BB0-E31AF0263B8D}"/>
              </a:ext>
            </a:extLst>
          </p:cNvPr>
          <p:cNvCxnSpPr/>
          <p:nvPr/>
        </p:nvCxnSpPr>
        <p:spPr>
          <a:xfrm>
            <a:off x="3428957" y="1954306"/>
            <a:ext cx="0" cy="4500282"/>
          </a:xfrm>
          <a:prstGeom prst="line">
            <a:avLst/>
          </a:prstGeom>
          <a:ln w="19050">
            <a:solidFill>
              <a:srgbClr val="F2A5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D3CE0E31-660A-28DF-9257-5898FE5C86CC}"/>
              </a:ext>
            </a:extLst>
          </p:cNvPr>
          <p:cNvCxnSpPr/>
          <p:nvPr/>
        </p:nvCxnSpPr>
        <p:spPr>
          <a:xfrm>
            <a:off x="6611428" y="1906260"/>
            <a:ext cx="0" cy="4500282"/>
          </a:xfrm>
          <a:prstGeom prst="line">
            <a:avLst/>
          </a:prstGeom>
          <a:ln w="19050">
            <a:solidFill>
              <a:srgbClr val="F2A5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A0A15A5F-6176-2239-93F2-19305A7D084D}"/>
              </a:ext>
            </a:extLst>
          </p:cNvPr>
          <p:cNvSpPr txBox="1"/>
          <p:nvPr/>
        </p:nvSpPr>
        <p:spPr>
          <a:xfrm>
            <a:off x="3790415" y="2201565"/>
            <a:ext cx="2549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CAMADA OCULTA</a:t>
            </a:r>
          </a:p>
        </p:txBody>
      </p:sp>
    </p:spTree>
    <p:extLst>
      <p:ext uri="{BB962C8B-B14F-4D97-AF65-F5344CB8AC3E}">
        <p14:creationId xmlns:p14="http://schemas.microsoft.com/office/powerpoint/2010/main" val="269028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9C3CC-041E-5D28-3C4D-0FD701E1C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4513-9FFF-81DA-21C5-8EC8C82EF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 NEURAL PARA RESOLVER O PROBLEMA DA PORTA AND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B91FF63-6654-52F2-4007-F780FE496A42}"/>
              </a:ext>
            </a:extLst>
          </p:cNvPr>
          <p:cNvSpPr txBox="1"/>
          <p:nvPr/>
        </p:nvSpPr>
        <p:spPr>
          <a:xfrm>
            <a:off x="796534" y="2251259"/>
            <a:ext cx="147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ENTRADA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372D9DE3-30AC-C1E3-3993-79FAC84FFDA5}"/>
                  </a:ext>
                </a:extLst>
              </p:cNvPr>
              <p:cNvSpPr txBox="1"/>
              <p:nvPr/>
            </p:nvSpPr>
            <p:spPr>
              <a:xfrm>
                <a:off x="385763" y="3668990"/>
                <a:ext cx="4457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372D9DE3-30AC-C1E3-3993-79FAC84FF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63" y="3668990"/>
                <a:ext cx="445763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F58EC92D-8F24-F990-2FD8-2F463934FEE0}"/>
                  </a:ext>
                </a:extLst>
              </p:cNvPr>
              <p:cNvSpPr txBox="1"/>
              <p:nvPr/>
            </p:nvSpPr>
            <p:spPr>
              <a:xfrm>
                <a:off x="316899" y="5847234"/>
                <a:ext cx="4574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F58EC92D-8F24-F990-2FD8-2F463934F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99" y="5847234"/>
                <a:ext cx="45743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CaixaDeTexto 43">
            <a:extLst>
              <a:ext uri="{FF2B5EF4-FFF2-40B4-BE49-F238E27FC236}">
                <a16:creationId xmlns:a16="http://schemas.microsoft.com/office/drawing/2014/main" id="{5D184A00-1490-C48A-A966-7461835A429D}"/>
              </a:ext>
            </a:extLst>
          </p:cNvPr>
          <p:cNvSpPr txBox="1"/>
          <p:nvPr/>
        </p:nvSpPr>
        <p:spPr>
          <a:xfrm>
            <a:off x="7244462" y="2201565"/>
            <a:ext cx="1006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SAÍDA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940F91A8-19BD-C7F8-149E-AAFCA652AD69}"/>
              </a:ext>
            </a:extLst>
          </p:cNvPr>
          <p:cNvSpPr txBox="1"/>
          <p:nvPr/>
        </p:nvSpPr>
        <p:spPr>
          <a:xfrm>
            <a:off x="4355395" y="2577251"/>
            <a:ext cx="1329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NEURÔNIO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01ADDCD8-D8B4-7B99-CA64-2D17244D3208}"/>
              </a:ext>
            </a:extLst>
          </p:cNvPr>
          <p:cNvCxnSpPr/>
          <p:nvPr/>
        </p:nvCxnSpPr>
        <p:spPr>
          <a:xfrm>
            <a:off x="3428957" y="1954306"/>
            <a:ext cx="0" cy="4500282"/>
          </a:xfrm>
          <a:prstGeom prst="line">
            <a:avLst/>
          </a:prstGeom>
          <a:ln w="19050">
            <a:solidFill>
              <a:srgbClr val="F2A5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4930BB63-5819-AD2E-E7DF-C5B12A146071}"/>
              </a:ext>
            </a:extLst>
          </p:cNvPr>
          <p:cNvCxnSpPr/>
          <p:nvPr/>
        </p:nvCxnSpPr>
        <p:spPr>
          <a:xfrm>
            <a:off x="6611428" y="1906260"/>
            <a:ext cx="0" cy="4500282"/>
          </a:xfrm>
          <a:prstGeom prst="line">
            <a:avLst/>
          </a:prstGeom>
          <a:ln w="19050">
            <a:solidFill>
              <a:srgbClr val="F2A5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0A2B96CA-BDB7-576D-7838-1875A0471070}"/>
              </a:ext>
            </a:extLst>
          </p:cNvPr>
          <p:cNvSpPr txBox="1"/>
          <p:nvPr/>
        </p:nvSpPr>
        <p:spPr>
          <a:xfrm>
            <a:off x="3790415" y="2201565"/>
            <a:ext cx="2549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CAMADA OCULTA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63A62D80-65C1-6C68-D850-9DF17CD4F5BA}"/>
              </a:ext>
            </a:extLst>
          </p:cNvPr>
          <p:cNvGrpSpPr/>
          <p:nvPr/>
        </p:nvGrpSpPr>
        <p:grpSpPr>
          <a:xfrm>
            <a:off x="526675" y="2959779"/>
            <a:ext cx="9219749" cy="3428693"/>
            <a:chOff x="1751993" y="1563871"/>
            <a:chExt cx="9219749" cy="3428693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F920B0CB-F853-6913-5967-C7ADBCF984AB}"/>
                </a:ext>
              </a:extLst>
            </p:cNvPr>
            <p:cNvSpPr/>
            <p:nvPr/>
          </p:nvSpPr>
          <p:spPr>
            <a:xfrm>
              <a:off x="5581651" y="2647950"/>
              <a:ext cx="1325563" cy="1325563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0" dirty="0"/>
                <a:t>∑</a:t>
              </a:r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A825A8D6-C75E-AF84-80AD-E0CD00102E7B}"/>
                </a:ext>
              </a:extLst>
            </p:cNvPr>
            <p:cNvSpPr/>
            <p:nvPr/>
          </p:nvSpPr>
          <p:spPr>
            <a:xfrm>
              <a:off x="8384699" y="2979340"/>
              <a:ext cx="662782" cy="66278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H</a:t>
              </a: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105A59F-BF50-469E-EE21-E8D6A3CEAE8D}"/>
                </a:ext>
              </a:extLst>
            </p:cNvPr>
            <p:cNvSpPr/>
            <p:nvPr/>
          </p:nvSpPr>
          <p:spPr>
            <a:xfrm>
              <a:off x="2716387" y="2270862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FB69A3C6-B875-71AD-B5A1-6B4BC723D700}"/>
                </a:ext>
              </a:extLst>
            </p:cNvPr>
            <p:cNvSpPr/>
            <p:nvPr/>
          </p:nvSpPr>
          <p:spPr>
            <a:xfrm>
              <a:off x="2640040" y="4395020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8DD4EA5B-EC3F-713D-AF5D-2566AF904202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6244432" y="2025536"/>
              <a:ext cx="1" cy="622414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de Seta Reta 39">
              <a:extLst>
                <a:ext uri="{FF2B5EF4-FFF2-40B4-BE49-F238E27FC236}">
                  <a16:creationId xmlns:a16="http://schemas.microsoft.com/office/drawing/2014/main" id="{48ED2B80-5E3C-025F-56C1-345684338EA0}"/>
                </a:ext>
              </a:extLst>
            </p:cNvPr>
            <p:cNvCxnSpPr>
              <a:cxnSpLocks/>
              <a:stCxn id="37" idx="6"/>
              <a:endCxn id="29" idx="1"/>
            </p:cNvCxnSpPr>
            <p:nvPr/>
          </p:nvCxnSpPr>
          <p:spPr>
            <a:xfrm>
              <a:off x="3083099" y="2454218"/>
              <a:ext cx="2692676" cy="387856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de Seta Reta 41">
              <a:extLst>
                <a:ext uri="{FF2B5EF4-FFF2-40B4-BE49-F238E27FC236}">
                  <a16:creationId xmlns:a16="http://schemas.microsoft.com/office/drawing/2014/main" id="{D77FA5A2-320B-F8D9-68F6-8E6792ED5299}"/>
                </a:ext>
              </a:extLst>
            </p:cNvPr>
            <p:cNvCxnSpPr>
              <a:cxnSpLocks/>
              <a:stCxn id="38" idx="6"/>
              <a:endCxn id="29" idx="3"/>
            </p:cNvCxnSpPr>
            <p:nvPr/>
          </p:nvCxnSpPr>
          <p:spPr>
            <a:xfrm flipV="1">
              <a:off x="3006752" y="3779389"/>
              <a:ext cx="2769023" cy="798987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de Seta Reta 42">
              <a:extLst>
                <a:ext uri="{FF2B5EF4-FFF2-40B4-BE49-F238E27FC236}">
                  <a16:creationId xmlns:a16="http://schemas.microsoft.com/office/drawing/2014/main" id="{E7E87636-A8B2-5E56-24E4-A17F0D91CC77}"/>
                </a:ext>
              </a:extLst>
            </p:cNvPr>
            <p:cNvCxnSpPr>
              <a:cxnSpLocks/>
              <a:stCxn id="29" idx="6"/>
            </p:cNvCxnSpPr>
            <p:nvPr/>
          </p:nvCxnSpPr>
          <p:spPr>
            <a:xfrm>
              <a:off x="6907214" y="3310732"/>
              <a:ext cx="1397152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F59A9779-9D5B-6931-DF74-1D4AA13D5A3A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>
              <a:off x="9047481" y="3310731"/>
              <a:ext cx="84794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5FE4A3F2-44C6-F97F-317C-5C924489562C}"/>
                    </a:ext>
                  </a:extLst>
                </p:cNvPr>
                <p:cNvSpPr txBox="1"/>
                <p:nvPr/>
              </p:nvSpPr>
              <p:spPr>
                <a:xfrm>
                  <a:off x="5921266" y="1563871"/>
                  <a:ext cx="64633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5FE4A3F2-44C6-F97F-317C-5C92448956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266" y="1563871"/>
                  <a:ext cx="646331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2C815CE1-1B02-A26C-6B1F-7A9FB1969582}"/>
                    </a:ext>
                  </a:extLst>
                </p:cNvPr>
                <p:cNvSpPr txBox="1"/>
                <p:nvPr/>
              </p:nvSpPr>
              <p:spPr>
                <a:xfrm>
                  <a:off x="1870668" y="2352655"/>
                  <a:ext cx="98123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2C815CE1-1B02-A26C-6B1F-7A9FB19695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0668" y="2352655"/>
                  <a:ext cx="981231" cy="461665"/>
                </a:xfrm>
                <a:prstGeom prst="rect">
                  <a:avLst/>
                </a:prstGeom>
                <a:blipFill>
                  <a:blip r:embed="rId5"/>
                  <a:stretch>
                    <a:fillRect r="-1242" b="-1578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aixaDeTexto 47">
                  <a:extLst>
                    <a:ext uri="{FF2B5EF4-FFF2-40B4-BE49-F238E27FC236}">
                      <a16:creationId xmlns:a16="http://schemas.microsoft.com/office/drawing/2014/main" id="{E953E0C1-9AF0-33C6-1535-14D5DBBDE17C}"/>
                    </a:ext>
                  </a:extLst>
                </p:cNvPr>
                <p:cNvSpPr txBox="1"/>
                <p:nvPr/>
              </p:nvSpPr>
              <p:spPr>
                <a:xfrm>
                  <a:off x="1751993" y="4530899"/>
                  <a:ext cx="98834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48" name="CaixaDeTexto 47">
                  <a:extLst>
                    <a:ext uri="{FF2B5EF4-FFF2-40B4-BE49-F238E27FC236}">
                      <a16:creationId xmlns:a16="http://schemas.microsoft.com/office/drawing/2014/main" id="{E953E0C1-9AF0-33C6-1535-14D5DBBDE1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1993" y="4530899"/>
                  <a:ext cx="988347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1840" b="-1578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aixaDeTexto 48">
                  <a:extLst>
                    <a:ext uri="{FF2B5EF4-FFF2-40B4-BE49-F238E27FC236}">
                      <a16:creationId xmlns:a16="http://schemas.microsoft.com/office/drawing/2014/main" id="{EF25E329-C687-EA3A-95CA-A6F451E17EAB}"/>
                    </a:ext>
                  </a:extLst>
                </p:cNvPr>
                <p:cNvSpPr txBox="1"/>
                <p:nvPr/>
              </p:nvSpPr>
              <p:spPr>
                <a:xfrm>
                  <a:off x="6334806" y="2025536"/>
                  <a:ext cx="42062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49" name="CaixaDeTexto 48">
                  <a:extLst>
                    <a:ext uri="{FF2B5EF4-FFF2-40B4-BE49-F238E27FC236}">
                      <a16:creationId xmlns:a16="http://schemas.microsoft.com/office/drawing/2014/main" id="{EF25E329-C687-EA3A-95CA-A6F451E17E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4806" y="2025536"/>
                  <a:ext cx="420628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B58DE61B-2187-333A-DE34-88641F98A081}"/>
                    </a:ext>
                  </a:extLst>
                </p:cNvPr>
                <p:cNvSpPr txBox="1"/>
                <p:nvPr/>
              </p:nvSpPr>
              <p:spPr>
                <a:xfrm>
                  <a:off x="3270399" y="2040029"/>
                  <a:ext cx="103816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B58DE61B-2187-333A-DE34-88641F98A0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0399" y="2040029"/>
                  <a:ext cx="1038169" cy="461665"/>
                </a:xfrm>
                <a:prstGeom prst="rect">
                  <a:avLst/>
                </a:prstGeom>
                <a:blipFill>
                  <a:blip r:embed="rId8"/>
                  <a:stretch>
                    <a:fillRect r="-1170" b="-17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aixaDeTexto 50">
                  <a:extLst>
                    <a:ext uri="{FF2B5EF4-FFF2-40B4-BE49-F238E27FC236}">
                      <a16:creationId xmlns:a16="http://schemas.microsoft.com/office/drawing/2014/main" id="{B982B434-5705-DCD2-A29A-DD8AFAF861AB}"/>
                    </a:ext>
                  </a:extLst>
                </p:cNvPr>
                <p:cNvSpPr txBox="1"/>
                <p:nvPr/>
              </p:nvSpPr>
              <p:spPr>
                <a:xfrm>
                  <a:off x="3104380" y="3888774"/>
                  <a:ext cx="104528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51" name="CaixaDeTexto 50">
                  <a:extLst>
                    <a:ext uri="{FF2B5EF4-FFF2-40B4-BE49-F238E27FC236}">
                      <a16:creationId xmlns:a16="http://schemas.microsoft.com/office/drawing/2014/main" id="{B982B434-5705-DCD2-A29A-DD8AFAF861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4380" y="3888774"/>
                  <a:ext cx="1045286" cy="461665"/>
                </a:xfrm>
                <a:prstGeom prst="rect">
                  <a:avLst/>
                </a:prstGeom>
                <a:blipFill>
                  <a:blip r:embed="rId9"/>
                  <a:stretch>
                    <a:fillRect r="-1744" b="-1578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aixaDeTexto 52">
                  <a:extLst>
                    <a:ext uri="{FF2B5EF4-FFF2-40B4-BE49-F238E27FC236}">
                      <a16:creationId xmlns:a16="http://schemas.microsoft.com/office/drawing/2014/main" id="{6E67D7D3-CEB4-0C68-3D6C-F6B57FC122E5}"/>
                    </a:ext>
                  </a:extLst>
                </p:cNvPr>
                <p:cNvSpPr txBox="1"/>
                <p:nvPr/>
              </p:nvSpPr>
              <p:spPr>
                <a:xfrm>
                  <a:off x="6803027" y="3332191"/>
                  <a:ext cx="105631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/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53" name="CaixaDeTexto 52">
                  <a:extLst>
                    <a:ext uri="{FF2B5EF4-FFF2-40B4-BE49-F238E27FC236}">
                      <a16:creationId xmlns:a16="http://schemas.microsoft.com/office/drawing/2014/main" id="{6E67D7D3-CEB4-0C68-3D6C-F6B57FC12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3027" y="3332191"/>
                  <a:ext cx="1056315" cy="461665"/>
                </a:xfrm>
                <a:prstGeom prst="rect">
                  <a:avLst/>
                </a:prstGeom>
                <a:blipFill>
                  <a:blip r:embed="rId10"/>
                  <a:stretch>
                    <a:fillRect r="-1734" b="-17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aixaDeTexto 53">
                  <a:extLst>
                    <a:ext uri="{FF2B5EF4-FFF2-40B4-BE49-F238E27FC236}">
                      <a16:creationId xmlns:a16="http://schemas.microsoft.com/office/drawing/2014/main" id="{C663E759-3B77-EF3A-C377-A5865DED369C}"/>
                    </a:ext>
                  </a:extLst>
                </p:cNvPr>
                <p:cNvSpPr txBox="1"/>
                <p:nvPr/>
              </p:nvSpPr>
              <p:spPr>
                <a:xfrm>
                  <a:off x="9895422" y="3038565"/>
                  <a:ext cx="107632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/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54" name="CaixaDeTexto 53">
                  <a:extLst>
                    <a:ext uri="{FF2B5EF4-FFF2-40B4-BE49-F238E27FC236}">
                      <a16:creationId xmlns:a16="http://schemas.microsoft.com/office/drawing/2014/main" id="{C663E759-3B77-EF3A-C377-A5865DED36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422" y="3038565"/>
                  <a:ext cx="1076320" cy="461665"/>
                </a:xfrm>
                <a:prstGeom prst="rect">
                  <a:avLst/>
                </a:prstGeom>
                <a:blipFill>
                  <a:blip r:embed="rId11"/>
                  <a:stretch>
                    <a:fillRect r="-1695" b="-1578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CaixaDeTexto 54">
                  <a:extLst>
                    <a:ext uri="{FF2B5EF4-FFF2-40B4-BE49-F238E27FC236}">
                      <a16:creationId xmlns:a16="http://schemas.microsoft.com/office/drawing/2014/main" id="{E24FDA97-9BA8-244F-935D-3DD782E63FFF}"/>
                    </a:ext>
                  </a:extLst>
                </p:cNvPr>
                <p:cNvSpPr txBox="1"/>
                <p:nvPr/>
              </p:nvSpPr>
              <p:spPr>
                <a:xfrm>
                  <a:off x="7157240" y="2827609"/>
                  <a:ext cx="42614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55" name="CaixaDeTexto 54">
                  <a:extLst>
                    <a:ext uri="{FF2B5EF4-FFF2-40B4-BE49-F238E27FC236}">
                      <a16:creationId xmlns:a16="http://schemas.microsoft.com/office/drawing/2014/main" id="{E24FDA97-9BA8-244F-935D-3DD782E63F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240" y="2827609"/>
                  <a:ext cx="426142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4286" r="-1429" b="-1578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CaixaDeTexto 55">
                  <a:extLst>
                    <a:ext uri="{FF2B5EF4-FFF2-40B4-BE49-F238E27FC236}">
                      <a16:creationId xmlns:a16="http://schemas.microsoft.com/office/drawing/2014/main" id="{35A318BB-E3F8-643C-FFC5-EA5A9BBD2BFB}"/>
                    </a:ext>
                  </a:extLst>
                </p:cNvPr>
                <p:cNvSpPr txBox="1"/>
                <p:nvPr/>
              </p:nvSpPr>
              <p:spPr>
                <a:xfrm>
                  <a:off x="8481494" y="2487201"/>
                  <a:ext cx="42062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56" name="CaixaDeTexto 55">
                  <a:extLst>
                    <a:ext uri="{FF2B5EF4-FFF2-40B4-BE49-F238E27FC236}">
                      <a16:creationId xmlns:a16="http://schemas.microsoft.com/office/drawing/2014/main" id="{35A318BB-E3F8-643C-FFC5-EA5A9BBD2B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1494" y="2487201"/>
                  <a:ext cx="420628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434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17259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F151314-D9E3-D5E4-C78B-32DFE139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NEURÔNIO MCP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675D831-D754-592F-248D-5A5D720CE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16" y="1294186"/>
            <a:ext cx="7232347" cy="426962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A002861-3773-F891-2F87-8FD23BDDF6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0"/>
          <a:stretch>
            <a:fillRect/>
          </a:stretch>
        </p:blipFill>
        <p:spPr>
          <a:xfrm>
            <a:off x="7723054" y="2130081"/>
            <a:ext cx="4035202" cy="299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DD55E-F0D1-53B5-CA63-DD7BACB6D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 slide anterior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71E685F-AB66-8FDC-C261-E3960FD4BC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O neurônio MCP representa uma abstração do neurônio biológico conhecido. Basicamente, nós temos um conjunto de entradas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, ponderadas por pesos sinápticos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dirty="0"/>
                  <a:t>, em que realizamos uma somatória, representando a abstração do corpo celular.</a:t>
                </a:r>
              </a:p>
              <a:p>
                <a:r>
                  <a:rPr lang="pt-BR" dirty="0"/>
                  <a:t>Essa soma representa as entradas ponderadas pelos respectivos pesos, formando o que chamamos de campo local induzido. Caso a saída dessa soma ultrapasse um determinado limiar, representado por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(teta), dizemos que o neurônio dispara, ou seja, produz uma saída.</a:t>
                </a:r>
              </a:p>
              <a:p>
                <a:r>
                  <a:rPr lang="pt-BR" dirty="0"/>
                  <a:t>Se esse campo tiver valor menor que o limiar, a saída será zero. Matematicamente, isso representa a abstração do neurônio biológico em sua fase de repouso, ou seja, saída igual a zero.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71E685F-AB66-8FDC-C261-E3960FD4B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1" t="-3081" r="-5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289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228EC-EAD2-599F-3DAC-ABFC0358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FAZ O MCP?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535E43-9DDC-30EC-C59B-14EDDFE5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Representa uma abstração do Neurônio Biológico.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Pode ser configurado para implementar portas lógicas, como AND, OR, etc....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Como configurá-lo (treiná-lo)?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2ECC146-03FC-011A-7AF5-E8032D945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4859" y="108560"/>
            <a:ext cx="2679976" cy="158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66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47A14-8005-7B68-3ACE-5F4B105E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MCP: PORTA AND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2C29B2-E7D8-29C3-5599-04C5008C3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precisamos fazer para configurar a porta AND?</a:t>
            </a:r>
          </a:p>
          <a:p>
            <a:pPr lvl="1"/>
            <a:r>
              <a:rPr lang="pt-BR" dirty="0"/>
              <a:t>Ajustar os valores de w1, w2 e b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6F5720A-0AD9-08B3-1A48-1751DBDAC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973389"/>
              </p:ext>
            </p:extLst>
          </p:nvPr>
        </p:nvGraphicFramePr>
        <p:xfrm>
          <a:off x="10110564" y="639606"/>
          <a:ext cx="19653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124">
                  <a:extLst>
                    <a:ext uri="{9D8B030D-6E8A-4147-A177-3AD203B41FA5}">
                      <a16:colId xmlns:a16="http://schemas.microsoft.com/office/drawing/2014/main" val="597634527"/>
                    </a:ext>
                  </a:extLst>
                </a:gridCol>
                <a:gridCol w="655124">
                  <a:extLst>
                    <a:ext uri="{9D8B030D-6E8A-4147-A177-3AD203B41FA5}">
                      <a16:colId xmlns:a16="http://schemas.microsoft.com/office/drawing/2014/main" val="3538745539"/>
                    </a:ext>
                  </a:extLst>
                </a:gridCol>
                <a:gridCol w="655124">
                  <a:extLst>
                    <a:ext uri="{9D8B030D-6E8A-4147-A177-3AD203B41FA5}">
                      <a16:colId xmlns:a16="http://schemas.microsoft.com/office/drawing/2014/main" val="3526713004"/>
                    </a:ext>
                  </a:extLst>
                </a:gridCol>
              </a:tblGrid>
              <a:tr h="330100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X1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X2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Y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95532"/>
                  </a:ext>
                </a:extLst>
              </a:tr>
              <a:tr h="33010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27657"/>
                  </a:ext>
                </a:extLst>
              </a:tr>
              <a:tr h="33010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31563"/>
                  </a:ext>
                </a:extLst>
              </a:tr>
              <a:tr h="33010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506020"/>
                  </a:ext>
                </a:extLst>
              </a:tr>
              <a:tr h="33010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263852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0849481A-9F80-1080-74D6-B65FA4BF75D9}"/>
              </a:ext>
            </a:extLst>
          </p:cNvPr>
          <p:cNvSpPr txBox="1"/>
          <p:nvPr/>
        </p:nvSpPr>
        <p:spPr>
          <a:xfrm>
            <a:off x="9975337" y="0"/>
            <a:ext cx="22458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TABELA VERDADE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8A6705B-498B-6B5F-CB4E-C09CC31713FF}"/>
              </a:ext>
            </a:extLst>
          </p:cNvPr>
          <p:cNvSpPr txBox="1"/>
          <p:nvPr/>
        </p:nvSpPr>
        <p:spPr>
          <a:xfrm>
            <a:off x="10738024" y="239496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AND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C95F1054-4567-9947-7D06-06D085B2F198}"/>
              </a:ext>
            </a:extLst>
          </p:cNvPr>
          <p:cNvGrpSpPr/>
          <p:nvPr/>
        </p:nvGrpSpPr>
        <p:grpSpPr>
          <a:xfrm>
            <a:off x="1643635" y="3077200"/>
            <a:ext cx="8331702" cy="3040281"/>
            <a:chOff x="2640040" y="1563871"/>
            <a:chExt cx="8331702" cy="3040281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759CD633-0D2F-863F-6B1B-629482639A44}"/>
                </a:ext>
              </a:extLst>
            </p:cNvPr>
            <p:cNvSpPr/>
            <p:nvPr/>
          </p:nvSpPr>
          <p:spPr>
            <a:xfrm>
              <a:off x="5581651" y="2647950"/>
              <a:ext cx="1325563" cy="1325563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0" dirty="0"/>
                <a:t>∑</a:t>
              </a:r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0FA81B5E-E298-20BB-1665-D7115C2552E5}"/>
                </a:ext>
              </a:extLst>
            </p:cNvPr>
            <p:cNvSpPr/>
            <p:nvPr/>
          </p:nvSpPr>
          <p:spPr>
            <a:xfrm>
              <a:off x="8384699" y="2979340"/>
              <a:ext cx="662782" cy="66278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H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3A7F07E2-D1AB-35EB-871B-6B0AAAA50642}"/>
                </a:ext>
              </a:extLst>
            </p:cNvPr>
            <p:cNvSpPr/>
            <p:nvPr/>
          </p:nvSpPr>
          <p:spPr>
            <a:xfrm>
              <a:off x="3655218" y="2873696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7FEFA33-E237-910B-F2E4-30783A5CB258}"/>
                </a:ext>
              </a:extLst>
            </p:cNvPr>
            <p:cNvSpPr/>
            <p:nvPr/>
          </p:nvSpPr>
          <p:spPr>
            <a:xfrm>
              <a:off x="3737454" y="4098285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F674B556-05ED-1C3B-0D8D-D9BD7426E1EE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6244432" y="2025536"/>
              <a:ext cx="1" cy="622414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485642DB-461C-2980-D65A-E1E35BD0BA34}"/>
                </a:ext>
              </a:extLst>
            </p:cNvPr>
            <p:cNvCxnSpPr>
              <a:cxnSpLocks/>
              <a:stCxn id="13" idx="6"/>
              <a:endCxn id="10" idx="2"/>
            </p:cNvCxnSpPr>
            <p:nvPr/>
          </p:nvCxnSpPr>
          <p:spPr>
            <a:xfrm>
              <a:off x="4021930" y="3057052"/>
              <a:ext cx="1559721" cy="25368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99603AA1-7E13-4DE5-5C1D-C94FE9AF7ECD}"/>
                </a:ext>
              </a:extLst>
            </p:cNvPr>
            <p:cNvCxnSpPr>
              <a:cxnSpLocks/>
              <a:stCxn id="14" idx="6"/>
              <a:endCxn id="10" idx="3"/>
            </p:cNvCxnSpPr>
            <p:nvPr/>
          </p:nvCxnSpPr>
          <p:spPr>
            <a:xfrm flipV="1">
              <a:off x="4104166" y="3779389"/>
              <a:ext cx="1671609" cy="502252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EDC70B49-D3EE-7BD1-3720-6927CA8DB40F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6907214" y="3310732"/>
              <a:ext cx="1397152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454DD2E1-BACF-03C4-704A-9EA518A3FECD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>
              <a:off x="9047481" y="3310731"/>
              <a:ext cx="84794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66B4D972-3176-E412-8E8D-0B03CF0E4ACE}"/>
                    </a:ext>
                  </a:extLst>
                </p:cNvPr>
                <p:cNvSpPr txBox="1"/>
                <p:nvPr/>
              </p:nvSpPr>
              <p:spPr>
                <a:xfrm>
                  <a:off x="5921266" y="1563871"/>
                  <a:ext cx="64633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66B4D972-3176-E412-8E8D-0B03CF0E4A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266" y="1563871"/>
                  <a:ext cx="646331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0246A2DC-7DA5-9AD5-4BC3-9D3286A47665}"/>
                    </a:ext>
                  </a:extLst>
                </p:cNvPr>
                <p:cNvSpPr txBox="1"/>
                <p:nvPr/>
              </p:nvSpPr>
              <p:spPr>
                <a:xfrm>
                  <a:off x="2640040" y="2750993"/>
                  <a:ext cx="98123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0246A2DC-7DA5-9AD5-4BC3-9D3286A47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040" y="2750993"/>
                  <a:ext cx="981231" cy="461665"/>
                </a:xfrm>
                <a:prstGeom prst="rect">
                  <a:avLst/>
                </a:prstGeom>
                <a:blipFill>
                  <a:blip r:embed="rId3"/>
                  <a:stretch>
                    <a:fillRect r="-1242" b="-17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F35833C2-2E6F-5FA1-F4FA-150294AB50CD}"/>
                    </a:ext>
                  </a:extLst>
                </p:cNvPr>
                <p:cNvSpPr txBox="1"/>
                <p:nvPr/>
              </p:nvSpPr>
              <p:spPr>
                <a:xfrm>
                  <a:off x="2783392" y="4050808"/>
                  <a:ext cx="98834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F35833C2-2E6F-5FA1-F4FA-150294AB50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392" y="4050808"/>
                  <a:ext cx="988347" cy="461665"/>
                </a:xfrm>
                <a:prstGeom prst="rect">
                  <a:avLst/>
                </a:prstGeom>
                <a:blipFill>
                  <a:blip r:embed="rId4"/>
                  <a:stretch>
                    <a:fillRect r="-2469" b="-17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2038820-47C4-CD7B-B8F9-BE920C896946}"/>
                    </a:ext>
                  </a:extLst>
                </p:cNvPr>
                <p:cNvSpPr txBox="1"/>
                <p:nvPr/>
              </p:nvSpPr>
              <p:spPr>
                <a:xfrm>
                  <a:off x="6334806" y="2025536"/>
                  <a:ext cx="42062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2038820-47C4-CD7B-B8F9-BE920C8969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4806" y="2025536"/>
                  <a:ext cx="420628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E99AF772-BE3E-73CE-F8FF-A7B684B93735}"/>
                    </a:ext>
                  </a:extLst>
                </p:cNvPr>
                <p:cNvSpPr txBox="1"/>
                <p:nvPr/>
              </p:nvSpPr>
              <p:spPr>
                <a:xfrm>
                  <a:off x="4178106" y="2486586"/>
                  <a:ext cx="103816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E99AF772-BE3E-73CE-F8FF-A7B684B937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106" y="2486586"/>
                  <a:ext cx="1038169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1176" b="-1578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9338BD3C-3F27-9435-F009-0AA469C91E24}"/>
                    </a:ext>
                  </a:extLst>
                </p:cNvPr>
                <p:cNvSpPr txBox="1"/>
                <p:nvPr/>
              </p:nvSpPr>
              <p:spPr>
                <a:xfrm>
                  <a:off x="4279147" y="4142487"/>
                  <a:ext cx="104528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9338BD3C-3F27-9435-F009-0AA469C91E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9147" y="4142487"/>
                  <a:ext cx="1045286" cy="461665"/>
                </a:xfrm>
                <a:prstGeom prst="rect">
                  <a:avLst/>
                </a:prstGeom>
                <a:blipFill>
                  <a:blip r:embed="rId7"/>
                  <a:stretch>
                    <a:fillRect r="-1754" b="-1578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D08AF686-F3F3-7627-CD95-2D7A8336AD0C}"/>
                    </a:ext>
                  </a:extLst>
                </p:cNvPr>
                <p:cNvSpPr txBox="1"/>
                <p:nvPr/>
              </p:nvSpPr>
              <p:spPr>
                <a:xfrm>
                  <a:off x="6803027" y="3332191"/>
                  <a:ext cx="105631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/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D08AF686-F3F3-7627-CD95-2D7A8336AD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3027" y="3332191"/>
                  <a:ext cx="1056315" cy="461665"/>
                </a:xfrm>
                <a:prstGeom prst="rect">
                  <a:avLst/>
                </a:prstGeom>
                <a:blipFill>
                  <a:blip r:embed="rId8"/>
                  <a:stretch>
                    <a:fillRect r="-1734" b="-1578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58FECAAB-CDF2-A514-C037-65519E9E63AA}"/>
                    </a:ext>
                  </a:extLst>
                </p:cNvPr>
                <p:cNvSpPr txBox="1"/>
                <p:nvPr/>
              </p:nvSpPr>
              <p:spPr>
                <a:xfrm>
                  <a:off x="9895422" y="3038565"/>
                  <a:ext cx="107632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/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58FECAAB-CDF2-A514-C037-65519E9E63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422" y="3038565"/>
                  <a:ext cx="1076320" cy="461665"/>
                </a:xfrm>
                <a:prstGeom prst="rect">
                  <a:avLst/>
                </a:prstGeom>
                <a:blipFill>
                  <a:blip r:embed="rId9"/>
                  <a:stretch>
                    <a:fillRect r="-1705" b="-17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AA867867-5DB3-8487-361D-CB3B9A9EDC69}"/>
                    </a:ext>
                  </a:extLst>
                </p:cNvPr>
                <p:cNvSpPr txBox="1"/>
                <p:nvPr/>
              </p:nvSpPr>
              <p:spPr>
                <a:xfrm>
                  <a:off x="7157240" y="2827609"/>
                  <a:ext cx="42614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AA867867-5DB3-8487-361D-CB3B9A9ED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240" y="2827609"/>
                  <a:ext cx="426142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5714" b="-1578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BC0A487F-E9A4-AE44-1F68-2BC415390073}"/>
                    </a:ext>
                  </a:extLst>
                </p:cNvPr>
                <p:cNvSpPr txBox="1"/>
                <p:nvPr/>
              </p:nvSpPr>
              <p:spPr>
                <a:xfrm>
                  <a:off x="8481494" y="2487201"/>
                  <a:ext cx="42062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BC0A487F-E9A4-AE44-1F68-2BC4153900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1494" y="2487201"/>
                  <a:ext cx="420628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434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41326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D5610-59D3-9673-302B-D4A6FE6B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MCP: PORTA 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Espaço Reservado para Conteúdo 26">
                <a:extLst>
                  <a:ext uri="{FF2B5EF4-FFF2-40B4-BE49-F238E27FC236}">
                    <a16:creationId xmlns:a16="http://schemas.microsoft.com/office/drawing/2014/main" id="{3C268FA3-8239-FF99-255A-4D0DE96A51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BR" b="1" dirty="0">
                    <a:solidFill>
                      <a:srgbClr val="FF0000"/>
                    </a:solidFill>
                  </a:rPr>
                  <a:t>CASO 01: </a:t>
                </a:r>
              </a:p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ou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forem iguais a 0 (zero) ou ambos forem 0, </a:t>
                </a:r>
              </a:p>
              <a:p>
                <a:pPr lvl="1"/>
                <a:r>
                  <a:rPr lang="pt-BR" dirty="0"/>
                  <a:t>y deve ser 0.</a:t>
                </a:r>
              </a:p>
              <a:p>
                <a:endParaRPr lang="pt-BR" dirty="0">
                  <a:ea typeface="Cambria Math" panose="02040503050406030204" pitchFamily="18" charset="0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27" name="Espaço Reservado para Conteúdo 26">
                <a:extLst>
                  <a:ext uri="{FF2B5EF4-FFF2-40B4-BE49-F238E27FC236}">
                    <a16:creationId xmlns:a16="http://schemas.microsoft.com/office/drawing/2014/main" id="{3C268FA3-8239-FF99-255A-4D0DE96A5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75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B36E3A2-6703-F317-4EB7-1B9A2B407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160654"/>
              </p:ext>
            </p:extLst>
          </p:nvPr>
        </p:nvGraphicFramePr>
        <p:xfrm>
          <a:off x="10597218" y="592313"/>
          <a:ext cx="151050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502">
                  <a:extLst>
                    <a:ext uri="{9D8B030D-6E8A-4147-A177-3AD203B41FA5}">
                      <a16:colId xmlns:a16="http://schemas.microsoft.com/office/drawing/2014/main" val="597634527"/>
                    </a:ext>
                  </a:extLst>
                </a:gridCol>
                <a:gridCol w="503502">
                  <a:extLst>
                    <a:ext uri="{9D8B030D-6E8A-4147-A177-3AD203B41FA5}">
                      <a16:colId xmlns:a16="http://schemas.microsoft.com/office/drawing/2014/main" val="3538745539"/>
                    </a:ext>
                  </a:extLst>
                </a:gridCol>
                <a:gridCol w="503502">
                  <a:extLst>
                    <a:ext uri="{9D8B030D-6E8A-4147-A177-3AD203B41FA5}">
                      <a16:colId xmlns:a16="http://schemas.microsoft.com/office/drawing/2014/main" val="3526713004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X1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X2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Y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9553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2765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3156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50602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263852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77A026DA-3EBA-BA2C-1031-993029DB6F8F}"/>
              </a:ext>
            </a:extLst>
          </p:cNvPr>
          <p:cNvSpPr txBox="1"/>
          <p:nvPr/>
        </p:nvSpPr>
        <p:spPr>
          <a:xfrm>
            <a:off x="10360345" y="26571"/>
            <a:ext cx="18316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TABELA VERDADE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AD0C098-7FE1-6316-5CEA-6838A3C32B27}"/>
              </a:ext>
            </a:extLst>
          </p:cNvPr>
          <p:cNvSpPr txBox="1"/>
          <p:nvPr/>
        </p:nvSpPr>
        <p:spPr>
          <a:xfrm>
            <a:off x="11049343" y="23882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AND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2879A0B4-B791-EB94-7874-97DF066E20ED}"/>
              </a:ext>
            </a:extLst>
          </p:cNvPr>
          <p:cNvGrpSpPr/>
          <p:nvPr/>
        </p:nvGrpSpPr>
        <p:grpSpPr>
          <a:xfrm>
            <a:off x="5832462" y="238826"/>
            <a:ext cx="4527883" cy="1667050"/>
            <a:chOff x="2640040" y="1563871"/>
            <a:chExt cx="8589648" cy="3162487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62D6B9D1-365B-5657-0E2C-CE7F29207342}"/>
                </a:ext>
              </a:extLst>
            </p:cNvPr>
            <p:cNvSpPr/>
            <p:nvPr/>
          </p:nvSpPr>
          <p:spPr>
            <a:xfrm>
              <a:off x="5581651" y="2647949"/>
              <a:ext cx="1325562" cy="132556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/>
                <a:t>∑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DB0ACF0D-FF72-F78B-9E14-32A4D54397E1}"/>
                </a:ext>
              </a:extLst>
            </p:cNvPr>
            <p:cNvSpPr/>
            <p:nvPr/>
          </p:nvSpPr>
          <p:spPr>
            <a:xfrm>
              <a:off x="8384699" y="2979340"/>
              <a:ext cx="662782" cy="66278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dirty="0"/>
                <a:t>H</a:t>
              </a: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1AF07D86-E45B-7D7C-F42D-10DE0B6FDA8E}"/>
                </a:ext>
              </a:extLst>
            </p:cNvPr>
            <p:cNvSpPr/>
            <p:nvPr/>
          </p:nvSpPr>
          <p:spPr>
            <a:xfrm>
              <a:off x="3655219" y="2873695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87A2ED9F-3DAF-A021-AD3A-0BBF6F657791}"/>
                </a:ext>
              </a:extLst>
            </p:cNvPr>
            <p:cNvSpPr/>
            <p:nvPr/>
          </p:nvSpPr>
          <p:spPr>
            <a:xfrm>
              <a:off x="3737454" y="4098285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191863D5-D715-522C-FB2B-3B4386BF95F5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6244431" y="2025537"/>
              <a:ext cx="2" cy="622415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1B082EED-5278-A3CF-D40B-53077D51CC85}"/>
                </a:ext>
              </a:extLst>
            </p:cNvPr>
            <p:cNvCxnSpPr>
              <a:cxnSpLocks/>
              <a:stCxn id="10" idx="6"/>
              <a:endCxn id="8" idx="2"/>
            </p:cNvCxnSpPr>
            <p:nvPr/>
          </p:nvCxnSpPr>
          <p:spPr>
            <a:xfrm>
              <a:off x="4021930" y="3057052"/>
              <a:ext cx="1559721" cy="25368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BF8EE260-C8E4-F695-6037-CA98738AEC10}"/>
                </a:ext>
              </a:extLst>
            </p:cNvPr>
            <p:cNvCxnSpPr>
              <a:cxnSpLocks/>
              <a:stCxn id="11" idx="6"/>
              <a:endCxn id="8" idx="3"/>
            </p:cNvCxnSpPr>
            <p:nvPr/>
          </p:nvCxnSpPr>
          <p:spPr>
            <a:xfrm flipV="1">
              <a:off x="4104166" y="3779389"/>
              <a:ext cx="1671609" cy="502252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38B0588D-5277-9241-3DAA-B126F74446B5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6907213" y="3310731"/>
              <a:ext cx="139715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8E95EB57-3651-3197-091D-EC053E7FA755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9047481" y="3310731"/>
              <a:ext cx="84794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2F8E1683-B66D-BDF2-FF8D-5B86C461E81F}"/>
                    </a:ext>
                  </a:extLst>
                </p:cNvPr>
                <p:cNvSpPr txBox="1"/>
                <p:nvPr/>
              </p:nvSpPr>
              <p:spPr>
                <a:xfrm>
                  <a:off x="5921266" y="1563871"/>
                  <a:ext cx="864248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2F8E1683-B66D-BDF2-FF8D-5B86C461E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266" y="1563871"/>
                  <a:ext cx="864248" cy="58387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C4DF64E3-311D-8F14-BB02-C29183710974}"/>
                    </a:ext>
                  </a:extLst>
                </p:cNvPr>
                <p:cNvSpPr txBox="1"/>
                <p:nvPr/>
              </p:nvSpPr>
              <p:spPr>
                <a:xfrm>
                  <a:off x="2640040" y="2750994"/>
                  <a:ext cx="1228801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C4DF64E3-311D-8F14-BB02-C29183710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040" y="2750994"/>
                  <a:ext cx="1228801" cy="583870"/>
                </a:xfrm>
                <a:prstGeom prst="rect">
                  <a:avLst/>
                </a:prstGeom>
                <a:blipFill>
                  <a:blip r:embed="rId4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A5225207-5460-1A86-0FB9-15DC28EEEBD1}"/>
                    </a:ext>
                  </a:extLst>
                </p:cNvPr>
                <p:cNvSpPr txBox="1"/>
                <p:nvPr/>
              </p:nvSpPr>
              <p:spPr>
                <a:xfrm>
                  <a:off x="2783391" y="4050807"/>
                  <a:ext cx="1236710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A5225207-5460-1A86-0FB9-15DC28EEEB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391" y="4050807"/>
                  <a:ext cx="1236710" cy="583870"/>
                </a:xfrm>
                <a:prstGeom prst="rect">
                  <a:avLst/>
                </a:prstGeom>
                <a:blipFill>
                  <a:blip r:embed="rId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B9F03EB4-1FF6-BCA2-0B82-6860BDACE10C}"/>
                    </a:ext>
                  </a:extLst>
                </p:cNvPr>
                <p:cNvSpPr txBox="1"/>
                <p:nvPr/>
              </p:nvSpPr>
              <p:spPr>
                <a:xfrm>
                  <a:off x="6334805" y="2025537"/>
                  <a:ext cx="96910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40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pt-BR" sz="1400" dirty="0"/>
                    <a:t>ias</a:t>
                  </a:r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B9F03EB4-1FF6-BCA2-0B82-6860BDACE1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4805" y="2025537"/>
                  <a:ext cx="969102" cy="583870"/>
                </a:xfrm>
                <a:prstGeom prst="rect">
                  <a:avLst/>
                </a:prstGeom>
                <a:blipFill>
                  <a:blip r:embed="rId6"/>
                  <a:stretch>
                    <a:fillRect t="-3922" r="-1190" b="-1960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F9ECE9F0-F8BC-CEAF-B295-B9F03949F1DC}"/>
                    </a:ext>
                  </a:extLst>
                </p:cNvPr>
                <p:cNvSpPr txBox="1"/>
                <p:nvPr/>
              </p:nvSpPr>
              <p:spPr>
                <a:xfrm>
                  <a:off x="4178106" y="2486586"/>
                  <a:ext cx="1290715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F9ECE9F0-F8BC-CEAF-B295-B9F03949F1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106" y="2486586"/>
                  <a:ext cx="1290715" cy="583870"/>
                </a:xfrm>
                <a:prstGeom prst="rect">
                  <a:avLst/>
                </a:prstGeom>
                <a:blipFill>
                  <a:blip r:embed="rId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8B6B60C7-36D2-90AF-E44D-AB1BCB312E50}"/>
                    </a:ext>
                  </a:extLst>
                </p:cNvPr>
                <p:cNvSpPr txBox="1"/>
                <p:nvPr/>
              </p:nvSpPr>
              <p:spPr>
                <a:xfrm>
                  <a:off x="4279147" y="4142488"/>
                  <a:ext cx="129862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8B6B60C7-36D2-90AF-E44D-AB1BCB312E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9147" y="4142488"/>
                  <a:ext cx="1298622" cy="583870"/>
                </a:xfrm>
                <a:prstGeom prst="rect">
                  <a:avLst/>
                </a:prstGeom>
                <a:blipFill>
                  <a:blip r:embed="rId8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2ABD0A55-7623-E48A-B69A-8C4316CDFCA6}"/>
                    </a:ext>
                  </a:extLst>
                </p:cNvPr>
                <p:cNvSpPr txBox="1"/>
                <p:nvPr/>
              </p:nvSpPr>
              <p:spPr>
                <a:xfrm>
                  <a:off x="6803027" y="3332191"/>
                  <a:ext cx="132818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/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2ABD0A55-7623-E48A-B69A-8C4316CDF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3027" y="3332191"/>
                  <a:ext cx="1328182" cy="583870"/>
                </a:xfrm>
                <a:prstGeom prst="rect">
                  <a:avLst/>
                </a:prstGeom>
                <a:blipFill>
                  <a:blip r:embed="rId9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B7567836-47DC-E1E3-8803-D0308011B3EE}"/>
                    </a:ext>
                  </a:extLst>
                </p:cNvPr>
                <p:cNvSpPr txBox="1"/>
                <p:nvPr/>
              </p:nvSpPr>
              <p:spPr>
                <a:xfrm>
                  <a:off x="9895424" y="3038564"/>
                  <a:ext cx="1334264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/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B7567836-47DC-E1E3-8803-D0308011B3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424" y="3038564"/>
                  <a:ext cx="1334264" cy="583870"/>
                </a:xfrm>
                <a:prstGeom prst="rect">
                  <a:avLst/>
                </a:prstGeom>
                <a:blipFill>
                  <a:blip r:embed="rId10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7208761F-C0AB-A618-A481-9BA3DDAB1672}"/>
                    </a:ext>
                  </a:extLst>
                </p:cNvPr>
                <p:cNvSpPr txBox="1"/>
                <p:nvPr/>
              </p:nvSpPr>
              <p:spPr>
                <a:xfrm>
                  <a:off x="7157240" y="2827608"/>
                  <a:ext cx="61878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7208761F-C0AB-A618-A481-9BA3DDAB1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240" y="2827608"/>
                  <a:ext cx="618782" cy="583870"/>
                </a:xfrm>
                <a:prstGeom prst="rect">
                  <a:avLst/>
                </a:prstGeom>
                <a:blipFill>
                  <a:blip r:embed="rId11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F9F14F07-3723-517D-F998-707F7E2D5CBD}"/>
                    </a:ext>
                  </a:extLst>
                </p:cNvPr>
                <p:cNvSpPr txBox="1"/>
                <p:nvPr/>
              </p:nvSpPr>
              <p:spPr>
                <a:xfrm>
                  <a:off x="8386674" y="2487200"/>
                  <a:ext cx="610266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F9F14F07-3723-517D-F998-707F7E2D5C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674" y="2487200"/>
                  <a:ext cx="610266" cy="58387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Chave Direita 28">
            <a:extLst>
              <a:ext uri="{FF2B5EF4-FFF2-40B4-BE49-F238E27FC236}">
                <a16:creationId xmlns:a16="http://schemas.microsoft.com/office/drawing/2014/main" id="{03E55736-40D4-4614-93CA-91B1FC8456CD}"/>
              </a:ext>
            </a:extLst>
          </p:cNvPr>
          <p:cNvSpPr/>
          <p:nvPr/>
        </p:nvSpPr>
        <p:spPr>
          <a:xfrm>
            <a:off x="3391979" y="3473987"/>
            <a:ext cx="562828" cy="125072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713C15AB-8FAB-1548-35A4-3A83175D6583}"/>
              </a:ext>
            </a:extLst>
          </p:cNvPr>
          <p:cNvGrpSpPr/>
          <p:nvPr/>
        </p:nvGrpSpPr>
        <p:grpSpPr>
          <a:xfrm>
            <a:off x="6935547" y="3241696"/>
            <a:ext cx="2185206" cy="1664910"/>
            <a:chOff x="5572125" y="3069015"/>
            <a:chExt cx="2865004" cy="16649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623E81CE-F807-300C-D3CF-B4ABD18FB831}"/>
                    </a:ext>
                  </a:extLst>
                </p:cNvPr>
                <p:cNvSpPr txBox="1"/>
                <p:nvPr/>
              </p:nvSpPr>
              <p:spPr>
                <a:xfrm>
                  <a:off x="5762814" y="3116640"/>
                  <a:ext cx="2544381" cy="15696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pt-BR" sz="3200" b="0" i="1" smtClean="0">
                            <a:latin typeface="Cambria Math" panose="02040503050406030204" pitchFamily="18" charset="0"/>
                          </a:rPr>
                          <m:t>=−0,5</m:t>
                        </m:r>
                      </m:oMath>
                    </m:oMathPara>
                  </a14:m>
                  <a:endParaRPr lang="pt-BR" sz="3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3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3200" b="0" i="1" smtClean="0">
                            <a:latin typeface="Cambria Math" panose="02040503050406030204" pitchFamily="18" charset="0"/>
                          </a:rPr>
                          <m:t>=0,3</m:t>
                        </m:r>
                      </m:oMath>
                    </m:oMathPara>
                  </a14:m>
                  <a:endParaRPr lang="pt-BR" sz="3200" dirty="0"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3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pt-B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,3</m:t>
                        </m:r>
                      </m:oMath>
                    </m:oMathPara>
                  </a14:m>
                  <a:endParaRPr lang="pt-BR" sz="3200" dirty="0"/>
                </a:p>
              </p:txBody>
            </p:sp>
          </mc:Choice>
          <mc:Fallback xmlns="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623E81CE-F807-300C-D3CF-B4ABD18FB8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2814" y="3116640"/>
                  <a:ext cx="2544381" cy="156966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Chave Dupla 30">
              <a:extLst>
                <a:ext uri="{FF2B5EF4-FFF2-40B4-BE49-F238E27FC236}">
                  <a16:creationId xmlns:a16="http://schemas.microsoft.com/office/drawing/2014/main" id="{1696E71D-37C5-8686-49A7-40829EFBA30D}"/>
                </a:ext>
              </a:extLst>
            </p:cNvPr>
            <p:cNvSpPr/>
            <p:nvPr/>
          </p:nvSpPr>
          <p:spPr>
            <a:xfrm>
              <a:off x="5572125" y="3069015"/>
              <a:ext cx="2865004" cy="1664910"/>
            </a:xfrm>
            <a:prstGeom prst="bracePair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3420CA26-924A-8228-1558-462E6676378C}"/>
                  </a:ext>
                </a:extLst>
              </p:cNvPr>
              <p:cNvSpPr txBox="1"/>
              <p:nvPr/>
            </p:nvSpPr>
            <p:spPr>
              <a:xfrm>
                <a:off x="4306464" y="3470902"/>
                <a:ext cx="2231893" cy="1250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3420CA26-924A-8228-1558-462E66763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464" y="3470902"/>
                <a:ext cx="2231893" cy="125072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D819D23-7F40-8B3C-ED56-424A35DA59C5}"/>
                  </a:ext>
                </a:extLst>
              </p:cNvPr>
              <p:cNvSpPr txBox="1"/>
              <p:nvPr/>
            </p:nvSpPr>
            <p:spPr>
              <a:xfrm>
                <a:off x="118562" y="3473987"/>
                <a:ext cx="355483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pt-BR" sz="2400" b="0" dirty="0">
                  <a:ea typeface="Cambria Math" panose="02040503050406030204" pitchFamily="18" charset="0"/>
                </a:endParaRPr>
              </a:p>
              <a:p>
                <a:r>
                  <a:rPr lang="pt-BR" sz="2400" b="0" dirty="0">
                    <a:ea typeface="Cambria Math" panose="02040503050406030204" pitchFamily="18" charset="0"/>
                  </a:rPr>
                  <a:t>                            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endParaRPr lang="pt-BR" sz="2400" dirty="0">
                  <a:ea typeface="Cambria Math" panose="02040503050406030204" pitchFamily="18" charset="0"/>
                </a:endParaRPr>
              </a:p>
              <a:p>
                <a:r>
                  <a:rPr lang="pt-BR" sz="2400" dirty="0"/>
                  <a:t>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endParaRPr lang="pt-BR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D819D23-7F40-8B3C-ED56-424A35DA5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62" y="3473987"/>
                <a:ext cx="3554831" cy="120032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aixaDeTexto 45">
            <a:extLst>
              <a:ext uri="{FF2B5EF4-FFF2-40B4-BE49-F238E27FC236}">
                <a16:creationId xmlns:a16="http://schemas.microsoft.com/office/drawing/2014/main" id="{A18226A9-CFBB-FC95-AC7C-501BC34DDC13}"/>
              </a:ext>
            </a:extLst>
          </p:cNvPr>
          <p:cNvSpPr txBox="1"/>
          <p:nvPr/>
        </p:nvSpPr>
        <p:spPr>
          <a:xfrm>
            <a:off x="6916756" y="2848552"/>
            <a:ext cx="2222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VALOR ARBITRÁRIO</a:t>
            </a:r>
          </a:p>
        </p:txBody>
      </p:sp>
    </p:spTree>
    <p:extLst>
      <p:ext uri="{BB962C8B-B14F-4D97-AF65-F5344CB8AC3E}">
        <p14:creationId xmlns:p14="http://schemas.microsoft.com/office/powerpoint/2010/main" val="90905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/>
      <p:bldP spid="35" grpId="0"/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1E99-1C34-7CEC-A1B1-5639490B5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A4ABB-2573-F2FD-FB2C-903EA3432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MCP: PORTA 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Espaço Reservado para Conteúdo 26">
                <a:extLst>
                  <a:ext uri="{FF2B5EF4-FFF2-40B4-BE49-F238E27FC236}">
                    <a16:creationId xmlns:a16="http://schemas.microsoft.com/office/drawing/2014/main" id="{2FA6D989-62F0-ECCD-DBBD-7B87CC73EA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BR" b="1" dirty="0">
                    <a:solidFill>
                      <a:srgbClr val="FF0000"/>
                    </a:solidFill>
                  </a:rPr>
                  <a:t>CASO 02: </a:t>
                </a:r>
              </a:p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ou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forem iguais a 1 (um), </a:t>
                </a:r>
              </a:p>
              <a:p>
                <a:pPr lvl="1"/>
                <a:r>
                  <a:rPr lang="pt-BR" dirty="0"/>
                  <a:t>y deve ser 1.</a:t>
                </a:r>
              </a:p>
              <a:p>
                <a:endParaRPr lang="pt-BR" dirty="0">
                  <a:ea typeface="Cambria Math" panose="02040503050406030204" pitchFamily="18" charset="0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27" name="Espaço Reservado para Conteúdo 26">
                <a:extLst>
                  <a:ext uri="{FF2B5EF4-FFF2-40B4-BE49-F238E27FC236}">
                    <a16:creationId xmlns:a16="http://schemas.microsoft.com/office/drawing/2014/main" id="{2FA6D989-62F0-ECCD-DBBD-7B87CC73EA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75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A1C1FC4-9A4D-6DFF-2B9F-26B7564186F2}"/>
              </a:ext>
            </a:extLst>
          </p:cNvPr>
          <p:cNvGraphicFramePr>
            <a:graphicFrameLocks noGrp="1"/>
          </p:cNvGraphicFramePr>
          <p:nvPr/>
        </p:nvGraphicFramePr>
        <p:xfrm>
          <a:off x="10597218" y="592313"/>
          <a:ext cx="151050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502">
                  <a:extLst>
                    <a:ext uri="{9D8B030D-6E8A-4147-A177-3AD203B41FA5}">
                      <a16:colId xmlns:a16="http://schemas.microsoft.com/office/drawing/2014/main" val="597634527"/>
                    </a:ext>
                  </a:extLst>
                </a:gridCol>
                <a:gridCol w="503502">
                  <a:extLst>
                    <a:ext uri="{9D8B030D-6E8A-4147-A177-3AD203B41FA5}">
                      <a16:colId xmlns:a16="http://schemas.microsoft.com/office/drawing/2014/main" val="3538745539"/>
                    </a:ext>
                  </a:extLst>
                </a:gridCol>
                <a:gridCol w="503502">
                  <a:extLst>
                    <a:ext uri="{9D8B030D-6E8A-4147-A177-3AD203B41FA5}">
                      <a16:colId xmlns:a16="http://schemas.microsoft.com/office/drawing/2014/main" val="3526713004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X1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X2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Y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9553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2765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3156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50602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263852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9E81B572-1872-AC4A-9700-00FAF75DF363}"/>
              </a:ext>
            </a:extLst>
          </p:cNvPr>
          <p:cNvSpPr txBox="1"/>
          <p:nvPr/>
        </p:nvSpPr>
        <p:spPr>
          <a:xfrm>
            <a:off x="10360345" y="26571"/>
            <a:ext cx="18316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TABELA VERDADE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AD6A2AE-7C3E-3507-C545-C7E219CE3C8A}"/>
              </a:ext>
            </a:extLst>
          </p:cNvPr>
          <p:cNvSpPr txBox="1"/>
          <p:nvPr/>
        </p:nvSpPr>
        <p:spPr>
          <a:xfrm>
            <a:off x="11049343" y="23882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AND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06C1A8B3-CE24-3153-1DD6-A72FB14A9D01}"/>
              </a:ext>
            </a:extLst>
          </p:cNvPr>
          <p:cNvGrpSpPr/>
          <p:nvPr/>
        </p:nvGrpSpPr>
        <p:grpSpPr>
          <a:xfrm>
            <a:off x="5692862" y="152203"/>
            <a:ext cx="4527883" cy="1667050"/>
            <a:chOff x="2640040" y="1563871"/>
            <a:chExt cx="8589648" cy="3162487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3307E750-CFDC-2602-52A4-FAD3AE7622F7}"/>
                </a:ext>
              </a:extLst>
            </p:cNvPr>
            <p:cNvSpPr/>
            <p:nvPr/>
          </p:nvSpPr>
          <p:spPr>
            <a:xfrm>
              <a:off x="5581651" y="2647949"/>
              <a:ext cx="1325562" cy="132556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/>
                <a:t>∑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250B0281-A763-2C11-E082-C94105271A92}"/>
                </a:ext>
              </a:extLst>
            </p:cNvPr>
            <p:cNvSpPr/>
            <p:nvPr/>
          </p:nvSpPr>
          <p:spPr>
            <a:xfrm>
              <a:off x="8384699" y="2979340"/>
              <a:ext cx="662782" cy="66278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dirty="0"/>
                <a:t>H</a:t>
              </a: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E29416EF-A28B-83A9-AA35-D027C3336B84}"/>
                </a:ext>
              </a:extLst>
            </p:cNvPr>
            <p:cNvSpPr/>
            <p:nvPr/>
          </p:nvSpPr>
          <p:spPr>
            <a:xfrm>
              <a:off x="3655219" y="2873695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39662B8C-B5A7-74AA-8AC1-29EA2DC076D6}"/>
                </a:ext>
              </a:extLst>
            </p:cNvPr>
            <p:cNvSpPr/>
            <p:nvPr/>
          </p:nvSpPr>
          <p:spPr>
            <a:xfrm>
              <a:off x="3737454" y="4098285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AFBC6EA9-A9C5-A5D9-8AA8-ACD0E160CF48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6244431" y="2025537"/>
              <a:ext cx="2" cy="622415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6F70319B-3BB4-B628-267B-F805F487E5B6}"/>
                </a:ext>
              </a:extLst>
            </p:cNvPr>
            <p:cNvCxnSpPr>
              <a:cxnSpLocks/>
              <a:stCxn id="10" idx="6"/>
              <a:endCxn id="8" idx="2"/>
            </p:cNvCxnSpPr>
            <p:nvPr/>
          </p:nvCxnSpPr>
          <p:spPr>
            <a:xfrm>
              <a:off x="4021930" y="3057052"/>
              <a:ext cx="1559721" cy="25368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F4B2732C-58AC-726B-FD6B-E2A01236B9EF}"/>
                </a:ext>
              </a:extLst>
            </p:cNvPr>
            <p:cNvCxnSpPr>
              <a:cxnSpLocks/>
              <a:stCxn id="11" idx="6"/>
              <a:endCxn id="8" idx="3"/>
            </p:cNvCxnSpPr>
            <p:nvPr/>
          </p:nvCxnSpPr>
          <p:spPr>
            <a:xfrm flipV="1">
              <a:off x="4104166" y="3779389"/>
              <a:ext cx="1671609" cy="502252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11B0E234-B442-D4AA-FFF6-240B1FA2E993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6907213" y="3310731"/>
              <a:ext cx="139715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2579D53A-C7F2-D15E-3639-70C3F6C618B6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9047481" y="3310731"/>
              <a:ext cx="84794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FF1AAEB4-686F-02F1-1DFA-F4124246AC4B}"/>
                    </a:ext>
                  </a:extLst>
                </p:cNvPr>
                <p:cNvSpPr txBox="1"/>
                <p:nvPr/>
              </p:nvSpPr>
              <p:spPr>
                <a:xfrm>
                  <a:off x="5921266" y="1563871"/>
                  <a:ext cx="864248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FF1AAEB4-686F-02F1-1DFA-F4124246A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266" y="1563871"/>
                  <a:ext cx="864248" cy="58387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4C687ABF-7304-8020-F1F0-410A8A9A2C18}"/>
                    </a:ext>
                  </a:extLst>
                </p:cNvPr>
                <p:cNvSpPr txBox="1"/>
                <p:nvPr/>
              </p:nvSpPr>
              <p:spPr>
                <a:xfrm>
                  <a:off x="2640040" y="2750994"/>
                  <a:ext cx="1228801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4C687ABF-7304-8020-F1F0-410A8A9A2C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040" y="2750994"/>
                  <a:ext cx="1228801" cy="583870"/>
                </a:xfrm>
                <a:prstGeom prst="rect">
                  <a:avLst/>
                </a:prstGeom>
                <a:blipFill>
                  <a:blip r:embed="rId4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3A915BD6-24A3-3CF2-BA8F-AEC91A9E5F32}"/>
                    </a:ext>
                  </a:extLst>
                </p:cNvPr>
                <p:cNvSpPr txBox="1"/>
                <p:nvPr/>
              </p:nvSpPr>
              <p:spPr>
                <a:xfrm>
                  <a:off x="2783391" y="4050807"/>
                  <a:ext cx="1236710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3A915BD6-24A3-3CF2-BA8F-AEC91A9E5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391" y="4050807"/>
                  <a:ext cx="1236710" cy="583870"/>
                </a:xfrm>
                <a:prstGeom prst="rect">
                  <a:avLst/>
                </a:prstGeom>
                <a:blipFill>
                  <a:blip r:embed="rId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0395814A-1F81-E206-480F-4FF33C10A070}"/>
                    </a:ext>
                  </a:extLst>
                </p:cNvPr>
                <p:cNvSpPr txBox="1"/>
                <p:nvPr/>
              </p:nvSpPr>
              <p:spPr>
                <a:xfrm>
                  <a:off x="6334805" y="2025537"/>
                  <a:ext cx="96910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40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pt-BR" sz="1400" dirty="0"/>
                    <a:t>ias</a:t>
                  </a:r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0395814A-1F81-E206-480F-4FF33C10A0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4805" y="2025537"/>
                  <a:ext cx="969102" cy="583870"/>
                </a:xfrm>
                <a:prstGeom prst="rect">
                  <a:avLst/>
                </a:prstGeom>
                <a:blipFill>
                  <a:blip r:embed="rId6"/>
                  <a:stretch>
                    <a:fillRect t="-4000" r="-1190" b="-2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81F1B31E-7BDF-CB12-E64E-87E3069C9C41}"/>
                    </a:ext>
                  </a:extLst>
                </p:cNvPr>
                <p:cNvSpPr txBox="1"/>
                <p:nvPr/>
              </p:nvSpPr>
              <p:spPr>
                <a:xfrm>
                  <a:off x="4178106" y="2486586"/>
                  <a:ext cx="1290715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81F1B31E-7BDF-CB12-E64E-87E3069C9C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106" y="2486586"/>
                  <a:ext cx="1290715" cy="583870"/>
                </a:xfrm>
                <a:prstGeom prst="rect">
                  <a:avLst/>
                </a:prstGeom>
                <a:blipFill>
                  <a:blip r:embed="rId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3B0CBF7D-3A5F-D2B3-794E-B181957457B8}"/>
                    </a:ext>
                  </a:extLst>
                </p:cNvPr>
                <p:cNvSpPr txBox="1"/>
                <p:nvPr/>
              </p:nvSpPr>
              <p:spPr>
                <a:xfrm>
                  <a:off x="4279147" y="4142488"/>
                  <a:ext cx="129862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3B0CBF7D-3A5F-D2B3-794E-B181957457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9147" y="4142488"/>
                  <a:ext cx="1298622" cy="583870"/>
                </a:xfrm>
                <a:prstGeom prst="rect">
                  <a:avLst/>
                </a:prstGeom>
                <a:blipFill>
                  <a:blip r:embed="rId8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00EDC9E4-776A-0D69-8BAC-29BC685AB640}"/>
                    </a:ext>
                  </a:extLst>
                </p:cNvPr>
                <p:cNvSpPr txBox="1"/>
                <p:nvPr/>
              </p:nvSpPr>
              <p:spPr>
                <a:xfrm>
                  <a:off x="6803027" y="3332191"/>
                  <a:ext cx="132818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/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00EDC9E4-776A-0D69-8BAC-29BC685AB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3027" y="3332191"/>
                  <a:ext cx="1328182" cy="583870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3FF68C94-2992-46C8-A359-6EFFAE8FB49A}"/>
                    </a:ext>
                  </a:extLst>
                </p:cNvPr>
                <p:cNvSpPr txBox="1"/>
                <p:nvPr/>
              </p:nvSpPr>
              <p:spPr>
                <a:xfrm>
                  <a:off x="9895424" y="3038564"/>
                  <a:ext cx="1334264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/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3FF68C94-2992-46C8-A359-6EFFAE8FB4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424" y="3038564"/>
                  <a:ext cx="1334264" cy="583870"/>
                </a:xfrm>
                <a:prstGeom prst="rect">
                  <a:avLst/>
                </a:prstGeom>
                <a:blipFill>
                  <a:blip r:embed="rId10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BB059CD3-B2EF-AB93-F0A4-6CAE00C4DC2E}"/>
                    </a:ext>
                  </a:extLst>
                </p:cNvPr>
                <p:cNvSpPr txBox="1"/>
                <p:nvPr/>
              </p:nvSpPr>
              <p:spPr>
                <a:xfrm>
                  <a:off x="7157240" y="2827608"/>
                  <a:ext cx="61878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BB059CD3-B2EF-AB93-F0A4-6CAE00C4D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240" y="2827608"/>
                  <a:ext cx="618782" cy="583870"/>
                </a:xfrm>
                <a:prstGeom prst="rect">
                  <a:avLst/>
                </a:prstGeom>
                <a:blipFill>
                  <a:blip r:embed="rId11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17468D78-A5CA-4938-5C61-53936EFD6F87}"/>
                    </a:ext>
                  </a:extLst>
                </p:cNvPr>
                <p:cNvSpPr txBox="1"/>
                <p:nvPr/>
              </p:nvSpPr>
              <p:spPr>
                <a:xfrm>
                  <a:off x="8386674" y="2487200"/>
                  <a:ext cx="610266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17468D78-A5CA-4938-5C61-53936EFD6F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674" y="2487200"/>
                  <a:ext cx="610266" cy="58387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Chave Direita 28">
            <a:extLst>
              <a:ext uri="{FF2B5EF4-FFF2-40B4-BE49-F238E27FC236}">
                <a16:creationId xmlns:a16="http://schemas.microsoft.com/office/drawing/2014/main" id="{6661363F-88A0-1900-1711-7F75555BEBCA}"/>
              </a:ext>
            </a:extLst>
          </p:cNvPr>
          <p:cNvSpPr/>
          <p:nvPr/>
        </p:nvSpPr>
        <p:spPr>
          <a:xfrm>
            <a:off x="3391979" y="3473987"/>
            <a:ext cx="562828" cy="830997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75251DB3-5BCB-535D-DC79-DBEA9CDD4E10}"/>
              </a:ext>
            </a:extLst>
          </p:cNvPr>
          <p:cNvGrpSpPr/>
          <p:nvPr/>
        </p:nvGrpSpPr>
        <p:grpSpPr>
          <a:xfrm>
            <a:off x="6935547" y="3241696"/>
            <a:ext cx="2185206" cy="1664910"/>
            <a:chOff x="5572125" y="3069015"/>
            <a:chExt cx="2865004" cy="16649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C3834C12-E693-6C37-2E71-B570A83BE96F}"/>
                    </a:ext>
                  </a:extLst>
                </p:cNvPr>
                <p:cNvSpPr txBox="1"/>
                <p:nvPr/>
              </p:nvSpPr>
              <p:spPr>
                <a:xfrm>
                  <a:off x="5762814" y="3116640"/>
                  <a:ext cx="2544381" cy="15696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pt-BR" sz="3200" b="0" i="1" smtClean="0">
                            <a:latin typeface="Cambria Math" panose="02040503050406030204" pitchFamily="18" charset="0"/>
                          </a:rPr>
                          <m:t>=−0,5</m:t>
                        </m:r>
                      </m:oMath>
                    </m:oMathPara>
                  </a14:m>
                  <a:endParaRPr lang="pt-BR" sz="3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3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3200" b="0" i="1" smtClean="0">
                            <a:latin typeface="Cambria Math" panose="02040503050406030204" pitchFamily="18" charset="0"/>
                          </a:rPr>
                          <m:t>=0,3</m:t>
                        </m:r>
                      </m:oMath>
                    </m:oMathPara>
                  </a14:m>
                  <a:endParaRPr lang="pt-BR" sz="3200" dirty="0"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3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pt-B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,3</m:t>
                        </m:r>
                      </m:oMath>
                    </m:oMathPara>
                  </a14:m>
                  <a:endParaRPr lang="pt-BR" sz="3200" dirty="0"/>
                </a:p>
              </p:txBody>
            </p:sp>
          </mc:Choice>
          <mc:Fallback xmlns="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C3834C12-E693-6C37-2E71-B570A83BE9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2814" y="3116640"/>
                  <a:ext cx="2544381" cy="156966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Chave Dupla 30">
              <a:extLst>
                <a:ext uri="{FF2B5EF4-FFF2-40B4-BE49-F238E27FC236}">
                  <a16:creationId xmlns:a16="http://schemas.microsoft.com/office/drawing/2014/main" id="{DFED4AAF-0D82-3CF3-CC05-A4C0E9042F2F}"/>
                </a:ext>
              </a:extLst>
            </p:cNvPr>
            <p:cNvSpPr/>
            <p:nvPr/>
          </p:nvSpPr>
          <p:spPr>
            <a:xfrm>
              <a:off x="5572125" y="3069015"/>
              <a:ext cx="2865004" cy="1664910"/>
            </a:xfrm>
            <a:prstGeom prst="bracePair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43E18E96-E14F-8F76-2669-7A5F50AB5876}"/>
                  </a:ext>
                </a:extLst>
              </p:cNvPr>
              <p:cNvSpPr txBox="1"/>
              <p:nvPr/>
            </p:nvSpPr>
            <p:spPr>
              <a:xfrm>
                <a:off x="4198522" y="3533279"/>
                <a:ext cx="1396664" cy="7817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43E18E96-E14F-8F76-2669-7A5F50AB5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522" y="3533279"/>
                <a:ext cx="1396664" cy="78175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0851F827-01A5-6C06-99D1-A76D7B75948B}"/>
                  </a:ext>
                </a:extLst>
              </p:cNvPr>
              <p:cNvSpPr txBox="1"/>
              <p:nvPr/>
            </p:nvSpPr>
            <p:spPr>
              <a:xfrm>
                <a:off x="118562" y="3473987"/>
                <a:ext cx="355483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pt-BR" sz="2400" b="0" dirty="0">
                  <a:ea typeface="Cambria Math" panose="02040503050406030204" pitchFamily="18" charset="0"/>
                </a:endParaRPr>
              </a:p>
              <a:p>
                <a:r>
                  <a:rPr lang="pt-BR" sz="2400" b="0" dirty="0">
                    <a:ea typeface="Cambria Math" panose="02040503050406030204" pitchFamily="18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pt-BR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0851F827-01A5-6C06-99D1-A76D7B759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62" y="3473987"/>
                <a:ext cx="3554831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aixaDeTexto 45">
            <a:extLst>
              <a:ext uri="{FF2B5EF4-FFF2-40B4-BE49-F238E27FC236}">
                <a16:creationId xmlns:a16="http://schemas.microsoft.com/office/drawing/2014/main" id="{28AD91F3-210B-6F0F-775C-9984B3C4A551}"/>
              </a:ext>
            </a:extLst>
          </p:cNvPr>
          <p:cNvSpPr txBox="1"/>
          <p:nvPr/>
        </p:nvSpPr>
        <p:spPr>
          <a:xfrm>
            <a:off x="6916756" y="2848552"/>
            <a:ext cx="2222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VALOR ARBITRÁRIO</a:t>
            </a:r>
          </a:p>
        </p:txBody>
      </p:sp>
    </p:spTree>
    <p:extLst>
      <p:ext uri="{BB962C8B-B14F-4D97-AF65-F5344CB8AC3E}">
        <p14:creationId xmlns:p14="http://schemas.microsoft.com/office/powerpoint/2010/main" val="362097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/>
      <p:bldP spid="35" grpId="0"/>
      <p:bldP spid="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6A326-78F6-DAF3-6C8B-5C07F1CBE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D1FC2-5805-5DB9-546A-C4313F20A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</p:spPr>
        <p:txBody>
          <a:bodyPr/>
          <a:lstStyle/>
          <a:p>
            <a:r>
              <a:rPr lang="pt-BR" dirty="0"/>
              <a:t>MCP: PORTA 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Espaço Reservado para Conteúdo 26">
                <a:extLst>
                  <a:ext uri="{FF2B5EF4-FFF2-40B4-BE49-F238E27FC236}">
                    <a16:creationId xmlns:a16="http://schemas.microsoft.com/office/drawing/2014/main" id="{14E64324-A31F-F425-06A2-CF8525B7F2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2663" y="1825625"/>
                <a:ext cx="10371137" cy="407035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Como podemos interpretar o neurônio MCP neste caso?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=−0,5</m:t>
                    </m:r>
                  </m:oMath>
                </a14:m>
                <a:r>
                  <a:rPr lang="pt-BR" dirty="0"/>
                  <a:t> 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=0,3</m:t>
                    </m:r>
                  </m:oMath>
                </a14:m>
                <a:r>
                  <a:rPr lang="pt-BR" dirty="0">
                    <a:ea typeface="Cambria Math" panose="02040503050406030204" pitchFamily="18" charset="0"/>
                  </a:rPr>
                  <a:t> 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0,3</m:t>
                    </m:r>
                  </m:oMath>
                </a14:m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𝑏𝑥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−0,5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0,3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0,3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−0,3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0,3</m:t>
                        </m:r>
                      </m:den>
                    </m:f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0,5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0,3</m:t>
                        </m:r>
                      </m:den>
                    </m:f>
                  </m:oMath>
                </a14:m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=−1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+1,67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7" name="Espaço Reservado para Conteúdo 26">
                <a:extLst>
                  <a:ext uri="{FF2B5EF4-FFF2-40B4-BE49-F238E27FC236}">
                    <a16:creationId xmlns:a16="http://schemas.microsoft.com/office/drawing/2014/main" id="{14E64324-A31F-F425-06A2-CF8525B7F2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2663" y="1825625"/>
                <a:ext cx="10371137" cy="4070350"/>
              </a:xfrm>
              <a:blipFill>
                <a:blip r:embed="rId2"/>
                <a:stretch>
                  <a:fillRect l="-1058" t="-25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C22B9FB-4D13-457A-0905-70E9DC3921DD}"/>
              </a:ext>
            </a:extLst>
          </p:cNvPr>
          <p:cNvGraphicFramePr>
            <a:graphicFrameLocks noGrp="1"/>
          </p:cNvGraphicFramePr>
          <p:nvPr/>
        </p:nvGraphicFramePr>
        <p:xfrm>
          <a:off x="10597218" y="592313"/>
          <a:ext cx="151050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502">
                  <a:extLst>
                    <a:ext uri="{9D8B030D-6E8A-4147-A177-3AD203B41FA5}">
                      <a16:colId xmlns:a16="http://schemas.microsoft.com/office/drawing/2014/main" val="597634527"/>
                    </a:ext>
                  </a:extLst>
                </a:gridCol>
                <a:gridCol w="503502">
                  <a:extLst>
                    <a:ext uri="{9D8B030D-6E8A-4147-A177-3AD203B41FA5}">
                      <a16:colId xmlns:a16="http://schemas.microsoft.com/office/drawing/2014/main" val="3538745539"/>
                    </a:ext>
                  </a:extLst>
                </a:gridCol>
                <a:gridCol w="503502">
                  <a:extLst>
                    <a:ext uri="{9D8B030D-6E8A-4147-A177-3AD203B41FA5}">
                      <a16:colId xmlns:a16="http://schemas.microsoft.com/office/drawing/2014/main" val="3526713004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X1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X2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Y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9553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2765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3156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50602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263852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1A43EA7-DE3E-FF12-6A74-4DCDD1BE4437}"/>
              </a:ext>
            </a:extLst>
          </p:cNvPr>
          <p:cNvSpPr txBox="1"/>
          <p:nvPr/>
        </p:nvSpPr>
        <p:spPr>
          <a:xfrm>
            <a:off x="10360345" y="26571"/>
            <a:ext cx="18316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TABELA VERDADE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0501DD4-0E42-C76E-4E2C-D27ECCBEAD02}"/>
              </a:ext>
            </a:extLst>
          </p:cNvPr>
          <p:cNvSpPr txBox="1"/>
          <p:nvPr/>
        </p:nvSpPr>
        <p:spPr>
          <a:xfrm>
            <a:off x="11049343" y="23882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AND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C4514D86-018B-3755-2048-1EF199810E34}"/>
              </a:ext>
            </a:extLst>
          </p:cNvPr>
          <p:cNvGrpSpPr/>
          <p:nvPr/>
        </p:nvGrpSpPr>
        <p:grpSpPr>
          <a:xfrm>
            <a:off x="5777138" y="-70268"/>
            <a:ext cx="4527883" cy="1667050"/>
            <a:chOff x="2640040" y="1563871"/>
            <a:chExt cx="8589648" cy="3162487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59DC9A65-3E89-358F-6BE4-688856BF8504}"/>
                </a:ext>
              </a:extLst>
            </p:cNvPr>
            <p:cNvSpPr/>
            <p:nvPr/>
          </p:nvSpPr>
          <p:spPr>
            <a:xfrm>
              <a:off x="5581651" y="2647949"/>
              <a:ext cx="1325562" cy="132556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/>
                <a:t>∑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959E4F9F-A66A-39F8-85D3-8C64EDE67C27}"/>
                </a:ext>
              </a:extLst>
            </p:cNvPr>
            <p:cNvSpPr/>
            <p:nvPr/>
          </p:nvSpPr>
          <p:spPr>
            <a:xfrm>
              <a:off x="8384699" y="2979340"/>
              <a:ext cx="662782" cy="66278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dirty="0"/>
                <a:t>H</a:t>
              </a: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57E841F5-A1FC-39F6-7D73-75A098F0AF19}"/>
                </a:ext>
              </a:extLst>
            </p:cNvPr>
            <p:cNvSpPr/>
            <p:nvPr/>
          </p:nvSpPr>
          <p:spPr>
            <a:xfrm>
              <a:off x="3655219" y="2873695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DF18C725-049D-6FE9-3D74-942B258BEF5F}"/>
                </a:ext>
              </a:extLst>
            </p:cNvPr>
            <p:cNvSpPr/>
            <p:nvPr/>
          </p:nvSpPr>
          <p:spPr>
            <a:xfrm>
              <a:off x="3737454" y="4098285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F180C227-D69A-BD5F-5722-95437708AD16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6244431" y="2025537"/>
              <a:ext cx="2" cy="622415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FBE9F130-C1FB-3D30-FEE6-1368C48055AC}"/>
                </a:ext>
              </a:extLst>
            </p:cNvPr>
            <p:cNvCxnSpPr>
              <a:cxnSpLocks/>
              <a:stCxn id="10" idx="6"/>
              <a:endCxn id="8" idx="2"/>
            </p:cNvCxnSpPr>
            <p:nvPr/>
          </p:nvCxnSpPr>
          <p:spPr>
            <a:xfrm>
              <a:off x="4021930" y="3057052"/>
              <a:ext cx="1559721" cy="25368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A84FE1E5-0514-F202-DA69-822E72E3A3F7}"/>
                </a:ext>
              </a:extLst>
            </p:cNvPr>
            <p:cNvCxnSpPr>
              <a:cxnSpLocks/>
              <a:stCxn id="11" idx="6"/>
              <a:endCxn id="8" idx="3"/>
            </p:cNvCxnSpPr>
            <p:nvPr/>
          </p:nvCxnSpPr>
          <p:spPr>
            <a:xfrm flipV="1">
              <a:off x="4104166" y="3779389"/>
              <a:ext cx="1671609" cy="502252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0B3D1FA2-F278-ED51-CBDB-3D2E09AB53ED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6907213" y="3310731"/>
              <a:ext cx="139715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88854C99-C37F-359D-C9A4-9847FFA37258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9047481" y="3310731"/>
              <a:ext cx="84794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809B2664-E7C2-3C63-8341-D74106CB1E08}"/>
                    </a:ext>
                  </a:extLst>
                </p:cNvPr>
                <p:cNvSpPr txBox="1"/>
                <p:nvPr/>
              </p:nvSpPr>
              <p:spPr>
                <a:xfrm>
                  <a:off x="5921266" y="1563871"/>
                  <a:ext cx="864248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809B2664-E7C2-3C63-8341-D74106CB1E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266" y="1563871"/>
                  <a:ext cx="864248" cy="58387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5A8FFFBC-CA90-3B94-2013-24913CB4D63F}"/>
                    </a:ext>
                  </a:extLst>
                </p:cNvPr>
                <p:cNvSpPr txBox="1"/>
                <p:nvPr/>
              </p:nvSpPr>
              <p:spPr>
                <a:xfrm>
                  <a:off x="2640040" y="2750994"/>
                  <a:ext cx="1228801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5A8FFFBC-CA90-3B94-2013-24913CB4D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040" y="2750994"/>
                  <a:ext cx="1228801" cy="583870"/>
                </a:xfrm>
                <a:prstGeom prst="rect">
                  <a:avLst/>
                </a:prstGeom>
                <a:blipFill>
                  <a:blip r:embed="rId4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0FE9D8A1-17BD-F635-4197-240CE97E77DC}"/>
                    </a:ext>
                  </a:extLst>
                </p:cNvPr>
                <p:cNvSpPr txBox="1"/>
                <p:nvPr/>
              </p:nvSpPr>
              <p:spPr>
                <a:xfrm>
                  <a:off x="2783391" y="4050807"/>
                  <a:ext cx="1236710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0FE9D8A1-17BD-F635-4197-240CE97E77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391" y="4050807"/>
                  <a:ext cx="1236710" cy="583870"/>
                </a:xfrm>
                <a:prstGeom prst="rect">
                  <a:avLst/>
                </a:prstGeom>
                <a:blipFill>
                  <a:blip r:embed="rId5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BBB4D4C2-5BA9-8C91-0A5F-7B28F316A9A0}"/>
                    </a:ext>
                  </a:extLst>
                </p:cNvPr>
                <p:cNvSpPr txBox="1"/>
                <p:nvPr/>
              </p:nvSpPr>
              <p:spPr>
                <a:xfrm>
                  <a:off x="6334805" y="2025537"/>
                  <a:ext cx="96910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40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pt-BR" sz="1400" dirty="0"/>
                    <a:t>ias</a:t>
                  </a:r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BBB4D4C2-5BA9-8C91-0A5F-7B28F316A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4805" y="2025537"/>
                  <a:ext cx="969102" cy="583870"/>
                </a:xfrm>
                <a:prstGeom prst="rect">
                  <a:avLst/>
                </a:prstGeom>
                <a:blipFill>
                  <a:blip r:embed="rId6"/>
                  <a:stretch>
                    <a:fillRect t="-1961" r="-1190" b="-1960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EC2F9CC2-8536-EBA0-59B8-177A2365DC85}"/>
                    </a:ext>
                  </a:extLst>
                </p:cNvPr>
                <p:cNvSpPr txBox="1"/>
                <p:nvPr/>
              </p:nvSpPr>
              <p:spPr>
                <a:xfrm>
                  <a:off x="4178106" y="2486586"/>
                  <a:ext cx="1290715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EC2F9CC2-8536-EBA0-59B8-177A2365DC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106" y="2486586"/>
                  <a:ext cx="1290715" cy="583870"/>
                </a:xfrm>
                <a:prstGeom prst="rect">
                  <a:avLst/>
                </a:prstGeom>
                <a:blipFill>
                  <a:blip r:embed="rId7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247B59B8-40E0-B6B3-CE78-99786287349A}"/>
                    </a:ext>
                  </a:extLst>
                </p:cNvPr>
                <p:cNvSpPr txBox="1"/>
                <p:nvPr/>
              </p:nvSpPr>
              <p:spPr>
                <a:xfrm>
                  <a:off x="4279147" y="4142488"/>
                  <a:ext cx="129862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247B59B8-40E0-B6B3-CE78-9978628734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9147" y="4142488"/>
                  <a:ext cx="1298622" cy="583870"/>
                </a:xfrm>
                <a:prstGeom prst="rect">
                  <a:avLst/>
                </a:prstGeom>
                <a:blipFill>
                  <a:blip r:embed="rId8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AD39DE45-21FD-C6EC-8642-F210F06E2D4F}"/>
                    </a:ext>
                  </a:extLst>
                </p:cNvPr>
                <p:cNvSpPr txBox="1"/>
                <p:nvPr/>
              </p:nvSpPr>
              <p:spPr>
                <a:xfrm>
                  <a:off x="6803027" y="3332191"/>
                  <a:ext cx="132818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/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AD39DE45-21FD-C6EC-8642-F210F06E2D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3027" y="3332191"/>
                  <a:ext cx="1328182" cy="583870"/>
                </a:xfrm>
                <a:prstGeom prst="rect">
                  <a:avLst/>
                </a:prstGeom>
                <a:blipFill>
                  <a:blip r:embed="rId9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712606AD-BCE7-4D7E-6495-23F8A461250B}"/>
                    </a:ext>
                  </a:extLst>
                </p:cNvPr>
                <p:cNvSpPr txBox="1"/>
                <p:nvPr/>
              </p:nvSpPr>
              <p:spPr>
                <a:xfrm>
                  <a:off x="9895424" y="3038564"/>
                  <a:ext cx="1334264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/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712606AD-BCE7-4D7E-6495-23F8A4612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424" y="3038564"/>
                  <a:ext cx="1334264" cy="583870"/>
                </a:xfrm>
                <a:prstGeom prst="rect">
                  <a:avLst/>
                </a:prstGeom>
                <a:blipFill>
                  <a:blip r:embed="rId10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0CECCD8F-112F-8703-DE79-3447D2B254F5}"/>
                    </a:ext>
                  </a:extLst>
                </p:cNvPr>
                <p:cNvSpPr txBox="1"/>
                <p:nvPr/>
              </p:nvSpPr>
              <p:spPr>
                <a:xfrm>
                  <a:off x="7157240" y="2827608"/>
                  <a:ext cx="61878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0CECCD8F-112F-8703-DE79-3447D2B254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240" y="2827608"/>
                  <a:ext cx="618782" cy="583870"/>
                </a:xfrm>
                <a:prstGeom prst="rect">
                  <a:avLst/>
                </a:prstGeom>
                <a:blipFill>
                  <a:blip r:embed="rId11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780C3B2B-C8B4-C059-BB2A-7C0FBBD66072}"/>
                    </a:ext>
                  </a:extLst>
                </p:cNvPr>
                <p:cNvSpPr txBox="1"/>
                <p:nvPr/>
              </p:nvSpPr>
              <p:spPr>
                <a:xfrm>
                  <a:off x="8386674" y="2487200"/>
                  <a:ext cx="610266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780C3B2B-C8B4-C059-BB2A-7C0FBBD66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674" y="2487200"/>
                  <a:ext cx="610266" cy="58387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3865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BE521-11EE-5356-512D-26A694FA9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Agrupar 55">
            <a:extLst>
              <a:ext uri="{FF2B5EF4-FFF2-40B4-BE49-F238E27FC236}">
                <a16:creationId xmlns:a16="http://schemas.microsoft.com/office/drawing/2014/main" id="{95F76D1D-AB76-7CDF-B7A3-09F95EC3E0EE}"/>
              </a:ext>
            </a:extLst>
          </p:cNvPr>
          <p:cNvGrpSpPr/>
          <p:nvPr/>
        </p:nvGrpSpPr>
        <p:grpSpPr>
          <a:xfrm>
            <a:off x="6622626" y="1587161"/>
            <a:ext cx="5016555" cy="5015341"/>
            <a:chOff x="2780541" y="826356"/>
            <a:chExt cx="5016555" cy="5015341"/>
          </a:xfrm>
        </p:grpSpPr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FC41EA9D-FEEF-4075-862F-993CD19AC228}"/>
                </a:ext>
              </a:extLst>
            </p:cNvPr>
            <p:cNvSpPr/>
            <p:nvPr/>
          </p:nvSpPr>
          <p:spPr>
            <a:xfrm>
              <a:off x="2850354" y="942680"/>
              <a:ext cx="4860772" cy="489901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id="{9E893094-CBB6-BA4E-89DD-CE1EBD506285}"/>
                </a:ext>
              </a:extLst>
            </p:cNvPr>
            <p:cNvGrpSpPr/>
            <p:nvPr/>
          </p:nvGrpSpPr>
          <p:grpSpPr>
            <a:xfrm>
              <a:off x="2780541" y="826356"/>
              <a:ext cx="5016555" cy="5015341"/>
              <a:chOff x="2818248" y="477564"/>
              <a:chExt cx="5016555" cy="5015341"/>
            </a:xfrm>
          </p:grpSpPr>
          <p:cxnSp>
            <p:nvCxnSpPr>
              <p:cNvPr id="61" name="Conector de Seta Reta 60">
                <a:extLst>
                  <a:ext uri="{FF2B5EF4-FFF2-40B4-BE49-F238E27FC236}">
                    <a16:creationId xmlns:a16="http://schemas.microsoft.com/office/drawing/2014/main" id="{9D47C980-0225-D755-F6C5-614B09096B00}"/>
                  </a:ext>
                </a:extLst>
              </p:cNvPr>
              <p:cNvCxnSpPr/>
              <p:nvPr/>
            </p:nvCxnSpPr>
            <p:spPr>
              <a:xfrm>
                <a:off x="3219450" y="4924424"/>
                <a:ext cx="4241071" cy="0"/>
              </a:xfrm>
              <a:prstGeom prst="straightConnector1">
                <a:avLst/>
              </a:prstGeom>
              <a:ln w="57150">
                <a:solidFill>
                  <a:srgbClr val="000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ector de Seta Reta 61">
                <a:extLst>
                  <a:ext uri="{FF2B5EF4-FFF2-40B4-BE49-F238E27FC236}">
                    <a16:creationId xmlns:a16="http://schemas.microsoft.com/office/drawing/2014/main" id="{067604B9-9DE3-1239-F4FC-38BF09923FB4}"/>
                  </a:ext>
                </a:extLst>
              </p:cNvPr>
              <p:cNvCxnSpPr/>
              <p:nvPr/>
            </p:nvCxnSpPr>
            <p:spPr>
              <a:xfrm flipV="1">
                <a:off x="3498748" y="810705"/>
                <a:ext cx="0" cy="4369596"/>
              </a:xfrm>
              <a:prstGeom prst="straightConnector1">
                <a:avLst/>
              </a:prstGeom>
              <a:ln w="57150">
                <a:solidFill>
                  <a:srgbClr val="000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 reto 62">
                <a:extLst>
                  <a:ext uri="{FF2B5EF4-FFF2-40B4-BE49-F238E27FC236}">
                    <a16:creationId xmlns:a16="http://schemas.microsoft.com/office/drawing/2014/main" id="{F24CEE1E-9D1D-3923-D9E3-D2A4D68F23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8553" y="939229"/>
                <a:ext cx="4242061" cy="4241072"/>
              </a:xfrm>
              <a:prstGeom prst="line">
                <a:avLst/>
              </a:prstGeom>
              <a:ln w="57150">
                <a:solidFill>
                  <a:srgbClr val="F2A51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ector reto 63">
                <a:extLst>
                  <a:ext uri="{FF2B5EF4-FFF2-40B4-BE49-F238E27FC236}">
                    <a16:creationId xmlns:a16="http://schemas.microsoft.com/office/drawing/2014/main" id="{F46952D5-3520-FD68-F3F7-7F18C890C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5663" y="2764425"/>
                <a:ext cx="21431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to 64">
                <a:extLst>
                  <a:ext uri="{FF2B5EF4-FFF2-40B4-BE49-F238E27FC236}">
                    <a16:creationId xmlns:a16="http://schemas.microsoft.com/office/drawing/2014/main" id="{4B7919B8-B9F4-2A45-5FFD-A820FAE28B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3623" y="4792449"/>
                <a:ext cx="0" cy="26532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CaixaDeTexto 65">
                <a:extLst>
                  <a:ext uri="{FF2B5EF4-FFF2-40B4-BE49-F238E27FC236}">
                    <a16:creationId xmlns:a16="http://schemas.microsoft.com/office/drawing/2014/main" id="{8AAFD244-4983-076A-BE3D-1D4549280B3B}"/>
                  </a:ext>
                </a:extLst>
              </p:cNvPr>
              <p:cNvSpPr txBox="1"/>
              <p:nvPr/>
            </p:nvSpPr>
            <p:spPr>
              <a:xfrm>
                <a:off x="2891244" y="2579759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1</a:t>
                </a:r>
              </a:p>
            </p:txBody>
          </p:sp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68E2E41E-9A1A-B10C-7995-AF70425A268E}"/>
                  </a:ext>
                </a:extLst>
              </p:cNvPr>
              <p:cNvSpPr txBox="1"/>
              <p:nvPr/>
            </p:nvSpPr>
            <p:spPr>
              <a:xfrm>
                <a:off x="5529574" y="512357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1</a:t>
                </a:r>
              </a:p>
            </p:txBody>
          </p:sp>
          <p:sp>
            <p:nvSpPr>
              <p:cNvPr id="68" name="CaixaDeTexto 67">
                <a:extLst>
                  <a:ext uri="{FF2B5EF4-FFF2-40B4-BE49-F238E27FC236}">
                    <a16:creationId xmlns:a16="http://schemas.microsoft.com/office/drawing/2014/main" id="{D773445D-FBE8-C43F-01C6-A4AF12290973}"/>
                  </a:ext>
                </a:extLst>
              </p:cNvPr>
              <p:cNvSpPr txBox="1"/>
              <p:nvPr/>
            </p:nvSpPr>
            <p:spPr>
              <a:xfrm>
                <a:off x="2888061" y="4739757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0</a:t>
                </a:r>
              </a:p>
            </p:txBody>
          </p:sp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812EE4DC-7553-C740-C1A4-95728303CA7B}"/>
                  </a:ext>
                </a:extLst>
              </p:cNvPr>
              <p:cNvSpPr txBox="1"/>
              <p:nvPr/>
            </p:nvSpPr>
            <p:spPr>
              <a:xfrm>
                <a:off x="3356605" y="512357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0</a:t>
                </a:r>
              </a:p>
            </p:txBody>
          </p:sp>
          <p:sp>
            <p:nvSpPr>
              <p:cNvPr id="70" name="Elipse 69">
                <a:extLst>
                  <a:ext uri="{FF2B5EF4-FFF2-40B4-BE49-F238E27FC236}">
                    <a16:creationId xmlns:a16="http://schemas.microsoft.com/office/drawing/2014/main" id="{19E820D8-1A5D-E6A1-A4D6-2CBA27A1AF57}"/>
                  </a:ext>
                </a:extLst>
              </p:cNvPr>
              <p:cNvSpPr/>
              <p:nvPr/>
            </p:nvSpPr>
            <p:spPr>
              <a:xfrm>
                <a:off x="3266066" y="4691742"/>
                <a:ext cx="465363" cy="465363"/>
              </a:xfrm>
              <a:prstGeom prst="ellipse">
                <a:avLst/>
              </a:prstGeom>
              <a:solidFill>
                <a:srgbClr val="0367A6"/>
              </a:solidFill>
              <a:ln>
                <a:solidFill>
                  <a:srgbClr val="000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0</a:t>
                </a:r>
              </a:p>
            </p:txBody>
          </p:sp>
          <p:sp>
            <p:nvSpPr>
              <p:cNvPr id="71" name="Elipse 70">
                <a:extLst>
                  <a:ext uri="{FF2B5EF4-FFF2-40B4-BE49-F238E27FC236}">
                    <a16:creationId xmlns:a16="http://schemas.microsoft.com/office/drawing/2014/main" id="{B540A1C5-5B16-7009-23CA-7B59F771872A}"/>
                  </a:ext>
                </a:extLst>
              </p:cNvPr>
              <p:cNvSpPr/>
              <p:nvPr/>
            </p:nvSpPr>
            <p:spPr>
              <a:xfrm>
                <a:off x="5450941" y="4691742"/>
                <a:ext cx="465363" cy="465363"/>
              </a:xfrm>
              <a:prstGeom prst="ellipse">
                <a:avLst/>
              </a:prstGeom>
              <a:solidFill>
                <a:srgbClr val="0367A6"/>
              </a:solidFill>
              <a:ln>
                <a:solidFill>
                  <a:srgbClr val="000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0</a:t>
                </a:r>
              </a:p>
            </p:txBody>
          </p:sp>
          <p:sp>
            <p:nvSpPr>
              <p:cNvPr id="72" name="Elipse 71">
                <a:extLst>
                  <a:ext uri="{FF2B5EF4-FFF2-40B4-BE49-F238E27FC236}">
                    <a16:creationId xmlns:a16="http://schemas.microsoft.com/office/drawing/2014/main" id="{799EFC68-D54F-DD5B-723B-A78E3EA03CB0}"/>
                  </a:ext>
                </a:extLst>
              </p:cNvPr>
              <p:cNvSpPr/>
              <p:nvPr/>
            </p:nvSpPr>
            <p:spPr>
              <a:xfrm>
                <a:off x="3277973" y="2525068"/>
                <a:ext cx="465363" cy="465363"/>
              </a:xfrm>
              <a:prstGeom prst="ellipse">
                <a:avLst/>
              </a:prstGeom>
              <a:solidFill>
                <a:srgbClr val="0367A6"/>
              </a:solidFill>
              <a:ln>
                <a:solidFill>
                  <a:srgbClr val="000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0</a:t>
                </a:r>
              </a:p>
            </p:txBody>
          </p:sp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DD3FD1E2-22FA-8934-F9AF-CDE98AAF452C}"/>
                  </a:ext>
                </a:extLst>
              </p:cNvPr>
              <p:cNvSpPr txBox="1"/>
              <p:nvPr/>
            </p:nvSpPr>
            <p:spPr>
              <a:xfrm>
                <a:off x="2818248" y="1139066"/>
                <a:ext cx="620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1,67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CaixaDeTexto 73">
                    <a:extLst>
                      <a:ext uri="{FF2B5EF4-FFF2-40B4-BE49-F238E27FC236}">
                        <a16:creationId xmlns:a16="http://schemas.microsoft.com/office/drawing/2014/main" id="{A3347072-CD58-20E0-D33A-DF8CB28EC89E}"/>
                      </a:ext>
                    </a:extLst>
                  </p:cNvPr>
                  <p:cNvSpPr txBox="1"/>
                  <p:nvPr/>
                </p:nvSpPr>
                <p:spPr>
                  <a:xfrm>
                    <a:off x="3042110" y="477564"/>
                    <a:ext cx="5550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74" name="CaixaDeTexto 73">
                    <a:extLst>
                      <a:ext uri="{FF2B5EF4-FFF2-40B4-BE49-F238E27FC236}">
                        <a16:creationId xmlns:a16="http://schemas.microsoft.com/office/drawing/2014/main" id="{A3347072-CD58-20E0-D33A-DF8CB28EC8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2110" y="477564"/>
                    <a:ext cx="555088" cy="4616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10526" r="-23077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CaixaDeTexto 74">
                    <a:extLst>
                      <a:ext uri="{FF2B5EF4-FFF2-40B4-BE49-F238E27FC236}">
                        <a16:creationId xmlns:a16="http://schemas.microsoft.com/office/drawing/2014/main" id="{F636B1A6-9389-7F16-9725-48D6E8DFC2A4}"/>
                      </a:ext>
                    </a:extLst>
                  </p:cNvPr>
                  <p:cNvSpPr txBox="1"/>
                  <p:nvPr/>
                </p:nvSpPr>
                <p:spPr>
                  <a:xfrm>
                    <a:off x="7286832" y="4761826"/>
                    <a:ext cx="547971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75" name="CaixaDeTexto 74">
                    <a:extLst>
                      <a:ext uri="{FF2B5EF4-FFF2-40B4-BE49-F238E27FC236}">
                        <a16:creationId xmlns:a16="http://schemas.microsoft.com/office/drawing/2014/main" id="{F636B1A6-9389-7F16-9725-48D6E8DFC2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86832" y="4761826"/>
                    <a:ext cx="547971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0526" r="-23333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CDD594E-8EE5-139F-7EAA-76B33BDA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</p:spPr>
        <p:txBody>
          <a:bodyPr/>
          <a:lstStyle/>
          <a:p>
            <a:r>
              <a:rPr lang="pt-BR" dirty="0"/>
              <a:t>MCP: PORTA AND</a:t>
            </a:r>
          </a:p>
        </p:txBody>
      </p:sp>
      <p:sp>
        <p:nvSpPr>
          <p:cNvPr id="27" name="Espaço Reservado para Conteúdo 26">
            <a:extLst>
              <a:ext uri="{FF2B5EF4-FFF2-40B4-BE49-F238E27FC236}">
                <a16:creationId xmlns:a16="http://schemas.microsoft.com/office/drawing/2014/main" id="{2BD1A260-1BE3-31D0-B4D9-E9BE41BDE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663" y="1825625"/>
            <a:ext cx="10371137" cy="4070350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O que os MCP representam?</a:t>
            </a:r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0E36F79-91B3-6FC3-AFF9-817DEB81718C}"/>
              </a:ext>
            </a:extLst>
          </p:cNvPr>
          <p:cNvGraphicFramePr>
            <a:graphicFrameLocks noGrp="1"/>
          </p:cNvGraphicFramePr>
          <p:nvPr/>
        </p:nvGraphicFramePr>
        <p:xfrm>
          <a:off x="10597218" y="592313"/>
          <a:ext cx="151050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502">
                  <a:extLst>
                    <a:ext uri="{9D8B030D-6E8A-4147-A177-3AD203B41FA5}">
                      <a16:colId xmlns:a16="http://schemas.microsoft.com/office/drawing/2014/main" val="597634527"/>
                    </a:ext>
                  </a:extLst>
                </a:gridCol>
                <a:gridCol w="503502">
                  <a:extLst>
                    <a:ext uri="{9D8B030D-6E8A-4147-A177-3AD203B41FA5}">
                      <a16:colId xmlns:a16="http://schemas.microsoft.com/office/drawing/2014/main" val="3538745539"/>
                    </a:ext>
                  </a:extLst>
                </a:gridCol>
                <a:gridCol w="503502">
                  <a:extLst>
                    <a:ext uri="{9D8B030D-6E8A-4147-A177-3AD203B41FA5}">
                      <a16:colId xmlns:a16="http://schemas.microsoft.com/office/drawing/2014/main" val="3526713004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X1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X2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Y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9553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2765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3156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50602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263852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667E2E4D-C32D-0D9F-1732-9703685CC3F8}"/>
              </a:ext>
            </a:extLst>
          </p:cNvPr>
          <p:cNvSpPr txBox="1"/>
          <p:nvPr/>
        </p:nvSpPr>
        <p:spPr>
          <a:xfrm>
            <a:off x="10360345" y="26571"/>
            <a:ext cx="18316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TABELA VERDADE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A728621-C5B8-17D5-F886-4B365B1AA558}"/>
              </a:ext>
            </a:extLst>
          </p:cNvPr>
          <p:cNvSpPr txBox="1"/>
          <p:nvPr/>
        </p:nvSpPr>
        <p:spPr>
          <a:xfrm>
            <a:off x="11049343" y="23882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AND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7978EB2C-D245-B55F-A574-BF0C9436D6A1}"/>
              </a:ext>
            </a:extLst>
          </p:cNvPr>
          <p:cNvGrpSpPr/>
          <p:nvPr/>
        </p:nvGrpSpPr>
        <p:grpSpPr>
          <a:xfrm>
            <a:off x="442964" y="2528561"/>
            <a:ext cx="4527883" cy="1667050"/>
            <a:chOff x="2640040" y="1563871"/>
            <a:chExt cx="8589648" cy="3162487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BA70F082-F124-5140-9FFA-34E745890255}"/>
                </a:ext>
              </a:extLst>
            </p:cNvPr>
            <p:cNvSpPr/>
            <p:nvPr/>
          </p:nvSpPr>
          <p:spPr>
            <a:xfrm>
              <a:off x="5581651" y="2647949"/>
              <a:ext cx="1325562" cy="132556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/>
                <a:t>∑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46B65001-EB94-F153-2AA7-6AF626D23A71}"/>
                </a:ext>
              </a:extLst>
            </p:cNvPr>
            <p:cNvSpPr/>
            <p:nvPr/>
          </p:nvSpPr>
          <p:spPr>
            <a:xfrm>
              <a:off x="8384699" y="2979340"/>
              <a:ext cx="662782" cy="66278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dirty="0"/>
                <a:t>H</a:t>
              </a: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8AA7D0D6-6606-DF24-7866-F6211C79C548}"/>
                </a:ext>
              </a:extLst>
            </p:cNvPr>
            <p:cNvSpPr/>
            <p:nvPr/>
          </p:nvSpPr>
          <p:spPr>
            <a:xfrm>
              <a:off x="3655219" y="2873695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086C6C20-6436-64F2-A5EC-29538BF9CA99}"/>
                </a:ext>
              </a:extLst>
            </p:cNvPr>
            <p:cNvSpPr/>
            <p:nvPr/>
          </p:nvSpPr>
          <p:spPr>
            <a:xfrm>
              <a:off x="3737454" y="4098285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C011BAA6-6894-697E-7856-6A0FC1803355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6244431" y="2025537"/>
              <a:ext cx="2" cy="622415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597C4808-CAC9-71E1-ACCA-01E0753699B0}"/>
                </a:ext>
              </a:extLst>
            </p:cNvPr>
            <p:cNvCxnSpPr>
              <a:cxnSpLocks/>
              <a:stCxn id="10" idx="6"/>
              <a:endCxn id="8" idx="2"/>
            </p:cNvCxnSpPr>
            <p:nvPr/>
          </p:nvCxnSpPr>
          <p:spPr>
            <a:xfrm>
              <a:off x="4021930" y="3057052"/>
              <a:ext cx="1559721" cy="25368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79E8759D-30D4-41FC-D0E8-0371F6CBF2BE}"/>
                </a:ext>
              </a:extLst>
            </p:cNvPr>
            <p:cNvCxnSpPr>
              <a:cxnSpLocks/>
              <a:stCxn id="11" idx="6"/>
              <a:endCxn id="8" idx="3"/>
            </p:cNvCxnSpPr>
            <p:nvPr/>
          </p:nvCxnSpPr>
          <p:spPr>
            <a:xfrm flipV="1">
              <a:off x="4104166" y="3779389"/>
              <a:ext cx="1671609" cy="502252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5BFCBF3B-6D29-8B27-2855-F95615FBC2EC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6907213" y="3310731"/>
              <a:ext cx="139715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076E5A1C-667D-3D3A-2AE5-94D222B413F2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9047481" y="3310731"/>
              <a:ext cx="84794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7653BFF0-7061-2BB3-89BA-A9A7D2150DAD}"/>
                    </a:ext>
                  </a:extLst>
                </p:cNvPr>
                <p:cNvSpPr txBox="1"/>
                <p:nvPr/>
              </p:nvSpPr>
              <p:spPr>
                <a:xfrm>
                  <a:off x="5921266" y="1563871"/>
                  <a:ext cx="864248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7653BFF0-7061-2BB3-89BA-A9A7D2150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266" y="1563871"/>
                  <a:ext cx="864248" cy="58387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1F25B307-0C71-C32B-F1BD-2FFDF899AC7B}"/>
                    </a:ext>
                  </a:extLst>
                </p:cNvPr>
                <p:cNvSpPr txBox="1"/>
                <p:nvPr/>
              </p:nvSpPr>
              <p:spPr>
                <a:xfrm>
                  <a:off x="2640040" y="2750994"/>
                  <a:ext cx="1228801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1F25B307-0C71-C32B-F1BD-2FFDF899A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040" y="2750994"/>
                  <a:ext cx="1228801" cy="583870"/>
                </a:xfrm>
                <a:prstGeom prst="rect">
                  <a:avLst/>
                </a:prstGeom>
                <a:blipFill>
                  <a:blip r:embed="rId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C0FDED8F-D55B-509B-F1C8-A085114C3522}"/>
                    </a:ext>
                  </a:extLst>
                </p:cNvPr>
                <p:cNvSpPr txBox="1"/>
                <p:nvPr/>
              </p:nvSpPr>
              <p:spPr>
                <a:xfrm>
                  <a:off x="2783391" y="4050807"/>
                  <a:ext cx="1236710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C0FDED8F-D55B-509B-F1C8-A085114C3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391" y="4050807"/>
                  <a:ext cx="1236710" cy="583870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BEF95FE4-C3B8-3905-9D02-AD2E578B1F64}"/>
                    </a:ext>
                  </a:extLst>
                </p:cNvPr>
                <p:cNvSpPr txBox="1"/>
                <p:nvPr/>
              </p:nvSpPr>
              <p:spPr>
                <a:xfrm>
                  <a:off x="6334805" y="2025537"/>
                  <a:ext cx="96910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40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pt-BR" sz="1400" dirty="0"/>
                    <a:t>ias</a:t>
                  </a:r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BEF95FE4-C3B8-3905-9D02-AD2E578B1F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4805" y="2025537"/>
                  <a:ext cx="969102" cy="583870"/>
                </a:xfrm>
                <a:prstGeom prst="rect">
                  <a:avLst/>
                </a:prstGeom>
                <a:blipFill>
                  <a:blip r:embed="rId7"/>
                  <a:stretch>
                    <a:fillRect t="-4000" r="-1190" b="-2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67458A5B-DA02-CCD2-9138-F52A338DCD85}"/>
                    </a:ext>
                  </a:extLst>
                </p:cNvPr>
                <p:cNvSpPr txBox="1"/>
                <p:nvPr/>
              </p:nvSpPr>
              <p:spPr>
                <a:xfrm>
                  <a:off x="4178106" y="2486586"/>
                  <a:ext cx="1290715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67458A5B-DA02-CCD2-9138-F52A338DCD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106" y="2486586"/>
                  <a:ext cx="1290715" cy="583870"/>
                </a:xfrm>
                <a:prstGeom prst="rect">
                  <a:avLst/>
                </a:prstGeom>
                <a:blipFill>
                  <a:blip r:embed="rId8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02EEF6AD-6A1E-D9A4-1007-A177DBDD8AC4}"/>
                    </a:ext>
                  </a:extLst>
                </p:cNvPr>
                <p:cNvSpPr txBox="1"/>
                <p:nvPr/>
              </p:nvSpPr>
              <p:spPr>
                <a:xfrm>
                  <a:off x="4279147" y="4142488"/>
                  <a:ext cx="129862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02EEF6AD-6A1E-D9A4-1007-A177DBDD8A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9147" y="4142488"/>
                  <a:ext cx="1298622" cy="583870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4C14FFE5-0B73-D2C3-CC8F-80FBCC9CA6E9}"/>
                    </a:ext>
                  </a:extLst>
                </p:cNvPr>
                <p:cNvSpPr txBox="1"/>
                <p:nvPr/>
              </p:nvSpPr>
              <p:spPr>
                <a:xfrm>
                  <a:off x="6803027" y="3332191"/>
                  <a:ext cx="132818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/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4C14FFE5-0B73-D2C3-CC8F-80FBCC9CA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3027" y="3332191"/>
                  <a:ext cx="1328182" cy="583870"/>
                </a:xfrm>
                <a:prstGeom prst="rect">
                  <a:avLst/>
                </a:prstGeom>
                <a:blipFill>
                  <a:blip r:embed="rId10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ED65902A-E3F0-2D8F-D142-D75114DEF2A8}"/>
                    </a:ext>
                  </a:extLst>
                </p:cNvPr>
                <p:cNvSpPr txBox="1"/>
                <p:nvPr/>
              </p:nvSpPr>
              <p:spPr>
                <a:xfrm>
                  <a:off x="9895424" y="3038564"/>
                  <a:ext cx="1334264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/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ED65902A-E3F0-2D8F-D142-D75114DEF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424" y="3038564"/>
                  <a:ext cx="1334264" cy="583870"/>
                </a:xfrm>
                <a:prstGeom prst="rect">
                  <a:avLst/>
                </a:prstGeom>
                <a:blipFill>
                  <a:blip r:embed="rId11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4D7C2A62-FA71-F5D8-671C-938601EC90B7}"/>
                    </a:ext>
                  </a:extLst>
                </p:cNvPr>
                <p:cNvSpPr txBox="1"/>
                <p:nvPr/>
              </p:nvSpPr>
              <p:spPr>
                <a:xfrm>
                  <a:off x="7157240" y="2827608"/>
                  <a:ext cx="61878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4D7C2A62-FA71-F5D8-671C-938601EC90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240" y="2827608"/>
                  <a:ext cx="618782" cy="583870"/>
                </a:xfrm>
                <a:prstGeom prst="rect">
                  <a:avLst/>
                </a:prstGeom>
                <a:blipFill>
                  <a:blip r:embed="rId1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659B66E4-7669-FB27-FA6C-3D38A6E2EEB7}"/>
                    </a:ext>
                  </a:extLst>
                </p:cNvPr>
                <p:cNvSpPr txBox="1"/>
                <p:nvPr/>
              </p:nvSpPr>
              <p:spPr>
                <a:xfrm>
                  <a:off x="8386674" y="2487200"/>
                  <a:ext cx="610266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659B66E4-7669-FB27-FA6C-3D38A6E2EE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674" y="2487200"/>
                  <a:ext cx="610266" cy="58387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A0CEB6B5-A175-11AF-9FF4-374D7CE2ADE5}"/>
                  </a:ext>
                </a:extLst>
              </p:cNvPr>
              <p:cNvSpPr txBox="1"/>
              <p:nvPr/>
            </p:nvSpPr>
            <p:spPr>
              <a:xfrm>
                <a:off x="978098" y="4664593"/>
                <a:ext cx="26459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+1,67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A0CEB6B5-A175-11AF-9FF4-374D7CE2A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98" y="4664593"/>
                <a:ext cx="2645966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1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262BB-FF33-D705-48DC-A93C982D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 56">
            <a:extLst>
              <a:ext uri="{FF2B5EF4-FFF2-40B4-BE49-F238E27FC236}">
                <a16:creationId xmlns:a16="http://schemas.microsoft.com/office/drawing/2014/main" id="{196AAE56-B7B3-CDDF-80EA-727A85D4F923}"/>
              </a:ext>
            </a:extLst>
          </p:cNvPr>
          <p:cNvSpPr/>
          <p:nvPr/>
        </p:nvSpPr>
        <p:spPr>
          <a:xfrm>
            <a:off x="6692439" y="1703485"/>
            <a:ext cx="4860772" cy="4899017"/>
          </a:xfrm>
          <a:prstGeom prst="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42AA9F9A-4BD4-7315-4EC1-FBD2EF99CEF4}"/>
              </a:ext>
            </a:extLst>
          </p:cNvPr>
          <p:cNvSpPr/>
          <p:nvPr/>
        </p:nvSpPr>
        <p:spPr>
          <a:xfrm>
            <a:off x="7303126" y="2438400"/>
            <a:ext cx="3599488" cy="3572425"/>
          </a:xfrm>
          <a:prstGeom prst="rtTriangle">
            <a:avLst/>
          </a:prstGeom>
          <a:solidFill>
            <a:srgbClr val="F2A51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Triângulo Retângulo 28">
            <a:extLst>
              <a:ext uri="{FF2B5EF4-FFF2-40B4-BE49-F238E27FC236}">
                <a16:creationId xmlns:a16="http://schemas.microsoft.com/office/drawing/2014/main" id="{F1A879B5-713D-833B-4AE9-B9B0AAB70295}"/>
              </a:ext>
            </a:extLst>
          </p:cNvPr>
          <p:cNvSpPr/>
          <p:nvPr/>
        </p:nvSpPr>
        <p:spPr>
          <a:xfrm rot="10800000">
            <a:off x="7321940" y="2392573"/>
            <a:ext cx="3599488" cy="3572425"/>
          </a:xfrm>
          <a:prstGeom prst="rtTriangle">
            <a:avLst/>
          </a:prstGeom>
          <a:solidFill>
            <a:srgbClr val="00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1D2CC0AD-CAA6-66A2-4843-A71710DB4AAE}"/>
              </a:ext>
            </a:extLst>
          </p:cNvPr>
          <p:cNvGrpSpPr/>
          <p:nvPr/>
        </p:nvGrpSpPr>
        <p:grpSpPr>
          <a:xfrm>
            <a:off x="6622626" y="1587161"/>
            <a:ext cx="5016555" cy="5015341"/>
            <a:chOff x="2818248" y="477564"/>
            <a:chExt cx="5016555" cy="5015341"/>
          </a:xfrm>
        </p:grpSpPr>
        <p:cxnSp>
          <p:nvCxnSpPr>
            <p:cNvPr id="61" name="Conector de Seta Reta 60">
              <a:extLst>
                <a:ext uri="{FF2B5EF4-FFF2-40B4-BE49-F238E27FC236}">
                  <a16:creationId xmlns:a16="http://schemas.microsoft.com/office/drawing/2014/main" id="{80EB0AF1-8386-CB88-98B8-7D7F57C004A1}"/>
                </a:ext>
              </a:extLst>
            </p:cNvPr>
            <p:cNvCxnSpPr/>
            <p:nvPr/>
          </p:nvCxnSpPr>
          <p:spPr>
            <a:xfrm>
              <a:off x="3219450" y="4924424"/>
              <a:ext cx="4241071" cy="0"/>
            </a:xfrm>
            <a:prstGeom prst="straightConnector1">
              <a:avLst/>
            </a:prstGeom>
            <a:ln w="5715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de Seta Reta 61">
              <a:extLst>
                <a:ext uri="{FF2B5EF4-FFF2-40B4-BE49-F238E27FC236}">
                  <a16:creationId xmlns:a16="http://schemas.microsoft.com/office/drawing/2014/main" id="{CEFFAD06-CE89-4AA9-4346-1BAF2D4AE598}"/>
                </a:ext>
              </a:extLst>
            </p:cNvPr>
            <p:cNvCxnSpPr/>
            <p:nvPr/>
          </p:nvCxnSpPr>
          <p:spPr>
            <a:xfrm flipV="1">
              <a:off x="3498748" y="810705"/>
              <a:ext cx="0" cy="4369596"/>
            </a:xfrm>
            <a:prstGeom prst="straightConnector1">
              <a:avLst/>
            </a:prstGeom>
            <a:ln w="5715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to 62">
              <a:extLst>
                <a:ext uri="{FF2B5EF4-FFF2-40B4-BE49-F238E27FC236}">
                  <a16:creationId xmlns:a16="http://schemas.microsoft.com/office/drawing/2014/main" id="{F19BAAF7-4AFD-1115-8C49-70EEF749DC00}"/>
                </a:ext>
              </a:extLst>
            </p:cNvPr>
            <p:cNvCxnSpPr>
              <a:cxnSpLocks/>
            </p:cNvCxnSpPr>
            <p:nvPr/>
          </p:nvCxnSpPr>
          <p:spPr>
            <a:xfrm>
              <a:off x="3148553" y="939229"/>
              <a:ext cx="4242061" cy="4241072"/>
            </a:xfrm>
            <a:prstGeom prst="line">
              <a:avLst/>
            </a:prstGeom>
            <a:ln w="57150">
              <a:solidFill>
                <a:srgbClr val="F2A51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to 63">
              <a:extLst>
                <a:ext uri="{FF2B5EF4-FFF2-40B4-BE49-F238E27FC236}">
                  <a16:creationId xmlns:a16="http://schemas.microsoft.com/office/drawing/2014/main" id="{77217FC5-9E90-A9E3-7917-81D8F9270C42}"/>
                </a:ext>
              </a:extLst>
            </p:cNvPr>
            <p:cNvCxnSpPr>
              <a:cxnSpLocks/>
            </p:cNvCxnSpPr>
            <p:nvPr/>
          </p:nvCxnSpPr>
          <p:spPr>
            <a:xfrm>
              <a:off x="3395663" y="2764425"/>
              <a:ext cx="21431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to 64">
              <a:extLst>
                <a:ext uri="{FF2B5EF4-FFF2-40B4-BE49-F238E27FC236}">
                  <a16:creationId xmlns:a16="http://schemas.microsoft.com/office/drawing/2014/main" id="{78D40738-4CE7-6C95-62A5-1CE0DE4148EB}"/>
                </a:ext>
              </a:extLst>
            </p:cNvPr>
            <p:cNvCxnSpPr>
              <a:cxnSpLocks/>
            </p:cNvCxnSpPr>
            <p:nvPr/>
          </p:nvCxnSpPr>
          <p:spPr>
            <a:xfrm>
              <a:off x="5683623" y="4792449"/>
              <a:ext cx="0" cy="2653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CaixaDeTexto 65">
              <a:extLst>
                <a:ext uri="{FF2B5EF4-FFF2-40B4-BE49-F238E27FC236}">
                  <a16:creationId xmlns:a16="http://schemas.microsoft.com/office/drawing/2014/main" id="{82997AEA-2B94-20D3-D9C2-25A792E2BB59}"/>
                </a:ext>
              </a:extLst>
            </p:cNvPr>
            <p:cNvSpPr txBox="1"/>
            <p:nvPr/>
          </p:nvSpPr>
          <p:spPr>
            <a:xfrm>
              <a:off x="2891244" y="257975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id="{11DD68D1-BF6B-7F55-6ED5-EF18CA84015E}"/>
                </a:ext>
              </a:extLst>
            </p:cNvPr>
            <p:cNvSpPr txBox="1"/>
            <p:nvPr/>
          </p:nvSpPr>
          <p:spPr>
            <a:xfrm>
              <a:off x="5529574" y="512357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68" name="CaixaDeTexto 67">
              <a:extLst>
                <a:ext uri="{FF2B5EF4-FFF2-40B4-BE49-F238E27FC236}">
                  <a16:creationId xmlns:a16="http://schemas.microsoft.com/office/drawing/2014/main" id="{320C74C9-FF44-4A72-30F6-B8CBA5B67F10}"/>
                </a:ext>
              </a:extLst>
            </p:cNvPr>
            <p:cNvSpPr txBox="1"/>
            <p:nvPr/>
          </p:nvSpPr>
          <p:spPr>
            <a:xfrm>
              <a:off x="2888061" y="473975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69" name="CaixaDeTexto 68">
              <a:extLst>
                <a:ext uri="{FF2B5EF4-FFF2-40B4-BE49-F238E27FC236}">
                  <a16:creationId xmlns:a16="http://schemas.microsoft.com/office/drawing/2014/main" id="{AEB92B41-1A11-33CA-AAA8-3A247DB35135}"/>
                </a:ext>
              </a:extLst>
            </p:cNvPr>
            <p:cNvSpPr txBox="1"/>
            <p:nvPr/>
          </p:nvSpPr>
          <p:spPr>
            <a:xfrm>
              <a:off x="3356605" y="512357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4ACAE6CA-2EA6-B844-194D-3CF91879E3F8}"/>
                </a:ext>
              </a:extLst>
            </p:cNvPr>
            <p:cNvSpPr/>
            <p:nvPr/>
          </p:nvSpPr>
          <p:spPr>
            <a:xfrm>
              <a:off x="3266066" y="4691742"/>
              <a:ext cx="465363" cy="465363"/>
            </a:xfrm>
            <a:prstGeom prst="ellipse">
              <a:avLst/>
            </a:prstGeom>
            <a:solidFill>
              <a:srgbClr val="0367A6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0</a:t>
              </a:r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6BD94B85-ECCB-A9A8-5FAE-4B0571BD85AD}"/>
                </a:ext>
              </a:extLst>
            </p:cNvPr>
            <p:cNvSpPr/>
            <p:nvPr/>
          </p:nvSpPr>
          <p:spPr>
            <a:xfrm>
              <a:off x="5450941" y="4691742"/>
              <a:ext cx="465363" cy="465363"/>
            </a:xfrm>
            <a:prstGeom prst="ellipse">
              <a:avLst/>
            </a:prstGeom>
            <a:solidFill>
              <a:srgbClr val="0367A6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0</a:t>
              </a:r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1F7D1120-F8CD-0F06-1A00-5D031B073E01}"/>
                </a:ext>
              </a:extLst>
            </p:cNvPr>
            <p:cNvSpPr/>
            <p:nvPr/>
          </p:nvSpPr>
          <p:spPr>
            <a:xfrm>
              <a:off x="3277973" y="2525068"/>
              <a:ext cx="465363" cy="465363"/>
            </a:xfrm>
            <a:prstGeom prst="ellipse">
              <a:avLst/>
            </a:prstGeom>
            <a:solidFill>
              <a:srgbClr val="0367A6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0</a:t>
              </a:r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F743C4B6-362A-E0E6-8698-F58E83D6A08F}"/>
                </a:ext>
              </a:extLst>
            </p:cNvPr>
            <p:cNvSpPr txBox="1"/>
            <p:nvPr/>
          </p:nvSpPr>
          <p:spPr>
            <a:xfrm>
              <a:off x="2818248" y="11390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1,67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aixaDeTexto 73">
                  <a:extLst>
                    <a:ext uri="{FF2B5EF4-FFF2-40B4-BE49-F238E27FC236}">
                      <a16:creationId xmlns:a16="http://schemas.microsoft.com/office/drawing/2014/main" id="{99C9897F-9D39-77EC-EDFC-E5CA25C44E37}"/>
                    </a:ext>
                  </a:extLst>
                </p:cNvPr>
                <p:cNvSpPr txBox="1"/>
                <p:nvPr/>
              </p:nvSpPr>
              <p:spPr>
                <a:xfrm>
                  <a:off x="3042110" y="477564"/>
                  <a:ext cx="5550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74" name="CaixaDeTexto 73">
                  <a:extLst>
                    <a:ext uri="{FF2B5EF4-FFF2-40B4-BE49-F238E27FC236}">
                      <a16:creationId xmlns:a16="http://schemas.microsoft.com/office/drawing/2014/main" id="{99C9897F-9D39-77EC-EDFC-E5CA25C44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2110" y="477564"/>
                  <a:ext cx="555088" cy="461665"/>
                </a:xfrm>
                <a:prstGeom prst="rect">
                  <a:avLst/>
                </a:prstGeom>
                <a:blipFill>
                  <a:blip r:embed="rId2"/>
                  <a:stretch>
                    <a:fillRect t="-10526" r="-23077" b="-2894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CaixaDeTexto 74">
                  <a:extLst>
                    <a:ext uri="{FF2B5EF4-FFF2-40B4-BE49-F238E27FC236}">
                      <a16:creationId xmlns:a16="http://schemas.microsoft.com/office/drawing/2014/main" id="{D28F598A-79F2-5973-D175-57F266F88FD3}"/>
                    </a:ext>
                  </a:extLst>
                </p:cNvPr>
                <p:cNvSpPr txBox="1"/>
                <p:nvPr/>
              </p:nvSpPr>
              <p:spPr>
                <a:xfrm>
                  <a:off x="7286832" y="4761826"/>
                  <a:ext cx="54797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75" name="CaixaDeTexto 74">
                  <a:extLst>
                    <a:ext uri="{FF2B5EF4-FFF2-40B4-BE49-F238E27FC236}">
                      <a16:creationId xmlns:a16="http://schemas.microsoft.com/office/drawing/2014/main" id="{D28F598A-79F2-5973-D175-57F266F88F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832" y="4761826"/>
                  <a:ext cx="547971" cy="461665"/>
                </a:xfrm>
                <a:prstGeom prst="rect">
                  <a:avLst/>
                </a:prstGeom>
                <a:blipFill>
                  <a:blip r:embed="rId3"/>
                  <a:stretch>
                    <a:fillRect t="-10526" r="-23333" b="-2894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" name="Retângulo 59">
            <a:extLst>
              <a:ext uri="{FF2B5EF4-FFF2-40B4-BE49-F238E27FC236}">
                <a16:creationId xmlns:a16="http://schemas.microsoft.com/office/drawing/2014/main" id="{8B1A7019-DF00-9212-2F3E-4EB013907350}"/>
              </a:ext>
            </a:extLst>
          </p:cNvPr>
          <p:cNvSpPr/>
          <p:nvPr/>
        </p:nvSpPr>
        <p:spPr>
          <a:xfrm>
            <a:off x="9531204" y="3266983"/>
            <a:ext cx="643827" cy="623724"/>
          </a:xfrm>
          <a:prstGeom prst="rect">
            <a:avLst/>
          </a:prstGeom>
          <a:noFill/>
          <a:ln>
            <a:solidFill>
              <a:srgbClr val="F2A51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b="1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BC947BCF-C3A1-A3F2-2BCB-FC38E09EAF20}"/>
              </a:ext>
            </a:extLst>
          </p:cNvPr>
          <p:cNvSpPr/>
          <p:nvPr/>
        </p:nvSpPr>
        <p:spPr>
          <a:xfrm>
            <a:off x="8096851" y="4530791"/>
            <a:ext cx="643827" cy="623724"/>
          </a:xfrm>
          <a:prstGeom prst="rect">
            <a:avLst/>
          </a:prstGeom>
          <a:noFill/>
          <a:ln>
            <a:solidFill>
              <a:srgbClr val="00005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b="1" dirty="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3100B5-1C99-6ACC-41F1-8746D8F0B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</p:spPr>
        <p:txBody>
          <a:bodyPr/>
          <a:lstStyle/>
          <a:p>
            <a:r>
              <a:rPr lang="pt-BR" dirty="0"/>
              <a:t>MCP: PORTA AND</a:t>
            </a:r>
          </a:p>
        </p:txBody>
      </p:sp>
      <p:sp>
        <p:nvSpPr>
          <p:cNvPr id="27" name="Espaço Reservado para Conteúdo 26">
            <a:extLst>
              <a:ext uri="{FF2B5EF4-FFF2-40B4-BE49-F238E27FC236}">
                <a16:creationId xmlns:a16="http://schemas.microsoft.com/office/drawing/2014/main" id="{0DC71498-0B06-F046-9427-0ADD21294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663" y="1825625"/>
            <a:ext cx="10371137" cy="4070350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O que os MCP representam?</a:t>
            </a:r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FFF76DE-A804-EE48-2906-45C00929611D}"/>
              </a:ext>
            </a:extLst>
          </p:cNvPr>
          <p:cNvGraphicFramePr>
            <a:graphicFrameLocks noGrp="1"/>
          </p:cNvGraphicFramePr>
          <p:nvPr/>
        </p:nvGraphicFramePr>
        <p:xfrm>
          <a:off x="10597218" y="592313"/>
          <a:ext cx="151050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502">
                  <a:extLst>
                    <a:ext uri="{9D8B030D-6E8A-4147-A177-3AD203B41FA5}">
                      <a16:colId xmlns:a16="http://schemas.microsoft.com/office/drawing/2014/main" val="597634527"/>
                    </a:ext>
                  </a:extLst>
                </a:gridCol>
                <a:gridCol w="503502">
                  <a:extLst>
                    <a:ext uri="{9D8B030D-6E8A-4147-A177-3AD203B41FA5}">
                      <a16:colId xmlns:a16="http://schemas.microsoft.com/office/drawing/2014/main" val="3538745539"/>
                    </a:ext>
                  </a:extLst>
                </a:gridCol>
                <a:gridCol w="503502">
                  <a:extLst>
                    <a:ext uri="{9D8B030D-6E8A-4147-A177-3AD203B41FA5}">
                      <a16:colId xmlns:a16="http://schemas.microsoft.com/office/drawing/2014/main" val="3526713004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X1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X2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/>
                        <a:t>Y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9553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2765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3156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3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50602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263852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8EA74605-C408-5865-D855-8A700FCA1752}"/>
              </a:ext>
            </a:extLst>
          </p:cNvPr>
          <p:cNvSpPr txBox="1"/>
          <p:nvPr/>
        </p:nvSpPr>
        <p:spPr>
          <a:xfrm>
            <a:off x="10360345" y="26571"/>
            <a:ext cx="18316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TABELA VERDADE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915A0AC-5F27-3584-7CDD-2FD7A67DB646}"/>
              </a:ext>
            </a:extLst>
          </p:cNvPr>
          <p:cNvSpPr txBox="1"/>
          <p:nvPr/>
        </p:nvSpPr>
        <p:spPr>
          <a:xfrm>
            <a:off x="11049343" y="23882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AND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DDB41ABF-801B-B932-07EB-970035DFE92C}"/>
              </a:ext>
            </a:extLst>
          </p:cNvPr>
          <p:cNvGrpSpPr/>
          <p:nvPr/>
        </p:nvGrpSpPr>
        <p:grpSpPr>
          <a:xfrm>
            <a:off x="442964" y="2528561"/>
            <a:ext cx="4527883" cy="1667050"/>
            <a:chOff x="2640040" y="1563871"/>
            <a:chExt cx="8589648" cy="3162487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749C66C4-881C-0187-CA14-31ABF36043B2}"/>
                </a:ext>
              </a:extLst>
            </p:cNvPr>
            <p:cNvSpPr/>
            <p:nvPr/>
          </p:nvSpPr>
          <p:spPr>
            <a:xfrm>
              <a:off x="5581651" y="2647949"/>
              <a:ext cx="1325562" cy="132556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/>
                <a:t>∑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D718855C-459A-AF83-B2F9-BF23ABA4CB39}"/>
                </a:ext>
              </a:extLst>
            </p:cNvPr>
            <p:cNvSpPr/>
            <p:nvPr/>
          </p:nvSpPr>
          <p:spPr>
            <a:xfrm>
              <a:off x="8384699" y="2979340"/>
              <a:ext cx="662782" cy="66278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dirty="0"/>
                <a:t>H</a:t>
              </a: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7204119D-ECB9-09A3-477F-309D417F86EB}"/>
                </a:ext>
              </a:extLst>
            </p:cNvPr>
            <p:cNvSpPr/>
            <p:nvPr/>
          </p:nvSpPr>
          <p:spPr>
            <a:xfrm>
              <a:off x="3655219" y="2873695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29A5A104-5B65-9CC5-8F71-0F9DA6CAD281}"/>
                </a:ext>
              </a:extLst>
            </p:cNvPr>
            <p:cNvSpPr/>
            <p:nvPr/>
          </p:nvSpPr>
          <p:spPr>
            <a:xfrm>
              <a:off x="3737454" y="4098285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3D3E7E0A-91B8-03DA-DE25-76EB4153C582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6244431" y="2025537"/>
              <a:ext cx="2" cy="622415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4EFE119C-FD7D-C5E3-E45D-FAC5E4EDC361}"/>
                </a:ext>
              </a:extLst>
            </p:cNvPr>
            <p:cNvCxnSpPr>
              <a:cxnSpLocks/>
              <a:stCxn id="10" idx="6"/>
              <a:endCxn id="8" idx="2"/>
            </p:cNvCxnSpPr>
            <p:nvPr/>
          </p:nvCxnSpPr>
          <p:spPr>
            <a:xfrm>
              <a:off x="4021930" y="3057052"/>
              <a:ext cx="1559721" cy="25368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0B15D8B2-0028-24B7-39B3-D3D2A1CCE876}"/>
                </a:ext>
              </a:extLst>
            </p:cNvPr>
            <p:cNvCxnSpPr>
              <a:cxnSpLocks/>
              <a:stCxn id="11" idx="6"/>
              <a:endCxn id="8" idx="3"/>
            </p:cNvCxnSpPr>
            <p:nvPr/>
          </p:nvCxnSpPr>
          <p:spPr>
            <a:xfrm flipV="1">
              <a:off x="4104166" y="3779389"/>
              <a:ext cx="1671609" cy="502252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84C528C3-3EFE-4122-9B05-89796256FF49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6907213" y="3310731"/>
              <a:ext cx="139715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C411B0C2-1EB8-ACDE-D7AD-D12C9ECC27A4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9047481" y="3310731"/>
              <a:ext cx="84794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DB473F43-2D31-9808-C4D1-42ACDD0D00EB}"/>
                    </a:ext>
                  </a:extLst>
                </p:cNvPr>
                <p:cNvSpPr txBox="1"/>
                <p:nvPr/>
              </p:nvSpPr>
              <p:spPr>
                <a:xfrm>
                  <a:off x="5921266" y="1563871"/>
                  <a:ext cx="864248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DB473F43-2D31-9808-C4D1-42ACDD0D0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266" y="1563871"/>
                  <a:ext cx="864248" cy="58387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FD45DA2D-237B-4392-807F-01508219B2AE}"/>
                    </a:ext>
                  </a:extLst>
                </p:cNvPr>
                <p:cNvSpPr txBox="1"/>
                <p:nvPr/>
              </p:nvSpPr>
              <p:spPr>
                <a:xfrm>
                  <a:off x="2640040" y="2750994"/>
                  <a:ext cx="1228801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FD45DA2D-237B-4392-807F-01508219B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040" y="2750994"/>
                  <a:ext cx="1228801" cy="583870"/>
                </a:xfrm>
                <a:prstGeom prst="rect">
                  <a:avLst/>
                </a:prstGeom>
                <a:blipFill>
                  <a:blip r:embed="rId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AF9A8418-582E-7D6B-7E39-9BDF1C9A74D1}"/>
                    </a:ext>
                  </a:extLst>
                </p:cNvPr>
                <p:cNvSpPr txBox="1"/>
                <p:nvPr/>
              </p:nvSpPr>
              <p:spPr>
                <a:xfrm>
                  <a:off x="2783391" y="4050807"/>
                  <a:ext cx="1236710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AF9A8418-582E-7D6B-7E39-9BDF1C9A7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391" y="4050807"/>
                  <a:ext cx="1236710" cy="583870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6DD9EAFA-A98E-7B41-6284-06AD8FDE34F3}"/>
                    </a:ext>
                  </a:extLst>
                </p:cNvPr>
                <p:cNvSpPr txBox="1"/>
                <p:nvPr/>
              </p:nvSpPr>
              <p:spPr>
                <a:xfrm>
                  <a:off x="6334805" y="2025537"/>
                  <a:ext cx="96910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40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pt-BR" sz="1400" dirty="0"/>
                    <a:t>ias</a:t>
                  </a:r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6DD9EAFA-A98E-7B41-6284-06AD8FDE34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4805" y="2025537"/>
                  <a:ext cx="969102" cy="583870"/>
                </a:xfrm>
                <a:prstGeom prst="rect">
                  <a:avLst/>
                </a:prstGeom>
                <a:blipFill>
                  <a:blip r:embed="rId7"/>
                  <a:stretch>
                    <a:fillRect t="-4000" r="-1190" b="-2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98C371ED-01D1-3073-A009-8B9A62385CEE}"/>
                    </a:ext>
                  </a:extLst>
                </p:cNvPr>
                <p:cNvSpPr txBox="1"/>
                <p:nvPr/>
              </p:nvSpPr>
              <p:spPr>
                <a:xfrm>
                  <a:off x="4178106" y="2486586"/>
                  <a:ext cx="1290715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98C371ED-01D1-3073-A009-8B9A62385C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106" y="2486586"/>
                  <a:ext cx="1290715" cy="583870"/>
                </a:xfrm>
                <a:prstGeom prst="rect">
                  <a:avLst/>
                </a:prstGeom>
                <a:blipFill>
                  <a:blip r:embed="rId8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8E0D3579-FC7B-3A23-E60D-1B2F9D83186D}"/>
                    </a:ext>
                  </a:extLst>
                </p:cNvPr>
                <p:cNvSpPr txBox="1"/>
                <p:nvPr/>
              </p:nvSpPr>
              <p:spPr>
                <a:xfrm>
                  <a:off x="4279147" y="4142488"/>
                  <a:ext cx="129862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8E0D3579-FC7B-3A23-E60D-1B2F9D8318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9147" y="4142488"/>
                  <a:ext cx="1298622" cy="583870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233E8ECE-7576-59CA-F40E-C9A2F5494F72}"/>
                    </a:ext>
                  </a:extLst>
                </p:cNvPr>
                <p:cNvSpPr txBox="1"/>
                <p:nvPr/>
              </p:nvSpPr>
              <p:spPr>
                <a:xfrm>
                  <a:off x="6803027" y="3332191"/>
                  <a:ext cx="132818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/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233E8ECE-7576-59CA-F40E-C9A2F5494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3027" y="3332191"/>
                  <a:ext cx="1328182" cy="583870"/>
                </a:xfrm>
                <a:prstGeom prst="rect">
                  <a:avLst/>
                </a:prstGeom>
                <a:blipFill>
                  <a:blip r:embed="rId10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FD4B5555-C0C7-AA67-D920-F5B8ADE06B2E}"/>
                    </a:ext>
                  </a:extLst>
                </p:cNvPr>
                <p:cNvSpPr txBox="1"/>
                <p:nvPr/>
              </p:nvSpPr>
              <p:spPr>
                <a:xfrm>
                  <a:off x="9895424" y="3038564"/>
                  <a:ext cx="1334264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/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FD4B5555-C0C7-AA67-D920-F5B8ADE06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424" y="3038564"/>
                  <a:ext cx="1334264" cy="583870"/>
                </a:xfrm>
                <a:prstGeom prst="rect">
                  <a:avLst/>
                </a:prstGeom>
                <a:blipFill>
                  <a:blip r:embed="rId11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AE979665-47CE-B09B-F78E-46DAA1425022}"/>
                    </a:ext>
                  </a:extLst>
                </p:cNvPr>
                <p:cNvSpPr txBox="1"/>
                <p:nvPr/>
              </p:nvSpPr>
              <p:spPr>
                <a:xfrm>
                  <a:off x="7157240" y="2827608"/>
                  <a:ext cx="618782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AE979665-47CE-B09B-F78E-46DAA1425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240" y="2827608"/>
                  <a:ext cx="618782" cy="583870"/>
                </a:xfrm>
                <a:prstGeom prst="rect">
                  <a:avLst/>
                </a:prstGeom>
                <a:blipFill>
                  <a:blip r:embed="rId1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8652075F-5098-FB27-E8E5-1C14E33F3236}"/>
                    </a:ext>
                  </a:extLst>
                </p:cNvPr>
                <p:cNvSpPr txBox="1"/>
                <p:nvPr/>
              </p:nvSpPr>
              <p:spPr>
                <a:xfrm>
                  <a:off x="8386674" y="2487200"/>
                  <a:ext cx="610266" cy="583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8652075F-5098-FB27-E8E5-1C14E33F3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674" y="2487200"/>
                  <a:ext cx="610266" cy="58387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39C936B-75E6-09DA-09F4-870BB79F7DDD}"/>
                  </a:ext>
                </a:extLst>
              </p:cNvPr>
              <p:cNvSpPr txBox="1"/>
              <p:nvPr/>
            </p:nvSpPr>
            <p:spPr>
              <a:xfrm>
                <a:off x="978098" y="4664593"/>
                <a:ext cx="26459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+1,67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39C936B-75E6-09DA-09F4-870BB79F7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98" y="4664593"/>
                <a:ext cx="2645966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452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7ED2D-8687-B4C7-A550-B991A98B2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08B4C-FF74-202F-C3CE-4D4A0BF6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MCP: PORTA AND</a:t>
            </a:r>
          </a:p>
        </p:txBody>
      </p:sp>
      <p:sp>
        <p:nvSpPr>
          <p:cNvPr id="27" name="Espaço Reservado para Conteúdo 26">
            <a:extLst>
              <a:ext uri="{FF2B5EF4-FFF2-40B4-BE49-F238E27FC236}">
                <a16:creationId xmlns:a16="http://schemas.microsoft.com/office/drawing/2014/main" id="{D85D8094-0D3D-8BBB-1A1E-0D021969E0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O que o bias representa?</a:t>
            </a:r>
          </a:p>
          <a:p>
            <a:pPr marL="0" indent="0">
              <a:buNone/>
            </a:pPr>
            <a:r>
              <a:rPr lang="pt-BR" dirty="0"/>
              <a:t>R: O deslocamento da reta em relação a origem do sistema</a:t>
            </a:r>
          </a:p>
          <a:p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3D9C7772-ECBF-CC16-0413-01C7E70698A8}"/>
              </a:ext>
            </a:extLst>
          </p:cNvPr>
          <p:cNvGrpSpPr/>
          <p:nvPr/>
        </p:nvGrpSpPr>
        <p:grpSpPr>
          <a:xfrm>
            <a:off x="6714207" y="1740092"/>
            <a:ext cx="5016555" cy="5015341"/>
            <a:chOff x="2818248" y="477564"/>
            <a:chExt cx="5016555" cy="5015341"/>
          </a:xfrm>
        </p:grpSpPr>
        <p:cxnSp>
          <p:nvCxnSpPr>
            <p:cNvPr id="30" name="Conector de Seta Reta 29">
              <a:extLst>
                <a:ext uri="{FF2B5EF4-FFF2-40B4-BE49-F238E27FC236}">
                  <a16:creationId xmlns:a16="http://schemas.microsoft.com/office/drawing/2014/main" id="{DCD68BFF-80B5-1E74-9F96-C35348590603}"/>
                </a:ext>
              </a:extLst>
            </p:cNvPr>
            <p:cNvCxnSpPr/>
            <p:nvPr/>
          </p:nvCxnSpPr>
          <p:spPr>
            <a:xfrm>
              <a:off x="3219450" y="4924424"/>
              <a:ext cx="4241071" cy="0"/>
            </a:xfrm>
            <a:prstGeom prst="straightConnector1">
              <a:avLst/>
            </a:prstGeom>
            <a:ln w="5715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523CC10E-FA95-BFF2-02F0-E936F3253EB8}"/>
                </a:ext>
              </a:extLst>
            </p:cNvPr>
            <p:cNvCxnSpPr/>
            <p:nvPr/>
          </p:nvCxnSpPr>
          <p:spPr>
            <a:xfrm flipV="1">
              <a:off x="3498748" y="810705"/>
              <a:ext cx="0" cy="4369596"/>
            </a:xfrm>
            <a:prstGeom prst="straightConnector1">
              <a:avLst/>
            </a:prstGeom>
            <a:ln w="5715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89350193-97A0-829B-CDCD-F1770E7DE6F8}"/>
                </a:ext>
              </a:extLst>
            </p:cNvPr>
            <p:cNvCxnSpPr>
              <a:cxnSpLocks/>
            </p:cNvCxnSpPr>
            <p:nvPr/>
          </p:nvCxnSpPr>
          <p:spPr>
            <a:xfrm>
              <a:off x="3395663" y="2764425"/>
              <a:ext cx="21431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to 33">
              <a:extLst>
                <a:ext uri="{FF2B5EF4-FFF2-40B4-BE49-F238E27FC236}">
                  <a16:creationId xmlns:a16="http://schemas.microsoft.com/office/drawing/2014/main" id="{8DB002A1-56F8-6E13-F41E-2E281CF0FAEE}"/>
                </a:ext>
              </a:extLst>
            </p:cNvPr>
            <p:cNvCxnSpPr>
              <a:cxnSpLocks/>
            </p:cNvCxnSpPr>
            <p:nvPr/>
          </p:nvCxnSpPr>
          <p:spPr>
            <a:xfrm>
              <a:off x="5683623" y="4792449"/>
              <a:ext cx="0" cy="2653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30908A37-DC2B-FC2D-5C14-43F9C1620506}"/>
                </a:ext>
              </a:extLst>
            </p:cNvPr>
            <p:cNvSpPr txBox="1"/>
            <p:nvPr/>
          </p:nvSpPr>
          <p:spPr>
            <a:xfrm>
              <a:off x="2891244" y="257975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4F21AADE-B17C-D898-3B99-7CA80E4749C2}"/>
                </a:ext>
              </a:extLst>
            </p:cNvPr>
            <p:cNvSpPr txBox="1"/>
            <p:nvPr/>
          </p:nvSpPr>
          <p:spPr>
            <a:xfrm>
              <a:off x="5529574" y="512357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93D460EA-356C-DECF-9A04-95B467ECC2A3}"/>
                </a:ext>
              </a:extLst>
            </p:cNvPr>
            <p:cNvSpPr txBox="1"/>
            <p:nvPr/>
          </p:nvSpPr>
          <p:spPr>
            <a:xfrm>
              <a:off x="2888061" y="473975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7D84E01A-07B8-7648-9561-E2378BFB1E17}"/>
                </a:ext>
              </a:extLst>
            </p:cNvPr>
            <p:cNvSpPr txBox="1"/>
            <p:nvPr/>
          </p:nvSpPr>
          <p:spPr>
            <a:xfrm>
              <a:off x="3356605" y="512357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32D1BCB9-1EA3-A032-1166-93D5DB05073E}"/>
                </a:ext>
              </a:extLst>
            </p:cNvPr>
            <p:cNvSpPr/>
            <p:nvPr/>
          </p:nvSpPr>
          <p:spPr>
            <a:xfrm>
              <a:off x="3266066" y="4691742"/>
              <a:ext cx="465363" cy="465363"/>
            </a:xfrm>
            <a:prstGeom prst="ellipse">
              <a:avLst/>
            </a:prstGeom>
            <a:solidFill>
              <a:srgbClr val="0367A6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0</a:t>
              </a: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DD3845D-F97A-5318-E767-45326E00AC4E}"/>
                </a:ext>
              </a:extLst>
            </p:cNvPr>
            <p:cNvSpPr/>
            <p:nvPr/>
          </p:nvSpPr>
          <p:spPr>
            <a:xfrm>
              <a:off x="5450941" y="4691742"/>
              <a:ext cx="465363" cy="465363"/>
            </a:xfrm>
            <a:prstGeom prst="ellipse">
              <a:avLst/>
            </a:prstGeom>
            <a:solidFill>
              <a:srgbClr val="0367A6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0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E8A63BBA-BB88-B6E9-56FF-D7E024D18866}"/>
                </a:ext>
              </a:extLst>
            </p:cNvPr>
            <p:cNvSpPr/>
            <p:nvPr/>
          </p:nvSpPr>
          <p:spPr>
            <a:xfrm>
              <a:off x="3277973" y="2525068"/>
              <a:ext cx="465363" cy="465363"/>
            </a:xfrm>
            <a:prstGeom prst="ellipse">
              <a:avLst/>
            </a:prstGeom>
            <a:solidFill>
              <a:srgbClr val="0367A6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0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DDFA71DF-7217-F952-BD29-D010CE446E75}"/>
                </a:ext>
              </a:extLst>
            </p:cNvPr>
            <p:cNvSpPr txBox="1"/>
            <p:nvPr/>
          </p:nvSpPr>
          <p:spPr>
            <a:xfrm>
              <a:off x="2818248" y="11390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1,67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BCAC85BB-70E1-F215-B6D6-F9E4CD0B614F}"/>
                    </a:ext>
                  </a:extLst>
                </p:cNvPr>
                <p:cNvSpPr txBox="1"/>
                <p:nvPr/>
              </p:nvSpPr>
              <p:spPr>
                <a:xfrm>
                  <a:off x="3042110" y="477564"/>
                  <a:ext cx="5550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BCAC85BB-70E1-F215-B6D6-F9E4CD0B6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2110" y="477564"/>
                  <a:ext cx="555088" cy="461665"/>
                </a:xfrm>
                <a:prstGeom prst="rect">
                  <a:avLst/>
                </a:prstGeom>
                <a:blipFill>
                  <a:blip r:embed="rId2"/>
                  <a:stretch>
                    <a:fillRect t="-10526" r="-23077" b="-2894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aixaDeTexto 44">
                  <a:extLst>
                    <a:ext uri="{FF2B5EF4-FFF2-40B4-BE49-F238E27FC236}">
                      <a16:creationId xmlns:a16="http://schemas.microsoft.com/office/drawing/2014/main" id="{C1EAD8DE-A413-A900-0D6F-2298C16C46A8}"/>
                    </a:ext>
                  </a:extLst>
                </p:cNvPr>
                <p:cNvSpPr txBox="1"/>
                <p:nvPr/>
              </p:nvSpPr>
              <p:spPr>
                <a:xfrm>
                  <a:off x="7286832" y="4761826"/>
                  <a:ext cx="54797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45" name="CaixaDeTexto 44">
                  <a:extLst>
                    <a:ext uri="{FF2B5EF4-FFF2-40B4-BE49-F238E27FC236}">
                      <a16:creationId xmlns:a16="http://schemas.microsoft.com/office/drawing/2014/main" id="{C1EAD8DE-A413-A900-0D6F-2298C16C4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832" y="4761826"/>
                  <a:ext cx="547971" cy="461665"/>
                </a:xfrm>
                <a:prstGeom prst="rect">
                  <a:avLst/>
                </a:prstGeom>
                <a:blipFill>
                  <a:blip r:embed="rId3"/>
                  <a:stretch>
                    <a:fillRect t="-10526" r="-23333" b="-2894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BE89E6CC-ABC2-517A-4CD9-D1B888B08958}"/>
              </a:ext>
            </a:extLst>
          </p:cNvPr>
          <p:cNvCxnSpPr>
            <a:cxnSpLocks/>
          </p:cNvCxnSpPr>
          <p:nvPr/>
        </p:nvCxnSpPr>
        <p:spPr>
          <a:xfrm>
            <a:off x="7040030" y="2210958"/>
            <a:ext cx="4242061" cy="4241072"/>
          </a:xfrm>
          <a:prstGeom prst="line">
            <a:avLst/>
          </a:prstGeom>
          <a:ln w="57150">
            <a:solidFill>
              <a:srgbClr val="F2A5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21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531 0.26921 L -2.29167E-6 -1.48148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66" y="-1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81133-1D2E-3DFF-82D8-055C13606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3D100-58A3-08E1-08F4-9E326FEAD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9971461" cy="1325563"/>
          </a:xfrm>
        </p:spPr>
        <p:txBody>
          <a:bodyPr/>
          <a:lstStyle/>
          <a:p>
            <a:r>
              <a:rPr lang="pt-BR" dirty="0"/>
              <a:t>MCP: PORTA AND</a:t>
            </a:r>
          </a:p>
        </p:txBody>
      </p:sp>
      <p:sp>
        <p:nvSpPr>
          <p:cNvPr id="27" name="Espaço Reservado para Conteúdo 26">
            <a:extLst>
              <a:ext uri="{FF2B5EF4-FFF2-40B4-BE49-F238E27FC236}">
                <a16:creationId xmlns:a16="http://schemas.microsoft.com/office/drawing/2014/main" id="{B6FD1857-8A85-7694-8EF2-953A7574F6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Qual é o problema do MCP?</a:t>
            </a:r>
          </a:p>
          <a:p>
            <a:pPr marL="0" indent="0">
              <a:buNone/>
            </a:pPr>
            <a:r>
              <a:rPr lang="pt-BR" dirty="0"/>
              <a:t>R: Precisamos configurar de forma manual cada um dos parâmetros da rede.</a:t>
            </a:r>
          </a:p>
          <a:p>
            <a:endParaRPr lang="pt-BR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E10F9F3-4BCB-CECF-B308-4DA6DA62EC88}"/>
              </a:ext>
            </a:extLst>
          </p:cNvPr>
          <p:cNvGrpSpPr/>
          <p:nvPr/>
        </p:nvGrpSpPr>
        <p:grpSpPr>
          <a:xfrm>
            <a:off x="6714207" y="1740092"/>
            <a:ext cx="5016555" cy="5015341"/>
            <a:chOff x="2535444" y="845210"/>
            <a:chExt cx="5016555" cy="5015341"/>
          </a:xfrm>
        </p:grpSpPr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90F47B41-1286-BDB0-5951-73C7030A1609}"/>
                </a:ext>
              </a:extLst>
            </p:cNvPr>
            <p:cNvGrpSpPr/>
            <p:nvPr/>
          </p:nvGrpSpPr>
          <p:grpSpPr>
            <a:xfrm>
              <a:off x="2535444" y="845210"/>
              <a:ext cx="5016555" cy="5015341"/>
              <a:chOff x="2818248" y="477564"/>
              <a:chExt cx="5016555" cy="5015341"/>
            </a:xfrm>
          </p:grpSpPr>
          <p:cxnSp>
            <p:nvCxnSpPr>
              <p:cNvPr id="30" name="Conector de Seta Reta 29">
                <a:extLst>
                  <a:ext uri="{FF2B5EF4-FFF2-40B4-BE49-F238E27FC236}">
                    <a16:creationId xmlns:a16="http://schemas.microsoft.com/office/drawing/2014/main" id="{8126B77A-2BE6-D0D2-5BD9-2855A8A31A7E}"/>
                  </a:ext>
                </a:extLst>
              </p:cNvPr>
              <p:cNvCxnSpPr/>
              <p:nvPr/>
            </p:nvCxnSpPr>
            <p:spPr>
              <a:xfrm>
                <a:off x="3219450" y="4924424"/>
                <a:ext cx="4241071" cy="0"/>
              </a:xfrm>
              <a:prstGeom prst="straightConnector1">
                <a:avLst/>
              </a:prstGeom>
              <a:ln w="57150">
                <a:solidFill>
                  <a:srgbClr val="000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de Seta Reta 30">
                <a:extLst>
                  <a:ext uri="{FF2B5EF4-FFF2-40B4-BE49-F238E27FC236}">
                    <a16:creationId xmlns:a16="http://schemas.microsoft.com/office/drawing/2014/main" id="{3D8D7399-3262-8D26-D000-A5C755ACDEA2}"/>
                  </a:ext>
                </a:extLst>
              </p:cNvPr>
              <p:cNvCxnSpPr/>
              <p:nvPr/>
            </p:nvCxnSpPr>
            <p:spPr>
              <a:xfrm flipV="1">
                <a:off x="3498748" y="810705"/>
                <a:ext cx="0" cy="4369596"/>
              </a:xfrm>
              <a:prstGeom prst="straightConnector1">
                <a:avLst/>
              </a:prstGeom>
              <a:ln w="57150">
                <a:solidFill>
                  <a:srgbClr val="000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to 31">
                <a:extLst>
                  <a:ext uri="{FF2B5EF4-FFF2-40B4-BE49-F238E27FC236}">
                    <a16:creationId xmlns:a16="http://schemas.microsoft.com/office/drawing/2014/main" id="{A4FB4EFF-6AAE-3229-E49B-F233824A6F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8553" y="939229"/>
                <a:ext cx="4242061" cy="4241072"/>
              </a:xfrm>
              <a:prstGeom prst="line">
                <a:avLst/>
              </a:prstGeom>
              <a:ln w="57150">
                <a:solidFill>
                  <a:srgbClr val="F2A51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to 32">
                <a:extLst>
                  <a:ext uri="{FF2B5EF4-FFF2-40B4-BE49-F238E27FC236}">
                    <a16:creationId xmlns:a16="http://schemas.microsoft.com/office/drawing/2014/main" id="{5B6C3029-E57B-A8E2-8B18-735FA82B79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5663" y="2764425"/>
                <a:ext cx="21431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to 33">
                <a:extLst>
                  <a:ext uri="{FF2B5EF4-FFF2-40B4-BE49-F238E27FC236}">
                    <a16:creationId xmlns:a16="http://schemas.microsoft.com/office/drawing/2014/main" id="{868E9462-B79E-A7D9-09CF-0511CC9A6D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3623" y="4792449"/>
                <a:ext cx="0" cy="26532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D9F66179-0316-4F9C-08EF-952D6F85CED8}"/>
                  </a:ext>
                </a:extLst>
              </p:cNvPr>
              <p:cNvSpPr txBox="1"/>
              <p:nvPr/>
            </p:nvSpPr>
            <p:spPr>
              <a:xfrm>
                <a:off x="2891244" y="2579759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1</a:t>
                </a:r>
              </a:p>
            </p:txBody>
          </p:sp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446037C7-340F-FE18-DF6D-913D47EFA037}"/>
                  </a:ext>
                </a:extLst>
              </p:cNvPr>
              <p:cNvSpPr txBox="1"/>
              <p:nvPr/>
            </p:nvSpPr>
            <p:spPr>
              <a:xfrm>
                <a:off x="5529574" y="512357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1</a:t>
                </a:r>
              </a:p>
            </p:txBody>
          </p:sp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55FE85F3-9D50-2AFC-6459-DA0940CBC898}"/>
                  </a:ext>
                </a:extLst>
              </p:cNvPr>
              <p:cNvSpPr txBox="1"/>
              <p:nvPr/>
            </p:nvSpPr>
            <p:spPr>
              <a:xfrm>
                <a:off x="2888061" y="4739757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0</a:t>
                </a:r>
              </a:p>
            </p:txBody>
          </p:sp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E628827E-F97E-F776-2B3F-33E1670E674C}"/>
                  </a:ext>
                </a:extLst>
              </p:cNvPr>
              <p:cNvSpPr txBox="1"/>
              <p:nvPr/>
            </p:nvSpPr>
            <p:spPr>
              <a:xfrm>
                <a:off x="3356605" y="512357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0</a:t>
                </a:r>
              </a:p>
            </p:txBody>
          </p:sp>
          <p:sp>
            <p:nvSpPr>
              <p:cNvPr id="40" name="Elipse 39">
                <a:extLst>
                  <a:ext uri="{FF2B5EF4-FFF2-40B4-BE49-F238E27FC236}">
                    <a16:creationId xmlns:a16="http://schemas.microsoft.com/office/drawing/2014/main" id="{7CDCB542-BBE1-6114-BF0D-0E83A2577A9F}"/>
                  </a:ext>
                </a:extLst>
              </p:cNvPr>
              <p:cNvSpPr/>
              <p:nvPr/>
            </p:nvSpPr>
            <p:spPr>
              <a:xfrm>
                <a:off x="3266066" y="4691742"/>
                <a:ext cx="465363" cy="465363"/>
              </a:xfrm>
              <a:prstGeom prst="ellipse">
                <a:avLst/>
              </a:prstGeom>
              <a:solidFill>
                <a:srgbClr val="0367A6"/>
              </a:solidFill>
              <a:ln>
                <a:solidFill>
                  <a:srgbClr val="000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0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CE28592C-A490-4E47-057B-7987D4D7AE71}"/>
                  </a:ext>
                </a:extLst>
              </p:cNvPr>
              <p:cNvSpPr/>
              <p:nvPr/>
            </p:nvSpPr>
            <p:spPr>
              <a:xfrm>
                <a:off x="5450941" y="4691742"/>
                <a:ext cx="465363" cy="465363"/>
              </a:xfrm>
              <a:prstGeom prst="ellipse">
                <a:avLst/>
              </a:prstGeom>
              <a:solidFill>
                <a:srgbClr val="0367A6"/>
              </a:solidFill>
              <a:ln>
                <a:solidFill>
                  <a:srgbClr val="000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0</a:t>
                </a:r>
              </a:p>
            </p:txBody>
          </p:sp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3DD99EB3-13E0-4D1E-B43D-AAED38B10552}"/>
                  </a:ext>
                </a:extLst>
              </p:cNvPr>
              <p:cNvSpPr/>
              <p:nvPr/>
            </p:nvSpPr>
            <p:spPr>
              <a:xfrm>
                <a:off x="3277973" y="2525068"/>
                <a:ext cx="465363" cy="465363"/>
              </a:xfrm>
              <a:prstGeom prst="ellipse">
                <a:avLst/>
              </a:prstGeom>
              <a:solidFill>
                <a:srgbClr val="0367A6"/>
              </a:solidFill>
              <a:ln>
                <a:solidFill>
                  <a:srgbClr val="000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0</a:t>
                </a:r>
              </a:p>
            </p:txBody>
          </p:sp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D0A2A400-98D0-DA0F-4E31-309096B16A25}"/>
                  </a:ext>
                </a:extLst>
              </p:cNvPr>
              <p:cNvSpPr txBox="1"/>
              <p:nvPr/>
            </p:nvSpPr>
            <p:spPr>
              <a:xfrm>
                <a:off x="2818248" y="1139066"/>
                <a:ext cx="620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1,67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CaixaDeTexto 43">
                    <a:extLst>
                      <a:ext uri="{FF2B5EF4-FFF2-40B4-BE49-F238E27FC236}">
                        <a16:creationId xmlns:a16="http://schemas.microsoft.com/office/drawing/2014/main" id="{13DF62A1-CA33-2B18-75FC-3E1E51A664A9}"/>
                      </a:ext>
                    </a:extLst>
                  </p:cNvPr>
                  <p:cNvSpPr txBox="1"/>
                  <p:nvPr/>
                </p:nvSpPr>
                <p:spPr>
                  <a:xfrm>
                    <a:off x="3042110" y="477564"/>
                    <a:ext cx="5550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44" name="CaixaDeTexto 43">
                    <a:extLst>
                      <a:ext uri="{FF2B5EF4-FFF2-40B4-BE49-F238E27FC236}">
                        <a16:creationId xmlns:a16="http://schemas.microsoft.com/office/drawing/2014/main" id="{13DF62A1-CA33-2B18-75FC-3E1E51A664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2110" y="477564"/>
                    <a:ext cx="555088" cy="4616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10526" r="-23077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CaixaDeTexto 44">
                    <a:extLst>
                      <a:ext uri="{FF2B5EF4-FFF2-40B4-BE49-F238E27FC236}">
                        <a16:creationId xmlns:a16="http://schemas.microsoft.com/office/drawing/2014/main" id="{C7C78F4F-6B56-EF35-D8FA-A745DFB33EDF}"/>
                      </a:ext>
                    </a:extLst>
                  </p:cNvPr>
                  <p:cNvSpPr txBox="1"/>
                  <p:nvPr/>
                </p:nvSpPr>
                <p:spPr>
                  <a:xfrm>
                    <a:off x="7286832" y="4761826"/>
                    <a:ext cx="547971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45" name="CaixaDeTexto 44">
                    <a:extLst>
                      <a:ext uri="{FF2B5EF4-FFF2-40B4-BE49-F238E27FC236}">
                        <a16:creationId xmlns:a16="http://schemas.microsoft.com/office/drawing/2014/main" id="{C7C78F4F-6B56-EF35-D8FA-A745DFB33E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86832" y="4761826"/>
                    <a:ext cx="547971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0526" r="-23333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7B6929CF-DD93-9BE7-C15B-0704250EB3F6}"/>
                </a:ext>
              </a:extLst>
            </p:cNvPr>
            <p:cNvSpPr/>
            <p:nvPr/>
          </p:nvSpPr>
          <p:spPr>
            <a:xfrm>
              <a:off x="5479453" y="2886023"/>
              <a:ext cx="538068" cy="46535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2A516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bg2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0627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E9765-D349-B489-ADF1-8D958DD1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01 : PERCEPTRON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FFA03C80-3ADF-4ADE-E73C-FCA2B9CEF1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896060"/>
              </p:ext>
            </p:extLst>
          </p:nvPr>
        </p:nvGraphicFramePr>
        <p:xfrm>
          <a:off x="983410" y="1825625"/>
          <a:ext cx="1037039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50C79939-C63A-FCE7-8100-1B3A46DCF5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9562" y="0"/>
            <a:ext cx="3092437" cy="182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48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44EE1-1679-8412-C739-D2B8418B8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PERCEPTRON</a:t>
            </a:r>
            <a:br>
              <a:rPr lang="pt-BR" dirty="0"/>
            </a:br>
            <a:r>
              <a:rPr lang="pt-BR" dirty="0"/>
              <a:t>Neurônios assumem saídas binárias: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CE2C4612-5F6E-DA1D-8C84-8889AD1C11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4804495"/>
              </p:ext>
            </p:extLst>
          </p:nvPr>
        </p:nvGraphicFramePr>
        <p:xfrm>
          <a:off x="750327" y="1501588"/>
          <a:ext cx="10370390" cy="2747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9F504D2B-BDDD-C32A-723B-A4F899F5110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40"/>
          <a:stretch>
            <a:fillRect/>
          </a:stretch>
        </p:blipFill>
        <p:spPr>
          <a:xfrm>
            <a:off x="606890" y="4126848"/>
            <a:ext cx="2339545" cy="173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50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ABB99-3416-513E-D465-7E2BD05EE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421A9C7-B447-1AE9-0DA0-E5A0E674F9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Regra de atualização dos Pesos:</a:t>
                </a:r>
              </a:p>
              <a:p>
                <a:pPr lvl="1"/>
                <a:r>
                  <a:rPr lang="pt-BR" dirty="0"/>
                  <a:t>Se o padrão é corretamente classificado, </a:t>
                </a:r>
              </a:p>
              <a:p>
                <a:pPr lvl="2"/>
                <a:r>
                  <a:rPr lang="pt-BR" dirty="0"/>
                  <a:t>O peso não é alterado;</a:t>
                </a:r>
              </a:p>
              <a:p>
                <a:pPr lvl="1"/>
                <a:r>
                  <a:rPr lang="pt-BR" dirty="0"/>
                  <a:t>Se o padrão for erroneamente classificado, </a:t>
                </a:r>
              </a:p>
              <a:p>
                <a:pPr lvl="2"/>
                <a:r>
                  <a:rPr lang="pt-BR" dirty="0"/>
                  <a:t>O peso é atualizado por: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pt-BR" b="0" dirty="0"/>
              </a:p>
              <a:p>
                <a:pPr lvl="3"/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l-GR" dirty="0"/>
                      <m:t>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421A9C7-B447-1AE9-0DA0-E5A0E674F9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58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8CAA22A3-20AF-9B5B-9908-01FE6F3FD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3373" y="0"/>
            <a:ext cx="3092437" cy="182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16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6DD5C-839B-F981-D503-8DC2007FE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PERCEPTRON: ALGORITMO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7ED7F4A-9490-5840-DEF6-577F8A938E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pt-BR" dirty="0"/>
                  <a:t>Iniciar os pesos sinápticos com valores aleatórios e pequenos ou iguais a zero.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dirty="0"/>
                  <a:t>Aplicar um padrão com seu respectivo valor desejado de saída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dirty="0"/>
                  <a:t>) e verificar a saída da rede(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dirty="0"/>
                  <a:t>).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dirty="0"/>
                  <a:t>Calcular o erro na saída</a:t>
                </a:r>
                <a:endParaRPr lang="pt-BR" i="1" dirty="0">
                  <a:latin typeface="Cambria Math" panose="02040503050406030204" pitchFamily="18" charset="0"/>
                </a:endParaRPr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pt-BR" b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,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pt-BR" dirty="0"/>
                  <a:t>Volta ao passo 2;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,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pt-BR" dirty="0"/>
                  <a:t>Atualiza os pesos: 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l-GR" dirty="0"/>
                      <m:t>ἠ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b="0" dirty="0"/>
                  <a:t>Volta ao passo 2.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7ED7F4A-9490-5840-DEF6-577F8A938E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1" t="-3922" r="-5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7189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DE0CB-1F4D-1716-FAD7-00C79C421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PORTA AND</a:t>
            </a:r>
            <a:br>
              <a:rPr lang="pt-BR" dirty="0"/>
            </a:br>
            <a:r>
              <a:rPr lang="pt-BR" dirty="0"/>
              <a:t>Agora com algoritmo automático.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16AFF06E-0E72-9FC5-2A1A-C1D654DE3D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9108252"/>
                  </p:ext>
                </p:extLst>
              </p:nvPr>
            </p:nvGraphicFramePr>
            <p:xfrm>
              <a:off x="368489" y="2391367"/>
              <a:ext cx="3199638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698">
                      <a:extLst>
                        <a:ext uri="{9D8B030D-6E8A-4147-A177-3AD203B41FA5}">
                          <a16:colId xmlns:a16="http://schemas.microsoft.com/office/drawing/2014/main" val="597634527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38745539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26713004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166063262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166979611"/>
                        </a:ext>
                      </a:extLst>
                    </a:gridCol>
                  </a:tblGrid>
                  <a:tr h="2774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AND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795532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1: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27657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2: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131563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3: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506020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4: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2638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16AFF06E-0E72-9FC5-2A1A-C1D654DE3D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9108252"/>
                  </p:ext>
                </p:extLst>
              </p:nvPr>
            </p:nvGraphicFramePr>
            <p:xfrm>
              <a:off x="368489" y="2391367"/>
              <a:ext cx="3199638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698">
                      <a:extLst>
                        <a:ext uri="{9D8B030D-6E8A-4147-A177-3AD203B41FA5}">
                          <a16:colId xmlns:a16="http://schemas.microsoft.com/office/drawing/2014/main" val="597634527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38745539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26713004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166063262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16697961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AND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312162" t="-7692" r="-30540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412162" t="-7692" r="-20540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512162" t="-7692" r="-10540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7955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1: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2765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2: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1315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3: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50602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4: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26385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" name="Agrupar 6">
            <a:extLst>
              <a:ext uri="{FF2B5EF4-FFF2-40B4-BE49-F238E27FC236}">
                <a16:creationId xmlns:a16="http://schemas.microsoft.com/office/drawing/2014/main" id="{14751E2D-7F3F-1F62-0D80-C6CAA0D7F587}"/>
              </a:ext>
            </a:extLst>
          </p:cNvPr>
          <p:cNvGrpSpPr/>
          <p:nvPr/>
        </p:nvGrpSpPr>
        <p:grpSpPr>
          <a:xfrm>
            <a:off x="4362807" y="1450390"/>
            <a:ext cx="5482691" cy="2632484"/>
            <a:chOff x="2582107" y="1027850"/>
            <a:chExt cx="8665306" cy="3516284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4753C16B-A437-7825-5531-E8F81FC842F7}"/>
                </a:ext>
              </a:extLst>
            </p:cNvPr>
            <p:cNvSpPr/>
            <p:nvPr/>
          </p:nvSpPr>
          <p:spPr>
            <a:xfrm>
              <a:off x="5581651" y="2647949"/>
              <a:ext cx="1325562" cy="132556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4000" dirty="0"/>
                <a:t>∑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224DA46B-91DD-5056-BF3D-722ADC37ECA1}"/>
                </a:ext>
              </a:extLst>
            </p:cNvPr>
            <p:cNvSpPr/>
            <p:nvPr/>
          </p:nvSpPr>
          <p:spPr>
            <a:xfrm>
              <a:off x="8384699" y="2979340"/>
              <a:ext cx="662782" cy="66278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H</a:t>
              </a: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B1D8E0B3-7C4F-FBC8-30A4-AC977F88CB90}"/>
                </a:ext>
              </a:extLst>
            </p:cNvPr>
            <p:cNvSpPr/>
            <p:nvPr/>
          </p:nvSpPr>
          <p:spPr>
            <a:xfrm>
              <a:off x="3677739" y="3228122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69BD4F56-D909-69D0-0A08-341FBBDE5036}"/>
                </a:ext>
              </a:extLst>
            </p:cNvPr>
            <p:cNvSpPr/>
            <p:nvPr/>
          </p:nvSpPr>
          <p:spPr>
            <a:xfrm>
              <a:off x="3737454" y="4098285"/>
              <a:ext cx="366712" cy="366712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AFCF98AF-8829-B706-21A1-96C34946DEE0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6244431" y="2025537"/>
              <a:ext cx="2" cy="622415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5E26B939-A5C2-4FD9-6396-C23981EE6399}"/>
                </a:ext>
              </a:extLst>
            </p:cNvPr>
            <p:cNvCxnSpPr>
              <a:cxnSpLocks/>
              <a:stCxn id="10" idx="6"/>
              <a:endCxn id="8" idx="2"/>
            </p:cNvCxnSpPr>
            <p:nvPr/>
          </p:nvCxnSpPr>
          <p:spPr>
            <a:xfrm flipV="1">
              <a:off x="4044451" y="3310731"/>
              <a:ext cx="1537200" cy="100747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00972775-502B-F2CD-3821-4389D1888D4F}"/>
                </a:ext>
              </a:extLst>
            </p:cNvPr>
            <p:cNvCxnSpPr>
              <a:cxnSpLocks/>
              <a:stCxn id="11" idx="6"/>
              <a:endCxn id="8" idx="3"/>
            </p:cNvCxnSpPr>
            <p:nvPr/>
          </p:nvCxnSpPr>
          <p:spPr>
            <a:xfrm flipV="1">
              <a:off x="4104166" y="3779389"/>
              <a:ext cx="1671609" cy="502252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BAA4BD4D-69D1-F34A-4192-FEAE418115D0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6907213" y="3310731"/>
              <a:ext cx="139715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7E783A24-1B75-90BF-2C1D-B53153BE725B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9047481" y="3310731"/>
              <a:ext cx="847941" cy="0"/>
            </a:xfrm>
            <a:prstGeom prst="straightConnector1">
              <a:avLst/>
            </a:prstGeom>
            <a:ln w="76200">
              <a:solidFill>
                <a:srgbClr val="000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D8AEEC57-E48B-ABD0-3546-F971B84C9F34}"/>
                    </a:ext>
                  </a:extLst>
                </p:cNvPr>
                <p:cNvSpPr txBox="1"/>
                <p:nvPr/>
              </p:nvSpPr>
              <p:spPr>
                <a:xfrm>
                  <a:off x="5921265" y="1563871"/>
                  <a:ext cx="841636" cy="4933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D8AEEC57-E48B-ABD0-3546-F971B84C9F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265" y="1563871"/>
                  <a:ext cx="841636" cy="49332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40A07388-A387-1606-F08D-F16109F84B8B}"/>
                    </a:ext>
                  </a:extLst>
                </p:cNvPr>
                <p:cNvSpPr txBox="1"/>
                <p:nvPr/>
              </p:nvSpPr>
              <p:spPr>
                <a:xfrm>
                  <a:off x="2582107" y="3151263"/>
                  <a:ext cx="1238690" cy="4933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40A07388-A387-1606-F08D-F16109F84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107" y="3151263"/>
                  <a:ext cx="1238690" cy="493327"/>
                </a:xfrm>
                <a:prstGeom prst="rect">
                  <a:avLst/>
                </a:prstGeom>
                <a:blipFill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02BCA074-58CC-665F-46C2-92BC35560419}"/>
                    </a:ext>
                  </a:extLst>
                </p:cNvPr>
                <p:cNvSpPr txBox="1"/>
                <p:nvPr/>
              </p:nvSpPr>
              <p:spPr>
                <a:xfrm>
                  <a:off x="2783391" y="4050807"/>
                  <a:ext cx="1247100" cy="4933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02BCA074-58CC-665F-46C2-92BC355604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391" y="4050807"/>
                  <a:ext cx="1247100" cy="493327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FC9B77B3-CF33-0970-8F12-2B0F5A1137C2}"/>
                    </a:ext>
                  </a:extLst>
                </p:cNvPr>
                <p:cNvSpPr txBox="1"/>
                <p:nvPr/>
              </p:nvSpPr>
              <p:spPr>
                <a:xfrm>
                  <a:off x="5766405" y="1027850"/>
                  <a:ext cx="956049" cy="4933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pt-BR" dirty="0"/>
                    <a:t>ias</a:t>
                  </a:r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FC9B77B3-CF33-0970-8F12-2B0F5A1137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6405" y="1027850"/>
                  <a:ext cx="956049" cy="493327"/>
                </a:xfrm>
                <a:prstGeom prst="rect">
                  <a:avLst/>
                </a:prstGeom>
                <a:blipFill>
                  <a:blip r:embed="rId6"/>
                  <a:stretch>
                    <a:fillRect t="-8197" r="-8081" b="-2623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140B0EFF-7C20-332A-0353-E15588C3072E}"/>
                    </a:ext>
                  </a:extLst>
                </p:cNvPr>
                <p:cNvSpPr txBox="1"/>
                <p:nvPr/>
              </p:nvSpPr>
              <p:spPr>
                <a:xfrm>
                  <a:off x="3880829" y="2816114"/>
                  <a:ext cx="1303549" cy="4933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140B0EFF-7C20-332A-0353-E15588C307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0829" y="2816114"/>
                  <a:ext cx="1303549" cy="493327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98BE4205-C0F9-D5A5-EF27-C6771B141960}"/>
                    </a:ext>
                  </a:extLst>
                </p:cNvPr>
                <p:cNvSpPr txBox="1"/>
                <p:nvPr/>
              </p:nvSpPr>
              <p:spPr>
                <a:xfrm>
                  <a:off x="3872921" y="3562768"/>
                  <a:ext cx="1311958" cy="4933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98BE4205-C0F9-D5A5-EF27-C6771B1419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2921" y="3562768"/>
                  <a:ext cx="1311958" cy="493327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21B758F4-2FD5-94D6-A153-6506DF7D10EF}"/>
                    </a:ext>
                  </a:extLst>
                </p:cNvPr>
                <p:cNvSpPr txBox="1"/>
                <p:nvPr/>
              </p:nvSpPr>
              <p:spPr>
                <a:xfrm>
                  <a:off x="6803027" y="3332191"/>
                  <a:ext cx="1344387" cy="4933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/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21B758F4-2FD5-94D6-A153-6506DF7D10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3027" y="3332191"/>
                  <a:ext cx="1344387" cy="493327"/>
                </a:xfrm>
                <a:prstGeom prst="rect">
                  <a:avLst/>
                </a:prstGeom>
                <a:blipFill>
                  <a:blip r:embed="rId9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F0C35606-D9AE-5A9F-3F4F-6FEE754641CC}"/>
                    </a:ext>
                  </a:extLst>
                </p:cNvPr>
                <p:cNvSpPr txBox="1"/>
                <p:nvPr/>
              </p:nvSpPr>
              <p:spPr>
                <a:xfrm>
                  <a:off x="9895424" y="3038563"/>
                  <a:ext cx="1351989" cy="4933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/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F0C35606-D9AE-5A9F-3F4F-6FEE754641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424" y="3038563"/>
                  <a:ext cx="1351989" cy="493327"/>
                </a:xfrm>
                <a:prstGeom prst="rect">
                  <a:avLst/>
                </a:prstGeom>
                <a:blipFill>
                  <a:blip r:embed="rId10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7137DF96-D62A-D912-74E8-03FAC3074D3B}"/>
                    </a:ext>
                  </a:extLst>
                </p:cNvPr>
                <p:cNvSpPr txBox="1"/>
                <p:nvPr/>
              </p:nvSpPr>
              <p:spPr>
                <a:xfrm>
                  <a:off x="7157240" y="2827608"/>
                  <a:ext cx="576123" cy="4933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7137DF96-D62A-D912-74E8-03FAC3074D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240" y="2827608"/>
                  <a:ext cx="576123" cy="493327"/>
                </a:xfrm>
                <a:prstGeom prst="rect">
                  <a:avLst/>
                </a:prstGeom>
                <a:blipFill>
                  <a:blip r:embed="rId11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9A5A574A-23EB-E4BC-3207-A57D0C946924}"/>
                    </a:ext>
                  </a:extLst>
                </p:cNvPr>
                <p:cNvSpPr txBox="1"/>
                <p:nvPr/>
              </p:nvSpPr>
              <p:spPr>
                <a:xfrm>
                  <a:off x="8406330" y="2487200"/>
                  <a:ext cx="570955" cy="4933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9A5A574A-23EB-E4BC-3207-A57D0C9469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6330" y="2487200"/>
                  <a:ext cx="570955" cy="49332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F6809355-087C-1037-A7BF-F8927520AF65}"/>
                    </a:ext>
                  </a:extLst>
                </p:cNvPr>
                <p:cNvSpPr txBox="1"/>
                <p:nvPr/>
              </p:nvSpPr>
              <p:spPr>
                <a:xfrm>
                  <a:off x="6534115" y="1234651"/>
                  <a:ext cx="1247100" cy="4933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F6809355-087C-1037-A7BF-F8927520AF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115" y="1234651"/>
                  <a:ext cx="1247100" cy="493327"/>
                </a:xfrm>
                <a:prstGeom prst="rect">
                  <a:avLst/>
                </a:prstGeom>
                <a:blipFill>
                  <a:blip r:embed="rId1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853575C0-0C8C-BCA3-7B70-32F069A41183}"/>
                    </a:ext>
                  </a:extLst>
                </p:cNvPr>
                <p:cNvSpPr txBox="1"/>
                <p:nvPr/>
              </p:nvSpPr>
              <p:spPr>
                <a:xfrm>
                  <a:off x="4838302" y="1532209"/>
                  <a:ext cx="1311958" cy="4933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853575C0-0C8C-BCA3-7B70-32F069A41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8302" y="1532209"/>
                  <a:ext cx="1311958" cy="493327"/>
                </a:xfrm>
                <a:prstGeom prst="rect">
                  <a:avLst/>
                </a:prstGeom>
                <a:blipFill>
                  <a:blip r:embed="rId1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457E1BEA-0F62-0130-B88C-E6B2DB5A5C23}"/>
                  </a:ext>
                </a:extLst>
              </p:cNvPr>
              <p:cNvSpPr txBox="1"/>
              <p:nvPr/>
            </p:nvSpPr>
            <p:spPr>
              <a:xfrm>
                <a:off x="368489" y="4503483"/>
                <a:ext cx="374519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Peso inicial: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pt-BR" dirty="0"/>
              </a:p>
              <a:p>
                <a:r>
                  <a:rPr lang="pt-BR" dirty="0"/>
                  <a:t>Taxa de aprendizado: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pt-BR" dirty="0"/>
                  <a:t>eta) = 0.5</a:t>
                </a:r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457E1BEA-0F62-0130-B88C-E6B2DB5A5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89" y="4503483"/>
                <a:ext cx="3745192" cy="646331"/>
              </a:xfrm>
              <a:prstGeom prst="rect">
                <a:avLst/>
              </a:prstGeom>
              <a:blipFill>
                <a:blip r:embed="rId15"/>
                <a:stretch>
                  <a:fillRect l="-1301" t="-4717" b="-150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744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76F89-36C5-9F4C-1FEB-1DA0732C09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ÉPOCA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DBE1AAC2-1533-ADFF-BB49-AA273017A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3509963"/>
            <a:ext cx="6400800" cy="912812"/>
          </a:xfrm>
          <a:ln>
            <a:solidFill>
              <a:srgbClr val="000050"/>
            </a:solidFill>
          </a:ln>
        </p:spPr>
        <p:txBody>
          <a:bodyPr>
            <a:normAutofit/>
          </a:bodyPr>
          <a:lstStyle/>
          <a:p>
            <a:r>
              <a:rPr lang="pt-BR" sz="2800" dirty="0"/>
              <a:t>“Representa a apresentação de todo conjunto de treinamento para a rede”</a:t>
            </a:r>
          </a:p>
        </p:txBody>
      </p:sp>
    </p:spTree>
    <p:extLst>
      <p:ext uri="{BB962C8B-B14F-4D97-AF65-F5344CB8AC3E}">
        <p14:creationId xmlns:p14="http://schemas.microsoft.com/office/powerpoint/2010/main" val="593160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000DB-58C1-BA03-4933-BEFCA863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ÉPOCA 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8D497EF-9F43-3602-2EED-2D3C06A1FC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dirty="0"/>
                  <a:t>Função utilizada  </a:t>
                </a:r>
                <a:endParaRPr lang="pt-B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r>
                  <a:rPr lang="pt-BR" dirty="0"/>
                  <a:t>Entrada 01: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0∗1+0∗0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0∗0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pt-B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endParaRPr lang="pt-BR" b="1" dirty="0"/>
              </a:p>
              <a:p>
                <a:r>
                  <a:rPr lang="pt-BR" dirty="0"/>
                  <a:t>Entrada 02: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0∗1+0∗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+0∗0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pt-B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endParaRPr lang="pt-BR" b="1" dirty="0"/>
              </a:p>
              <a:p>
                <a:r>
                  <a:rPr lang="pt-BR" dirty="0"/>
                  <a:t>Entrada 03: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0∗1+0∗0+0∗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pt-B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endParaRPr lang="pt-BR" b="1" dirty="0"/>
              </a:p>
              <a:p>
                <a:r>
                  <a:rPr lang="pt-BR" dirty="0"/>
                  <a:t>Entrada 04: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0∗1+0∗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+0∗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    </a:t>
                </a:r>
                <a:r>
                  <a:rPr lang="pt-BR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pt-B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pt-BR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endParaRPr lang="pt-BR" b="1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8D497EF-9F43-3602-2EED-2D3C06A1FC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33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9E026482-0902-03BB-1BC7-0A338CCB03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4730293"/>
                  </p:ext>
                </p:extLst>
              </p:nvPr>
            </p:nvGraphicFramePr>
            <p:xfrm>
              <a:off x="8559989" y="37306"/>
              <a:ext cx="3561699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698">
                      <a:extLst>
                        <a:ext uri="{9D8B030D-6E8A-4147-A177-3AD203B41FA5}">
                          <a16:colId xmlns:a16="http://schemas.microsoft.com/office/drawing/2014/main" val="597634527"/>
                        </a:ext>
                      </a:extLst>
                    </a:gridCol>
                    <a:gridCol w="812546">
                      <a:extLst>
                        <a:ext uri="{9D8B030D-6E8A-4147-A177-3AD203B41FA5}">
                          <a16:colId xmlns:a16="http://schemas.microsoft.com/office/drawing/2014/main" val="3538745539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26713004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166063262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166979611"/>
                        </a:ext>
                      </a:extLst>
                    </a:gridCol>
                  </a:tblGrid>
                  <a:tr h="2774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AND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100" b="0" dirty="0"/>
                            <a:t>(bias)</a:t>
                          </a:r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795532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1: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27657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2: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131563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3: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506020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4: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2638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9E026482-0902-03BB-1BC7-0A338CCB03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4730293"/>
                  </p:ext>
                </p:extLst>
              </p:nvPr>
            </p:nvGraphicFramePr>
            <p:xfrm>
              <a:off x="8559989" y="37306"/>
              <a:ext cx="3561699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698">
                      <a:extLst>
                        <a:ext uri="{9D8B030D-6E8A-4147-A177-3AD203B41FA5}">
                          <a16:colId xmlns:a16="http://schemas.microsoft.com/office/drawing/2014/main" val="597634527"/>
                        </a:ext>
                      </a:extLst>
                    </a:gridCol>
                    <a:gridCol w="812546">
                      <a:extLst>
                        <a:ext uri="{9D8B030D-6E8A-4147-A177-3AD203B41FA5}">
                          <a16:colId xmlns:a16="http://schemas.microsoft.com/office/drawing/2014/main" val="3538745539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26713004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166063262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16697961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AND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73684" t="-7692" r="-16992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491892" t="-7692" r="-20540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591892" t="-7692" r="-10540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7955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1: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2765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2: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1315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3: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50602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4: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2638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8814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863DF-F9BF-EC65-455B-1307D5D4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o Explicativo: Seta para a Direita 17">
            <a:extLst>
              <a:ext uri="{FF2B5EF4-FFF2-40B4-BE49-F238E27FC236}">
                <a16:creationId xmlns:a16="http://schemas.microsoft.com/office/drawing/2014/main" id="{8B44FE27-4F5C-C319-D7B5-3BB356183872}"/>
              </a:ext>
            </a:extLst>
          </p:cNvPr>
          <p:cNvSpPr/>
          <p:nvPr/>
        </p:nvSpPr>
        <p:spPr>
          <a:xfrm rot="5400000">
            <a:off x="6066711" y="2688515"/>
            <a:ext cx="775333" cy="3426617"/>
          </a:xfrm>
          <a:prstGeom prst="rightArrowCallout">
            <a:avLst>
              <a:gd name="adj1" fmla="val 25000"/>
              <a:gd name="adj2" fmla="val 25000"/>
              <a:gd name="adj3" fmla="val 23400"/>
              <a:gd name="adj4" fmla="val 5537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o Explicativo: Seta para a Direita 18">
            <a:extLst>
              <a:ext uri="{FF2B5EF4-FFF2-40B4-BE49-F238E27FC236}">
                <a16:creationId xmlns:a16="http://schemas.microsoft.com/office/drawing/2014/main" id="{50A826D7-E083-80F7-C186-EA5B6B903373}"/>
              </a:ext>
            </a:extLst>
          </p:cNvPr>
          <p:cNvSpPr/>
          <p:nvPr/>
        </p:nvSpPr>
        <p:spPr>
          <a:xfrm rot="5400000">
            <a:off x="2986567" y="3385029"/>
            <a:ext cx="775331" cy="2033587"/>
          </a:xfrm>
          <a:prstGeom prst="rightArrowCallout">
            <a:avLst>
              <a:gd name="adj1" fmla="val 25000"/>
              <a:gd name="adj2" fmla="val 25000"/>
              <a:gd name="adj3" fmla="val 23400"/>
              <a:gd name="adj4" fmla="val 5537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exto Explicativo: Seta para a Direita 19">
            <a:extLst>
              <a:ext uri="{FF2B5EF4-FFF2-40B4-BE49-F238E27FC236}">
                <a16:creationId xmlns:a16="http://schemas.microsoft.com/office/drawing/2014/main" id="{D42DD3E8-6C71-EB87-9BEA-8135D7AEC3DD}"/>
              </a:ext>
            </a:extLst>
          </p:cNvPr>
          <p:cNvSpPr/>
          <p:nvPr/>
        </p:nvSpPr>
        <p:spPr>
          <a:xfrm rot="5400000">
            <a:off x="6066711" y="3510218"/>
            <a:ext cx="775333" cy="3426617"/>
          </a:xfrm>
          <a:prstGeom prst="rightArrowCallout">
            <a:avLst>
              <a:gd name="adj1" fmla="val 25000"/>
              <a:gd name="adj2" fmla="val 25000"/>
              <a:gd name="adj3" fmla="val 23400"/>
              <a:gd name="adj4" fmla="val 5537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o Explicativo: Seta para a Direita 20">
            <a:extLst>
              <a:ext uri="{FF2B5EF4-FFF2-40B4-BE49-F238E27FC236}">
                <a16:creationId xmlns:a16="http://schemas.microsoft.com/office/drawing/2014/main" id="{DA24D0B9-345E-D2CD-C6C1-DC1B7ED62192}"/>
              </a:ext>
            </a:extLst>
          </p:cNvPr>
          <p:cNvSpPr/>
          <p:nvPr/>
        </p:nvSpPr>
        <p:spPr>
          <a:xfrm rot="5400000">
            <a:off x="2986567" y="4206732"/>
            <a:ext cx="775331" cy="2033587"/>
          </a:xfrm>
          <a:prstGeom prst="rightArrowCallout">
            <a:avLst>
              <a:gd name="adj1" fmla="val 25000"/>
              <a:gd name="adj2" fmla="val 25000"/>
              <a:gd name="adj3" fmla="val 23400"/>
              <a:gd name="adj4" fmla="val 5537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o Explicativo: Seta para a Direita 6">
            <a:extLst>
              <a:ext uri="{FF2B5EF4-FFF2-40B4-BE49-F238E27FC236}">
                <a16:creationId xmlns:a16="http://schemas.microsoft.com/office/drawing/2014/main" id="{9ABEB874-AA36-542C-EFC5-C038DDC44831}"/>
              </a:ext>
            </a:extLst>
          </p:cNvPr>
          <p:cNvSpPr/>
          <p:nvPr/>
        </p:nvSpPr>
        <p:spPr>
          <a:xfrm rot="5400000">
            <a:off x="6099411" y="1885222"/>
            <a:ext cx="738510" cy="3426617"/>
          </a:xfrm>
          <a:prstGeom prst="rightArrowCallout">
            <a:avLst>
              <a:gd name="adj1" fmla="val 25000"/>
              <a:gd name="adj2" fmla="val 25000"/>
              <a:gd name="adj3" fmla="val 23400"/>
              <a:gd name="adj4" fmla="val 5537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 Explicativo: Seta para a Direita 5">
            <a:extLst>
              <a:ext uri="{FF2B5EF4-FFF2-40B4-BE49-F238E27FC236}">
                <a16:creationId xmlns:a16="http://schemas.microsoft.com/office/drawing/2014/main" id="{F08E5377-EDD9-3A1F-2594-6A9B78E374F3}"/>
              </a:ext>
            </a:extLst>
          </p:cNvPr>
          <p:cNvSpPr/>
          <p:nvPr/>
        </p:nvSpPr>
        <p:spPr>
          <a:xfrm rot="5400000">
            <a:off x="3019266" y="2581736"/>
            <a:ext cx="738509" cy="2033587"/>
          </a:xfrm>
          <a:prstGeom prst="rightArrowCallout">
            <a:avLst>
              <a:gd name="adj1" fmla="val 25000"/>
              <a:gd name="adj2" fmla="val 25000"/>
              <a:gd name="adj3" fmla="val 23400"/>
              <a:gd name="adj4" fmla="val 5537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B96B4B0-CA21-A852-8005-ECE886D18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3410" y="1825625"/>
                <a:ext cx="10370390" cy="82996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Entrada 04: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0∗1+0∗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+0∗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    </a:t>
                </a:r>
                <a:r>
                  <a:rPr lang="pt-BR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pt-B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pt-BR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endParaRPr lang="pt-BR" b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B96B4B0-CA21-A852-8005-ECE886D18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3410" y="1825625"/>
                <a:ext cx="10370390" cy="829965"/>
              </a:xfrm>
              <a:blipFill>
                <a:blip r:embed="rId2"/>
                <a:stretch>
                  <a:fillRect l="-1058" t="-17518" b="-116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B1E716D5-6E3A-CA04-F9DD-FFF738234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ÉPOCA 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A9CB0083-2497-7C0B-BCC7-3BAB38510CD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59989" y="37306"/>
              <a:ext cx="3561699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698">
                      <a:extLst>
                        <a:ext uri="{9D8B030D-6E8A-4147-A177-3AD203B41FA5}">
                          <a16:colId xmlns:a16="http://schemas.microsoft.com/office/drawing/2014/main" val="597634527"/>
                        </a:ext>
                      </a:extLst>
                    </a:gridCol>
                    <a:gridCol w="812546">
                      <a:extLst>
                        <a:ext uri="{9D8B030D-6E8A-4147-A177-3AD203B41FA5}">
                          <a16:colId xmlns:a16="http://schemas.microsoft.com/office/drawing/2014/main" val="3538745539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26713004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166063262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166979611"/>
                        </a:ext>
                      </a:extLst>
                    </a:gridCol>
                  </a:tblGrid>
                  <a:tr h="2774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AND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100" b="0" dirty="0"/>
                            <a:t>(bias)</a:t>
                          </a:r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795532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1: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27657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2: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131563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3: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506020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4: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2638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A9CB0083-2497-7C0B-BCC7-3BAB38510CD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59989" y="37306"/>
              <a:ext cx="3561699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698">
                      <a:extLst>
                        <a:ext uri="{9D8B030D-6E8A-4147-A177-3AD203B41FA5}">
                          <a16:colId xmlns:a16="http://schemas.microsoft.com/office/drawing/2014/main" val="597634527"/>
                        </a:ext>
                      </a:extLst>
                    </a:gridCol>
                    <a:gridCol w="812546">
                      <a:extLst>
                        <a:ext uri="{9D8B030D-6E8A-4147-A177-3AD203B41FA5}">
                          <a16:colId xmlns:a16="http://schemas.microsoft.com/office/drawing/2014/main" val="3538745539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26713004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166063262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16697961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AND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73684" t="-7692" r="-16992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491892" t="-7692" r="-20540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591892" t="-7692" r="-10540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7955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1: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2765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2: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1315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3: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50602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4: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26385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3277353-CC79-287F-1717-309C2276756E}"/>
                  </a:ext>
                </a:extLst>
              </p:cNvPr>
              <p:cNvSpPr txBox="1"/>
              <p:nvPr/>
            </p:nvSpPr>
            <p:spPr>
              <a:xfrm>
                <a:off x="1523999" y="4789489"/>
                <a:ext cx="872489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=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0+0,5 ∗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1−0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∗1</m:t>
                    </m:r>
                  </m:oMath>
                </a14:m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=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0,5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3277353-CC79-287F-1717-309C22767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99" y="4789489"/>
                <a:ext cx="8724899" cy="461665"/>
              </a:xfrm>
              <a:prstGeom prst="rect">
                <a:avLst/>
              </a:prstGeom>
              <a:blipFill>
                <a:blip r:embed="rId4"/>
                <a:stretch>
                  <a:fillRect t="-12000" b="-3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5F796-5231-E77B-F391-F7A2C2B7964D}"/>
                  </a:ext>
                </a:extLst>
              </p:cNvPr>
              <p:cNvSpPr txBox="1"/>
              <p:nvPr/>
            </p:nvSpPr>
            <p:spPr>
              <a:xfrm>
                <a:off x="1523999" y="3146079"/>
                <a:ext cx="83105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=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0+0,5 ∗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1−0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∗1</m:t>
                    </m:r>
                  </m:oMath>
                </a14:m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=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0,5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5F796-5231-E77B-F391-F7A2C2B79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99" y="3146079"/>
                <a:ext cx="8310561" cy="461665"/>
              </a:xfrm>
              <a:prstGeom prst="rect">
                <a:avLst/>
              </a:prstGeom>
              <a:blipFill>
                <a:blip r:embed="rId5"/>
                <a:stretch>
                  <a:fillRect t="-11842" b="-302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AC9B08BD-C1B8-B102-69E4-2B4640B5A470}"/>
                  </a:ext>
                </a:extLst>
              </p:cNvPr>
              <p:cNvSpPr txBox="1"/>
              <p:nvPr/>
            </p:nvSpPr>
            <p:spPr>
              <a:xfrm>
                <a:off x="1523999" y="3967784"/>
                <a:ext cx="83105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=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0+0,5 ∗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1−0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∗1</m:t>
                    </m:r>
                  </m:oMath>
                </a14:m>
                <a:r>
                  <a:rPr lang="pt-BR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=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0,5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AC9B08BD-C1B8-B102-69E4-2B4640B5A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99" y="3967784"/>
                <a:ext cx="8310561" cy="461665"/>
              </a:xfrm>
              <a:prstGeom prst="rect">
                <a:avLst/>
              </a:prstGeom>
              <a:blipFill>
                <a:blip r:embed="rId6"/>
                <a:stretch>
                  <a:fillRect t="-11842" b="-302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07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7" grpId="0" animBg="1"/>
      <p:bldP spid="6" grpId="0" animBg="1"/>
      <p:bldP spid="10" grpId="0"/>
      <p:bldP spid="14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71A9A-931A-AA6D-F713-663E56654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77A36-E50B-258B-09E6-2B84556A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ÉPOCA 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6068A53-9048-4C1A-FBD1-C9E977787F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Função utilizada  </a:t>
                </a:r>
                <a:endParaRPr lang="pt-B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r>
                  <a:rPr lang="pt-BR" b="1" dirty="0">
                    <a:solidFill>
                      <a:srgbClr val="FF0000"/>
                    </a:solidFill>
                  </a:rPr>
                  <a:t>Entrada 01: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0,5∗1+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0,5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∗0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+0,5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∗0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(0,5)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        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pt-BR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=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0,5+0,5 ∗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∗1</m:t>
                    </m:r>
                  </m:oMath>
                </a14:m>
                <a:r>
                  <a:rPr lang="pt-BR" dirty="0">
                    <a:sym typeface="Wingdings" panose="05000000000000000000" pitchFamily="2" charset="2"/>
                  </a:rPr>
                  <a:t>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=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=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0,5+0,5 ∗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>
                    <a:sym typeface="Wingdings" panose="05000000000000000000" pitchFamily="2" charset="2"/>
                  </a:rPr>
                  <a:t>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=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0,5</m:t>
                    </m:r>
                  </m:oMath>
                </a14:m>
                <a:endParaRPr lang="pt-BR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=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0,5+0,5 ∗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>
                    <a:sym typeface="Wingdings" panose="05000000000000000000" pitchFamily="2" charset="2"/>
                  </a:rPr>
                  <a:t>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=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0,5</m:t>
                    </m:r>
                  </m:oMath>
                </a14:m>
                <a:endParaRPr lang="pt-BR" b="1" dirty="0"/>
              </a:p>
              <a:p>
                <a:endParaRPr lang="pt-BR" b="1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6068A53-9048-4C1A-FBD1-C9E977787F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AA5C9BA8-8871-EF1C-E672-02ED74A3715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59989" y="37306"/>
              <a:ext cx="3561699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698">
                      <a:extLst>
                        <a:ext uri="{9D8B030D-6E8A-4147-A177-3AD203B41FA5}">
                          <a16:colId xmlns:a16="http://schemas.microsoft.com/office/drawing/2014/main" val="597634527"/>
                        </a:ext>
                      </a:extLst>
                    </a:gridCol>
                    <a:gridCol w="812546">
                      <a:extLst>
                        <a:ext uri="{9D8B030D-6E8A-4147-A177-3AD203B41FA5}">
                          <a16:colId xmlns:a16="http://schemas.microsoft.com/office/drawing/2014/main" val="3538745539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26713004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166063262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166979611"/>
                        </a:ext>
                      </a:extLst>
                    </a:gridCol>
                  </a:tblGrid>
                  <a:tr h="2774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AND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100" b="0" dirty="0"/>
                            <a:t>(bias)</a:t>
                          </a:r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795532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1: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27657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2: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131563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3: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506020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4: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2638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AA5C9BA8-8871-EF1C-E672-02ED74A3715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59989" y="37306"/>
              <a:ext cx="3561699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698">
                      <a:extLst>
                        <a:ext uri="{9D8B030D-6E8A-4147-A177-3AD203B41FA5}">
                          <a16:colId xmlns:a16="http://schemas.microsoft.com/office/drawing/2014/main" val="597634527"/>
                        </a:ext>
                      </a:extLst>
                    </a:gridCol>
                    <a:gridCol w="812546">
                      <a:extLst>
                        <a:ext uri="{9D8B030D-6E8A-4147-A177-3AD203B41FA5}">
                          <a16:colId xmlns:a16="http://schemas.microsoft.com/office/drawing/2014/main" val="3538745539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26713004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166063262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16697961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AND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73684" t="-7692" r="-16992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491892" t="-7692" r="-20540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591892" t="-7692" r="-10540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7955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1: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2765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2: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1315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3: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50602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4: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2638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05843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65DB2-22AB-FAB1-9945-FC29B9B8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3C2B6-C901-E31C-8786-12806A318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ÉPOCA 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3534B08-1BD3-2E7B-F0F0-B60D732007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Função utilizada  </a:t>
                </a:r>
                <a:endParaRPr lang="pt-B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r>
                  <a:rPr lang="pt-BR" b="1" dirty="0">
                    <a:solidFill>
                      <a:srgbClr val="FF0000"/>
                    </a:solidFill>
                  </a:rPr>
                  <a:t>Entrada 02: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 ∗1+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0,5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∗0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+0,5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∗1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(0,5)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:r>
                  <a:rPr lang="pt-BR" dirty="0"/>
                  <a:t>         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pt-BR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=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0+0,5 ∗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∗1</m:t>
                    </m:r>
                  </m:oMath>
                </a14:m>
                <a:r>
                  <a:rPr lang="pt-BR" dirty="0">
                    <a:sym typeface="Wingdings" panose="05000000000000000000" pitchFamily="2" charset="2"/>
                  </a:rPr>
                  <a:t>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=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0,5</m:t>
                    </m:r>
                  </m:oMath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=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0,5+0,5 ∗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>
                    <a:sym typeface="Wingdings" panose="05000000000000000000" pitchFamily="2" charset="2"/>
                  </a:rPr>
                  <a:t>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=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0,5</m:t>
                    </m:r>
                  </m:oMath>
                </a14:m>
                <a:endParaRPr lang="pt-BR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=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0,5+0,5 ∗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>
                    <a:sym typeface="Wingdings" panose="05000000000000000000" pitchFamily="2" charset="2"/>
                  </a:rPr>
                  <a:t>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=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pt-BR" b="1" dirty="0"/>
              </a:p>
              <a:p>
                <a:endParaRPr lang="pt-BR" b="1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3534B08-1BD3-2E7B-F0F0-B60D732007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93117B41-EF13-2FD4-14CB-70FE584E6E3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59989" y="37306"/>
              <a:ext cx="3561699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698">
                      <a:extLst>
                        <a:ext uri="{9D8B030D-6E8A-4147-A177-3AD203B41FA5}">
                          <a16:colId xmlns:a16="http://schemas.microsoft.com/office/drawing/2014/main" val="597634527"/>
                        </a:ext>
                      </a:extLst>
                    </a:gridCol>
                    <a:gridCol w="812546">
                      <a:extLst>
                        <a:ext uri="{9D8B030D-6E8A-4147-A177-3AD203B41FA5}">
                          <a16:colId xmlns:a16="http://schemas.microsoft.com/office/drawing/2014/main" val="3538745539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26713004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166063262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166979611"/>
                        </a:ext>
                      </a:extLst>
                    </a:gridCol>
                  </a:tblGrid>
                  <a:tr h="2774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AND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100" b="0" dirty="0"/>
                            <a:t>(bias)</a:t>
                          </a:r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795532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1: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27657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2: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131563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3: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506020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4: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2638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93117B41-EF13-2FD4-14CB-70FE584E6E3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59989" y="37306"/>
              <a:ext cx="3561699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698">
                      <a:extLst>
                        <a:ext uri="{9D8B030D-6E8A-4147-A177-3AD203B41FA5}">
                          <a16:colId xmlns:a16="http://schemas.microsoft.com/office/drawing/2014/main" val="597634527"/>
                        </a:ext>
                      </a:extLst>
                    </a:gridCol>
                    <a:gridCol w="812546">
                      <a:extLst>
                        <a:ext uri="{9D8B030D-6E8A-4147-A177-3AD203B41FA5}">
                          <a16:colId xmlns:a16="http://schemas.microsoft.com/office/drawing/2014/main" val="3538745539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26713004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166063262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16697961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AND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73684" t="-7692" r="-16992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491892" t="-7692" r="-20540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591892" t="-7692" r="-10540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7955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1: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2765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2: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1315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3: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50602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4: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2638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03983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5D493-4BE8-42E4-1A03-D40BAFF9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595AADA-9607-D335-83FF-25946437ECEC}"/>
              </a:ext>
            </a:extLst>
          </p:cNvPr>
          <p:cNvSpPr/>
          <p:nvPr/>
        </p:nvSpPr>
        <p:spPr>
          <a:xfrm>
            <a:off x="3276600" y="2724150"/>
            <a:ext cx="1971675" cy="1009650"/>
          </a:xfrm>
          <a:prstGeom prst="roundRect">
            <a:avLst/>
          </a:prstGeom>
          <a:solidFill>
            <a:srgbClr val="00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534E22-B343-17C5-8C00-EA31BC7F0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ÉPOCA 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22ECBC4-0E22-180A-6CFF-7BFDA47CA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Função utilizada  </a:t>
                </a:r>
                <a:endParaRPr lang="pt-B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r>
                  <a:rPr lang="pt-BR" b="1" dirty="0"/>
                  <a:t>Entrada 03:</a:t>
                </a:r>
                <a:r>
                  <a:rPr lang="pt-BR" b="1" dirty="0">
                    <a:solidFill>
                      <a:srgbClr val="FF0000"/>
                    </a:solidFill>
                  </a:rPr>
                  <a:t> </a:t>
                </a:r>
                <a:r>
                  <a:rPr lang="pt-BR" b="1" dirty="0" err="1">
                    <a:solidFill>
                      <a:srgbClr val="FF0000"/>
                    </a:solidFill>
                  </a:rPr>
                  <a:t>Tarefinha</a:t>
                </a:r>
                <a:r>
                  <a:rPr lang="pt-BR" b="1" dirty="0">
                    <a:solidFill>
                      <a:srgbClr val="FF0000"/>
                    </a:solidFill>
                  </a:rPr>
                  <a:t>!</a:t>
                </a:r>
              </a:p>
              <a:p>
                <a:r>
                  <a:rPr lang="pt-BR" b="1" dirty="0"/>
                  <a:t>Entrada 04: </a:t>
                </a:r>
                <a:r>
                  <a:rPr lang="pt-BR" b="1" dirty="0">
                    <a:solidFill>
                      <a:srgbClr val="FF0000"/>
                    </a:solidFill>
                  </a:rPr>
                  <a:t>Calcula AI!</a:t>
                </a:r>
              </a:p>
              <a:p>
                <a:endParaRPr lang="pt-BR" b="1" dirty="0">
                  <a:solidFill>
                    <a:srgbClr val="FF0000"/>
                  </a:solidFill>
                </a:endParaRPr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22ECBC4-0E22-180A-6CFF-7BFDA47CA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65F62391-3C66-92F5-77C6-D962132737D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59989" y="37306"/>
              <a:ext cx="3561699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698">
                      <a:extLst>
                        <a:ext uri="{9D8B030D-6E8A-4147-A177-3AD203B41FA5}">
                          <a16:colId xmlns:a16="http://schemas.microsoft.com/office/drawing/2014/main" val="597634527"/>
                        </a:ext>
                      </a:extLst>
                    </a:gridCol>
                    <a:gridCol w="812546">
                      <a:extLst>
                        <a:ext uri="{9D8B030D-6E8A-4147-A177-3AD203B41FA5}">
                          <a16:colId xmlns:a16="http://schemas.microsoft.com/office/drawing/2014/main" val="3538745539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26713004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166063262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166979611"/>
                        </a:ext>
                      </a:extLst>
                    </a:gridCol>
                  </a:tblGrid>
                  <a:tr h="2774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AND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100" b="0" dirty="0"/>
                            <a:t>(bias)</a:t>
                          </a:r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000" b="0" dirty="0"/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795532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1: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27657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2: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131563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3: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506020"/>
                      </a:ext>
                    </a:extLst>
                  </a:tr>
                  <a:tr h="3480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4: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2638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65F62391-3C66-92F5-77C6-D962132737D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559989" y="37306"/>
              <a:ext cx="3561699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698">
                      <a:extLst>
                        <a:ext uri="{9D8B030D-6E8A-4147-A177-3AD203B41FA5}">
                          <a16:colId xmlns:a16="http://schemas.microsoft.com/office/drawing/2014/main" val="597634527"/>
                        </a:ext>
                      </a:extLst>
                    </a:gridCol>
                    <a:gridCol w="812546">
                      <a:extLst>
                        <a:ext uri="{9D8B030D-6E8A-4147-A177-3AD203B41FA5}">
                          <a16:colId xmlns:a16="http://schemas.microsoft.com/office/drawing/2014/main" val="3538745539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526713004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166063262"/>
                        </a:ext>
                      </a:extLst>
                    </a:gridCol>
                    <a:gridCol w="450485">
                      <a:extLst>
                        <a:ext uri="{9D8B030D-6E8A-4147-A177-3AD203B41FA5}">
                          <a16:colId xmlns:a16="http://schemas.microsoft.com/office/drawing/2014/main" val="316697961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AND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73684" t="-7692" r="-16992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491892" t="-7692" r="-20540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591892" t="-7692" r="-10540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d</a:t>
                          </a:r>
                        </a:p>
                      </a:txBody>
                      <a:tcPr>
                        <a:solidFill>
                          <a:srgbClr val="000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7955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1: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2765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2: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1315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3: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367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50602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Entrada 4: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  <a:endParaRPr kumimoji="0" lang="pt-BR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2638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63093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D2375-95E5-CE41-BC15-1AF3633D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pt-BR" dirty="0"/>
              <a:t>APÓS ALGUMAS ÉPOCAS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53AECFBA-28C4-C701-9993-980214A691F2}"/>
              </a:ext>
            </a:extLst>
          </p:cNvPr>
          <p:cNvGrpSpPr/>
          <p:nvPr/>
        </p:nvGrpSpPr>
        <p:grpSpPr>
          <a:xfrm>
            <a:off x="-2298700" y="2405062"/>
            <a:ext cx="2047875" cy="2047875"/>
            <a:chOff x="2828925" y="3209925"/>
            <a:chExt cx="2047875" cy="2047875"/>
          </a:xfrm>
          <a:solidFill>
            <a:srgbClr val="000050"/>
          </a:solidFill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F5AA220E-4C06-23A6-C811-E4CD9F3E2F6A}"/>
                </a:ext>
              </a:extLst>
            </p:cNvPr>
            <p:cNvSpPr/>
            <p:nvPr/>
          </p:nvSpPr>
          <p:spPr>
            <a:xfrm>
              <a:off x="2828925" y="3209925"/>
              <a:ext cx="2047875" cy="204787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Triângulo isósceles 7">
              <a:hlinkClick r:id="rId2"/>
              <a:extLst>
                <a:ext uri="{FF2B5EF4-FFF2-40B4-BE49-F238E27FC236}">
                  <a16:creationId xmlns:a16="http://schemas.microsoft.com/office/drawing/2014/main" id="{E7A4B5F8-9224-9856-994D-6E7833054C78}"/>
                </a:ext>
              </a:extLst>
            </p:cNvPr>
            <p:cNvSpPr/>
            <p:nvPr/>
          </p:nvSpPr>
          <p:spPr>
            <a:xfrm rot="5400000">
              <a:off x="3438525" y="3741190"/>
              <a:ext cx="1143000" cy="985345"/>
            </a:xfrm>
            <a:prstGeom prst="triangle">
              <a:avLst/>
            </a:prstGeom>
            <a:solidFill>
              <a:schemeClr val="bg1"/>
            </a:solidFill>
            <a:ln>
              <a:solidFill>
                <a:srgbClr val="F2A51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10284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1459 -0.00116 L 0.01459 -0.00069 C 0.05222 -0.03681 0.0638 -0.04954 0.10378 -0.08056 C 0.11315 -0.08819 0.12253 -0.09514 0.13255 -0.10093 C 0.14375 -0.10764 0.1556 -0.11181 0.16693 -0.11759 C 0.17722 -0.12292 0.18724 -0.12986 0.19766 -0.13426 C 0.20729 -0.13843 0.21732 -0.14005 0.22722 -0.14352 C 0.25795 -0.15486 0.25248 -0.15579 0.28503 -0.1713 C 0.29141 -0.17431 0.29779 -0.17639 0.30404 -0.1787 C 0.32761 -0.19884 0.30912 -0.18472 0.34545 -0.20463 C 0.34961 -0.20694 0.35326 -0.21019 0.35742 -0.21204 C 0.38269 -0.22477 0.43373 -0.2294 0.4461 -0.23056 C 0.49909 -0.23657 0.55261 -0.23727 0.60586 -0.24352 C 0.65482 -0.24954 0.62617 -0.24699 0.69193 -0.24907 L 0.77019 -0.24722 C 0.7944 -0.24606 0.79766 -0.24167 0.82227 -0.23611 C 0.86354 -0.22685 0.8263 -0.23773 0.86354 -0.2287 C 0.89037 -0.22222 0.91784 -0.21944 0.94414 -0.20833 C 0.98841 -0.18958 0.99336 -0.18935 1.03867 -0.16204 C 1.04545 -0.1581 1.05196 -0.15231 1.05886 -0.14722 C 1.06185 -0.13935 1.06641 -0.13218 1.06797 -0.12315 C 1.07045 -0.11181 1.07396 -0.06528 1.07539 -0.04907 C 1.07435 -0.02407 1.07357 0.01389 1.07162 0.03796 C 1.07071 0.05208 1.06862 0.0662 1.06693 0.08056 C 1.0655 0.09213 1.06485 0.1044 1.06224 0.11574 C 1.05977 0.12685 1.05547 0.13704 1.0517 0.14722 C 1.04206 0.17199 1.02709 0.20417 1.0138 0.22315 C 0.99844 0.24444 0.98151 0.26273 0.9655 0.28218 C 0.92865 0.32662 0.94063 0.31227 0.88841 0.36204 C 0.86641 0.38241 0.8517 0.39699 0.82696 0.41204 C 0.80547 0.425 0.77591 0.4287 0.75456 0.43403 C 0.74571 0.43634 0.73659 0.43981 0.72761 0.44144 C 0.70495 0.4456 0.67904 0.44583 0.65651 0.44676 L 0.54662 0.44329 C 0.45144 0.44236 0.50339 0.45139 0.44831 0.43981 C 0.41966 0.4213 0.38529 0.41644 0.36211 0.38426 C 0.34245 0.35671 0.29701 0.29468 0.28985 0.27106 L 0.2806 0.23935 C 0.27852 0.22593 0.27227 0.18866 0.27461 0.17315 C 0.27839 0.14352 0.29349 0.11204 0.30755 0.09352 C 0.32617 0.06898 0.34427 0.04097 0.36667 0.02685 C 0.39466 0.00903 0.40729 0.00046 0.43789 -0.01389 C 0.45495 -0.02222 0.47188 -0.03264 0.48985 -0.03611 L 0.53594 -0.04537 L 0.55365 -0.04907 C 0.56407 -0.04815 0.57891 -0.04745 0.58933 -0.04352 C 0.5961 -0.04097 0.60677 -0.03356 0.61289 -0.02685 C 0.61524 -0.02431 0.63164 -0.00486 0.63646 0.00463 C 0.63933 0.01019 0.6418 0.02037 0.64362 0.02685 C 0.64688 0.03981 0.64818 0.04606 0.65078 0.06019 C 0.65144 0.06505 0.65248 0.06991 0.653 0.075 C 0.65352 0.07917 0.65378 0.08356 0.65417 0.08796 C 0.65378 0.09213 0.6543 0.09699 0.653 0.10093 C 0.65013 0.10926 0.64349 0.11597 0.63763 0.11944 C 0.63464 0.12106 0.63138 0.12176 0.62826 0.12315 C 0.61875 0.11944 0.61315 0.12199 0.60925 0.10833 C 0.60834 0.10486 0.60847 0.10093 0.60808 0.09722 C 0.60925 0.08773 0.60808 0.07639 0.61511 0.07315 C 0.61758 0.07199 0.61992 0.07315 0.62214 0.07315 L 0.62344 0.07685 " pathEditMode="relative" rAng="0" ptsTypes="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034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E83F9-EA3B-C545-2590-8F0ADB9C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APÓS ALGUMAS ÉPOCAS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4CD0450-987D-188E-A819-D9181DF289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3410" y="1825625"/>
                <a:ext cx="10370390" cy="357505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Entrada 1: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−1∗1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1∗0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0,5∗0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pt-BR" b="0" dirty="0"/>
              </a:p>
              <a:p>
                <a:r>
                  <a:rPr lang="pt-BR" dirty="0"/>
                  <a:t>Entrada 2: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−1∗1+1∗0+0,5∗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0,5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pt-BR" dirty="0"/>
              </a:p>
              <a:p>
                <a:r>
                  <a:rPr lang="pt-BR" dirty="0"/>
                  <a:t>Entrada 3: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−1∗1+1∗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+0,5∗0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pt-BR" dirty="0"/>
              </a:p>
              <a:p>
                <a:r>
                  <a:rPr lang="pt-BR" dirty="0"/>
                  <a:t>Entrada 4: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−1∗1+1∗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+0,5∗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0,5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4CD0450-987D-188E-A819-D9181DF28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3410" y="1825625"/>
                <a:ext cx="10370390" cy="3575050"/>
              </a:xfrm>
              <a:blipFill>
                <a:blip r:embed="rId2"/>
                <a:stretch>
                  <a:fillRect l="-1058" t="-40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00137F60-D761-53E4-700F-CB2559BB5F80}"/>
                  </a:ext>
                </a:extLst>
              </p:cNvPr>
              <p:cNvSpPr txBox="1"/>
              <p:nvPr/>
            </p:nvSpPr>
            <p:spPr>
              <a:xfrm>
                <a:off x="1223963" y="5400675"/>
                <a:ext cx="40338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/>
                  <a:t>Peso finais: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=−1,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,5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00137F60-D761-53E4-700F-CB2559BB5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963" y="5400675"/>
                <a:ext cx="4033837" cy="369332"/>
              </a:xfrm>
              <a:prstGeom prst="rect">
                <a:avLst/>
              </a:prstGeom>
              <a:blipFill>
                <a:blip r:embed="rId3"/>
                <a:stretch>
                  <a:fillRect l="-1360" t="-8197" b="-262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2536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DE6A810-183A-2104-B15A-5040C81206C7}"/>
              </a:ext>
            </a:extLst>
          </p:cNvPr>
          <p:cNvSpPr/>
          <p:nvPr/>
        </p:nvSpPr>
        <p:spPr>
          <a:xfrm>
            <a:off x="3539815" y="2416454"/>
            <a:ext cx="3859161" cy="388952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771641E-58E3-2628-5491-4F96F9B5B783}"/>
              </a:ext>
            </a:extLst>
          </p:cNvPr>
          <p:cNvSpPr/>
          <p:nvPr/>
        </p:nvSpPr>
        <p:spPr>
          <a:xfrm rot="20403509">
            <a:off x="5105111" y="1838637"/>
            <a:ext cx="1294291" cy="3889521"/>
          </a:xfrm>
          <a:prstGeom prst="rect">
            <a:avLst/>
          </a:prstGeom>
          <a:solidFill>
            <a:srgbClr val="00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310088A4-C820-A8B0-C37C-EE311F0957F1}"/>
              </a:ext>
            </a:extLst>
          </p:cNvPr>
          <p:cNvSpPr/>
          <p:nvPr/>
        </p:nvSpPr>
        <p:spPr>
          <a:xfrm rot="20403509">
            <a:off x="3266648" y="2392862"/>
            <a:ext cx="1918113" cy="3889521"/>
          </a:xfrm>
          <a:prstGeom prst="rect">
            <a:avLst/>
          </a:prstGeom>
          <a:solidFill>
            <a:srgbClr val="F2BF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3570D98-8ED2-DF5F-0CC9-29C1A9B6A00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/>
                <a:r>
                  <a:rPr lang="pt-BR" dirty="0"/>
                  <a:t>INTERPRETAÇÃO GEOMÉTRICA</a:t>
                </a:r>
                <a:br>
                  <a:rPr lang="pt-BR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1">
                          <a:latin typeface="Cambria Math" panose="02040503050406030204" pitchFamily="18" charset="0"/>
                        </a:rPr>
                        <m:t>=−1,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pt-BR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>
                          <a:latin typeface="Cambria Math" panose="02040503050406030204" pitchFamily="18" charset="0"/>
                        </a:rPr>
                        <m:t>1,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pt-BR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pt-BR" b="0" i="1">
                          <a:latin typeface="Cambria Math" panose="02040503050406030204" pitchFamily="18" charset="0"/>
                        </a:rPr>
                        <m:t>,5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3570D98-8ED2-DF5F-0CC9-29C1A9B6A0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64" t="-18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821C1153-987B-3C65-3420-1C2A3401F4A5}"/>
              </a:ext>
            </a:extLst>
          </p:cNvPr>
          <p:cNvCxnSpPr/>
          <p:nvPr/>
        </p:nvCxnSpPr>
        <p:spPr>
          <a:xfrm>
            <a:off x="3802918" y="5854640"/>
            <a:ext cx="3367155" cy="0"/>
          </a:xfrm>
          <a:prstGeom prst="straightConnector1">
            <a:avLst/>
          </a:prstGeom>
          <a:ln w="57150">
            <a:solidFill>
              <a:srgbClr val="000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AF8FED0-3A76-1496-E74F-E891EA146982}"/>
              </a:ext>
            </a:extLst>
          </p:cNvPr>
          <p:cNvCxnSpPr/>
          <p:nvPr/>
        </p:nvCxnSpPr>
        <p:spPr>
          <a:xfrm flipV="1">
            <a:off x="4024664" y="2588594"/>
            <a:ext cx="0" cy="3469197"/>
          </a:xfrm>
          <a:prstGeom prst="straightConnector1">
            <a:avLst/>
          </a:prstGeom>
          <a:ln w="57150">
            <a:solidFill>
              <a:srgbClr val="000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9424FB4-CBBF-7BD9-0303-253F90DEB26F}"/>
              </a:ext>
            </a:extLst>
          </p:cNvPr>
          <p:cNvCxnSpPr>
            <a:cxnSpLocks/>
          </p:cNvCxnSpPr>
          <p:nvPr/>
        </p:nvCxnSpPr>
        <p:spPr>
          <a:xfrm>
            <a:off x="3942821" y="4139730"/>
            <a:ext cx="1701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E9A8FF6-354F-A048-C0C0-19E68340FEA2}"/>
              </a:ext>
            </a:extLst>
          </p:cNvPr>
          <p:cNvCxnSpPr>
            <a:cxnSpLocks/>
          </p:cNvCxnSpPr>
          <p:nvPr/>
        </p:nvCxnSpPr>
        <p:spPr>
          <a:xfrm>
            <a:off x="5759323" y="5749859"/>
            <a:ext cx="0" cy="2106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01B53FB-38C6-69F0-450D-9B45D31ABAE2}"/>
              </a:ext>
            </a:extLst>
          </p:cNvPr>
          <p:cNvSpPr txBox="1"/>
          <p:nvPr/>
        </p:nvSpPr>
        <p:spPr>
          <a:xfrm>
            <a:off x="3591298" y="3987826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0,1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0B8CDF4-4326-A861-DEE9-9B18287E54C4}"/>
              </a:ext>
            </a:extLst>
          </p:cNvPr>
          <p:cNvSpPr txBox="1"/>
          <p:nvPr/>
        </p:nvSpPr>
        <p:spPr>
          <a:xfrm>
            <a:off x="5534280" y="5952808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1,0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957656D-DBB8-12F3-34E8-784DA4277196}"/>
              </a:ext>
            </a:extLst>
          </p:cNvPr>
          <p:cNvSpPr txBox="1"/>
          <p:nvPr/>
        </p:nvSpPr>
        <p:spPr>
          <a:xfrm>
            <a:off x="3826936" y="6013979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0,0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87B39F6-ACD5-439B-828D-3CFF2E259A56}"/>
              </a:ext>
            </a:extLst>
          </p:cNvPr>
          <p:cNvSpPr txBox="1"/>
          <p:nvPr/>
        </p:nvSpPr>
        <p:spPr>
          <a:xfrm>
            <a:off x="3484388" y="2849293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1,67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C841E42-8AD5-F85E-DFB5-323C35CF37A1}"/>
                  </a:ext>
                </a:extLst>
              </p:cNvPr>
              <p:cNvSpPr txBox="1"/>
              <p:nvPr/>
            </p:nvSpPr>
            <p:spPr>
              <a:xfrm>
                <a:off x="3662121" y="23241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C841E42-8AD5-F85E-DFB5-323C35CF3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21" y="2324100"/>
                <a:ext cx="464486" cy="369332"/>
              </a:xfrm>
              <a:prstGeom prst="rect">
                <a:avLst/>
              </a:prstGeom>
              <a:blipFill>
                <a:blip r:embed="rId3"/>
                <a:stretch>
                  <a:fillRect t="-9836" r="-14474" b="-229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6C13DD16-6DC5-B9E6-A776-37C7107D6644}"/>
                  </a:ext>
                </a:extLst>
              </p:cNvPr>
              <p:cNvSpPr txBox="1"/>
              <p:nvPr/>
            </p:nvSpPr>
            <p:spPr>
              <a:xfrm>
                <a:off x="7032175" y="5725546"/>
                <a:ext cx="4591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6C13DD16-6DC5-B9E6-A776-37C7107D6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175" y="5725546"/>
                <a:ext cx="459164" cy="369332"/>
              </a:xfrm>
              <a:prstGeom prst="rect">
                <a:avLst/>
              </a:prstGeom>
              <a:blipFill>
                <a:blip r:embed="rId4"/>
                <a:stretch>
                  <a:fillRect t="-9836" r="-16000" b="-229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aixaDeTexto 21">
            <a:extLst>
              <a:ext uri="{FF2B5EF4-FFF2-40B4-BE49-F238E27FC236}">
                <a16:creationId xmlns:a16="http://schemas.microsoft.com/office/drawing/2014/main" id="{F4A9011E-3A97-A280-49B8-2F7BA02CD8D3}"/>
              </a:ext>
            </a:extLst>
          </p:cNvPr>
          <p:cNvSpPr txBox="1"/>
          <p:nvPr/>
        </p:nvSpPr>
        <p:spPr>
          <a:xfrm>
            <a:off x="4137518" y="3461736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135º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46348CB-7244-64D1-F7AB-01E98448958D}"/>
              </a:ext>
            </a:extLst>
          </p:cNvPr>
          <p:cNvCxnSpPr>
            <a:cxnSpLocks/>
          </p:cNvCxnSpPr>
          <p:nvPr/>
        </p:nvCxnSpPr>
        <p:spPr>
          <a:xfrm>
            <a:off x="4374121" y="1965116"/>
            <a:ext cx="1403320" cy="388952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221F3E9E-243A-0ADC-B13C-74E5505E0635}"/>
              </a:ext>
            </a:extLst>
          </p:cNvPr>
          <p:cNvCxnSpPr>
            <a:cxnSpLocks/>
          </p:cNvCxnSpPr>
          <p:nvPr/>
        </p:nvCxnSpPr>
        <p:spPr>
          <a:xfrm>
            <a:off x="4008891" y="4139730"/>
            <a:ext cx="21597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34278791-646B-7D87-DC20-99685A043C57}"/>
              </a:ext>
            </a:extLst>
          </p:cNvPr>
          <p:cNvCxnSpPr>
            <a:cxnSpLocks/>
          </p:cNvCxnSpPr>
          <p:nvPr/>
        </p:nvCxnSpPr>
        <p:spPr>
          <a:xfrm>
            <a:off x="5759323" y="3783397"/>
            <a:ext cx="0" cy="21771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63ABEC11-A078-1563-25E8-6D88F945B8F6}"/>
              </a:ext>
            </a:extLst>
          </p:cNvPr>
          <p:cNvSpPr/>
          <p:nvPr/>
        </p:nvSpPr>
        <p:spPr>
          <a:xfrm>
            <a:off x="5488527" y="3909877"/>
            <a:ext cx="538068" cy="465352"/>
          </a:xfrm>
          <a:prstGeom prst="rect">
            <a:avLst/>
          </a:prstGeom>
          <a:solidFill>
            <a:srgbClr val="FF0000"/>
          </a:solidFill>
          <a:ln>
            <a:solidFill>
              <a:srgbClr val="F2A51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2"/>
                </a:solidFill>
              </a:rPr>
              <a:t>1,1</a:t>
            </a:r>
          </a:p>
        </p:txBody>
      </p:sp>
    </p:spTree>
    <p:extLst>
      <p:ext uri="{BB962C8B-B14F-4D97-AF65-F5344CB8AC3E}">
        <p14:creationId xmlns:p14="http://schemas.microsoft.com/office/powerpoint/2010/main" val="3789947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A6611-D8AD-EF6E-634B-AF8732360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02 : ADALINE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53E38A-B9B7-DF81-C206-E276E12D6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Filtros adaptativos são dispositivos autoajustáveis que modificam seus parâmetros de acordo com critérios preestabelecidos.</a:t>
            </a:r>
          </a:p>
          <a:p>
            <a:r>
              <a:rPr lang="pt-BR" dirty="0"/>
              <a:t>Em ambiente estacionário, acompanham a solução ótima do problema</a:t>
            </a:r>
          </a:p>
          <a:p>
            <a:r>
              <a:rPr lang="pt-BR" dirty="0"/>
              <a:t>Em ambientes não estacionário, acompanham as modificações do sinal envolvido.</a:t>
            </a:r>
          </a:p>
          <a:p>
            <a:r>
              <a:rPr lang="pt-BR" dirty="0"/>
              <a:t>Base para o desenvolvimento do </a:t>
            </a:r>
            <a:r>
              <a:rPr lang="pt-BR" dirty="0" err="1"/>
              <a:t>Adaline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6869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F0F3F-39D3-6D40-F3CF-E30791B4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ADA</a:t>
            </a:r>
            <a:r>
              <a:rPr lang="pt-BR" dirty="0">
                <a:solidFill>
                  <a:srgbClr val="FFC000"/>
                </a:solidFill>
              </a:rPr>
              <a:t>LI</a:t>
            </a:r>
            <a:r>
              <a:rPr lang="pt-BR" dirty="0">
                <a:solidFill>
                  <a:srgbClr val="FF0000"/>
                </a:solidFill>
              </a:rPr>
              <a:t>N</a:t>
            </a:r>
            <a:r>
              <a:rPr lang="pt-BR" dirty="0">
                <a:solidFill>
                  <a:srgbClr val="7030A0"/>
                </a:solidFill>
              </a:rPr>
              <a:t>E</a:t>
            </a:r>
            <a:br>
              <a:rPr lang="pt-BR" dirty="0"/>
            </a:b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ADA</a:t>
            </a:r>
            <a:r>
              <a:rPr lang="pt-BR" dirty="0" err="1"/>
              <a:t>ptive</a:t>
            </a:r>
            <a:r>
              <a:rPr lang="pt-BR" dirty="0"/>
              <a:t> </a:t>
            </a:r>
            <a:r>
              <a:rPr lang="pt-BR" dirty="0" err="1">
                <a:solidFill>
                  <a:srgbClr val="FFC000"/>
                </a:solidFill>
              </a:rPr>
              <a:t>LI</a:t>
            </a:r>
            <a:r>
              <a:rPr lang="pt-BR" dirty="0" err="1">
                <a:solidFill>
                  <a:srgbClr val="FF0000"/>
                </a:solidFill>
              </a:rPr>
              <a:t>N</a:t>
            </a:r>
            <a:r>
              <a:rPr lang="pt-BR" dirty="0" err="1"/>
              <a:t>ear</a:t>
            </a:r>
            <a:r>
              <a:rPr lang="pt-BR" dirty="0"/>
              <a:t> </a:t>
            </a:r>
            <a:r>
              <a:rPr lang="pt-BR" dirty="0">
                <a:solidFill>
                  <a:srgbClr val="7030A0"/>
                </a:solidFill>
              </a:rPr>
              <a:t>E</a:t>
            </a:r>
            <a:r>
              <a:rPr lang="pt-BR" dirty="0"/>
              <a:t>lement </a:t>
            </a:r>
            <a:br>
              <a:rPr lang="pt-BR" dirty="0"/>
            </a:b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ADA</a:t>
            </a:r>
            <a:r>
              <a:rPr lang="pt-BR" dirty="0" err="1"/>
              <a:t>ptive</a:t>
            </a:r>
            <a:r>
              <a:rPr lang="pt-BR" dirty="0"/>
              <a:t> </a:t>
            </a:r>
            <a:r>
              <a:rPr lang="pt-BR" dirty="0">
                <a:solidFill>
                  <a:srgbClr val="FFC000"/>
                </a:solidFill>
              </a:rPr>
              <a:t>Li</a:t>
            </a:r>
            <a:r>
              <a:rPr lang="pt-BR" dirty="0"/>
              <a:t>near </a:t>
            </a:r>
            <a:r>
              <a:rPr lang="pt-BR" dirty="0" err="1">
                <a:solidFill>
                  <a:srgbClr val="FF0000"/>
                </a:solidFill>
              </a:rPr>
              <a:t>N</a:t>
            </a:r>
            <a:r>
              <a:rPr lang="pt-BR" dirty="0" err="1">
                <a:solidFill>
                  <a:srgbClr val="7030A0"/>
                </a:solidFill>
              </a:rPr>
              <a:t>E</a:t>
            </a:r>
            <a:r>
              <a:rPr lang="pt-BR" dirty="0" err="1"/>
              <a:t>uron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331B70-D62A-EEB4-64A4-D4A12E3F4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Método linear adaptável para classificações de padrões, filtros, etc.,</a:t>
            </a:r>
          </a:p>
          <a:p>
            <a:r>
              <a:rPr lang="pt-BR" dirty="0"/>
              <a:t>Possui saída contínua (linear)</a:t>
            </a:r>
          </a:p>
        </p:txBody>
      </p:sp>
    </p:spTree>
    <p:extLst>
      <p:ext uri="{BB962C8B-B14F-4D97-AF65-F5344CB8AC3E}">
        <p14:creationId xmlns:p14="http://schemas.microsoft.com/office/powerpoint/2010/main" val="2926846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eta: para Baixo 62">
            <a:extLst>
              <a:ext uri="{FF2B5EF4-FFF2-40B4-BE49-F238E27FC236}">
                <a16:creationId xmlns:a16="http://schemas.microsoft.com/office/drawing/2014/main" id="{D5DD8E94-3E75-CD75-B0A7-9F5DC5E5FE22}"/>
              </a:ext>
            </a:extLst>
          </p:cNvPr>
          <p:cNvSpPr/>
          <p:nvPr/>
        </p:nvSpPr>
        <p:spPr>
          <a:xfrm rot="10800000">
            <a:off x="4688557" y="3181349"/>
            <a:ext cx="676275" cy="1312213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 w="57150">
            <a:solidFill>
              <a:srgbClr val="00000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871D9A-B4CE-D296-0F0B-2717EA9C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ADALINE</a:t>
            </a:r>
          </a:p>
        </p:txBody>
      </p:sp>
      <p:sp>
        <p:nvSpPr>
          <p:cNvPr id="7" name="Fluxograma: Processo 6">
            <a:extLst>
              <a:ext uri="{FF2B5EF4-FFF2-40B4-BE49-F238E27FC236}">
                <a16:creationId xmlns:a16="http://schemas.microsoft.com/office/drawing/2014/main" id="{F8B80C80-EF1E-F658-2C06-2BD91FC56110}"/>
              </a:ext>
            </a:extLst>
          </p:cNvPr>
          <p:cNvSpPr/>
          <p:nvPr/>
        </p:nvSpPr>
        <p:spPr>
          <a:xfrm>
            <a:off x="3832015" y="2233612"/>
            <a:ext cx="2311610" cy="876128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FILTRO ADAPTATIVO (Rede Neural)</a:t>
            </a:r>
          </a:p>
        </p:txBody>
      </p:sp>
      <p:sp>
        <p:nvSpPr>
          <p:cNvPr id="8" name="Fluxograma: Processo 7">
            <a:extLst>
              <a:ext uri="{FF2B5EF4-FFF2-40B4-BE49-F238E27FC236}">
                <a16:creationId xmlns:a16="http://schemas.microsoft.com/office/drawing/2014/main" id="{CA3F67D0-C124-7DA7-3BA9-A6AFF8711CD1}"/>
              </a:ext>
            </a:extLst>
          </p:cNvPr>
          <p:cNvSpPr/>
          <p:nvPr/>
        </p:nvSpPr>
        <p:spPr>
          <a:xfrm>
            <a:off x="3747843" y="4498239"/>
            <a:ext cx="2557708" cy="1232451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ALGORITMO DE ADAPTAÇÃO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56C1CFB-4739-6EE5-D206-6DCFF904BDDF}"/>
              </a:ext>
            </a:extLst>
          </p:cNvPr>
          <p:cNvGrpSpPr/>
          <p:nvPr/>
        </p:nvGrpSpPr>
        <p:grpSpPr>
          <a:xfrm>
            <a:off x="7510464" y="2238287"/>
            <a:ext cx="837126" cy="876129"/>
            <a:chOff x="9304126" y="3842878"/>
            <a:chExt cx="1392449" cy="1457325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CC8C920C-BBCA-D97C-E71F-D8DCC8A1B6AC}"/>
                </a:ext>
              </a:extLst>
            </p:cNvPr>
            <p:cNvSpPr/>
            <p:nvPr/>
          </p:nvSpPr>
          <p:spPr>
            <a:xfrm>
              <a:off x="9304126" y="3842878"/>
              <a:ext cx="1392449" cy="1457325"/>
            </a:xfrm>
            <a:prstGeom prst="ellipse">
              <a:avLst/>
            </a:prstGeom>
            <a:solidFill>
              <a:srgbClr val="000050"/>
            </a:solidFill>
            <a:ln w="38100"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E1EE98A8-8B09-7EE3-541D-F59CF01EC3F6}"/>
                    </a:ext>
                  </a:extLst>
                </p:cNvPr>
                <p:cNvSpPr txBox="1"/>
                <p:nvPr/>
              </p:nvSpPr>
              <p:spPr>
                <a:xfrm>
                  <a:off x="9756564" y="4003386"/>
                  <a:ext cx="674794" cy="9726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pt-BR" sz="3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E1EE98A8-8B09-7EE3-541D-F59CF01EC3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6564" y="4003386"/>
                  <a:ext cx="674794" cy="97269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06DE43A3-6038-71F3-F104-1A73BA5CA3AE}"/>
              </a:ext>
            </a:extLst>
          </p:cNvPr>
          <p:cNvCxnSpPr>
            <a:cxnSpLocks/>
            <a:stCxn id="7" idx="1"/>
            <a:endCxn id="8" idx="1"/>
          </p:cNvCxnSpPr>
          <p:nvPr/>
        </p:nvCxnSpPr>
        <p:spPr>
          <a:xfrm rot="10800000" flipV="1">
            <a:off x="3747843" y="2671675"/>
            <a:ext cx="84172" cy="2442789"/>
          </a:xfrm>
          <a:prstGeom prst="bentConnector3">
            <a:avLst>
              <a:gd name="adj1" fmla="val 1039238"/>
            </a:avLst>
          </a:prstGeom>
          <a:ln w="57150">
            <a:solidFill>
              <a:srgbClr val="033E8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A6B899C1-6B20-11A8-AB35-D02AF984D08F}"/>
              </a:ext>
            </a:extLst>
          </p:cNvPr>
          <p:cNvCxnSpPr>
            <a:cxnSpLocks/>
            <a:stCxn id="10" idx="4"/>
            <a:endCxn id="8" idx="2"/>
          </p:cNvCxnSpPr>
          <p:nvPr/>
        </p:nvCxnSpPr>
        <p:spPr>
          <a:xfrm rot="5400000">
            <a:off x="5169725" y="2971388"/>
            <a:ext cx="2616274" cy="2902330"/>
          </a:xfrm>
          <a:prstGeom prst="bentConnector3">
            <a:avLst>
              <a:gd name="adj1" fmla="val 108738"/>
            </a:avLst>
          </a:prstGeom>
          <a:ln w="57150">
            <a:solidFill>
              <a:srgbClr val="033E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uxograma: Processo 24">
            <a:extLst>
              <a:ext uri="{FF2B5EF4-FFF2-40B4-BE49-F238E27FC236}">
                <a16:creationId xmlns:a16="http://schemas.microsoft.com/office/drawing/2014/main" id="{2D61EFA9-FF70-99BA-8143-0F51747B1D27}"/>
              </a:ext>
            </a:extLst>
          </p:cNvPr>
          <p:cNvSpPr/>
          <p:nvPr/>
        </p:nvSpPr>
        <p:spPr>
          <a:xfrm>
            <a:off x="645589" y="2233612"/>
            <a:ext cx="1495402" cy="876128"/>
          </a:xfrm>
          <a:prstGeom prst="flowChartProcess">
            <a:avLst/>
          </a:prstGeom>
          <a:solidFill>
            <a:srgbClr val="000050"/>
          </a:solidFill>
          <a:ln w="5715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Sinal de entrada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4A30356B-BB76-AB2F-270D-E0EB1D3C7D92}"/>
              </a:ext>
            </a:extLst>
          </p:cNvPr>
          <p:cNvCxnSpPr>
            <a:cxnSpLocks/>
            <a:stCxn id="25" idx="3"/>
            <a:endCxn id="7" idx="1"/>
          </p:cNvCxnSpPr>
          <p:nvPr/>
        </p:nvCxnSpPr>
        <p:spPr>
          <a:xfrm>
            <a:off x="2140991" y="2671676"/>
            <a:ext cx="1691024" cy="0"/>
          </a:xfrm>
          <a:prstGeom prst="straightConnector1">
            <a:avLst/>
          </a:prstGeom>
          <a:ln w="57150">
            <a:solidFill>
              <a:srgbClr val="033E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A9114255-CD66-6A11-65E9-B23559F90FF3}"/>
              </a:ext>
            </a:extLst>
          </p:cNvPr>
          <p:cNvCxnSpPr>
            <a:cxnSpLocks/>
            <a:stCxn id="7" idx="3"/>
            <a:endCxn id="10" idx="2"/>
          </p:cNvCxnSpPr>
          <p:nvPr/>
        </p:nvCxnSpPr>
        <p:spPr>
          <a:xfrm>
            <a:off x="6143625" y="2671676"/>
            <a:ext cx="1366839" cy="4676"/>
          </a:xfrm>
          <a:prstGeom prst="straightConnector1">
            <a:avLst/>
          </a:prstGeom>
          <a:ln w="57150">
            <a:solidFill>
              <a:srgbClr val="033E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00EE92D4-8E77-FCCB-CB84-2D6E80C5BBF2}"/>
              </a:ext>
            </a:extLst>
          </p:cNvPr>
          <p:cNvCxnSpPr>
            <a:cxnSpLocks/>
            <a:stCxn id="55" idx="2"/>
            <a:endCxn id="10" idx="0"/>
          </p:cNvCxnSpPr>
          <p:nvPr/>
        </p:nvCxnSpPr>
        <p:spPr>
          <a:xfrm>
            <a:off x="7928154" y="1433429"/>
            <a:ext cx="873" cy="804858"/>
          </a:xfrm>
          <a:prstGeom prst="straightConnector1">
            <a:avLst/>
          </a:prstGeom>
          <a:ln w="57150">
            <a:solidFill>
              <a:srgbClr val="033E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luxograma: Processo 54">
            <a:extLst>
              <a:ext uri="{FF2B5EF4-FFF2-40B4-BE49-F238E27FC236}">
                <a16:creationId xmlns:a16="http://schemas.microsoft.com/office/drawing/2014/main" id="{32406AEA-A27C-24B0-2F11-7BF6B6DBE377}"/>
              </a:ext>
            </a:extLst>
          </p:cNvPr>
          <p:cNvSpPr/>
          <p:nvPr/>
        </p:nvSpPr>
        <p:spPr>
          <a:xfrm>
            <a:off x="7236766" y="775021"/>
            <a:ext cx="1382776" cy="658408"/>
          </a:xfrm>
          <a:prstGeom prst="flowChartProcess">
            <a:avLst/>
          </a:prstGeom>
          <a:solidFill>
            <a:srgbClr val="C00000"/>
          </a:solidFill>
          <a:ln w="57150">
            <a:solidFill>
              <a:srgbClr val="03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Sinal de Referência</a:t>
            </a:r>
          </a:p>
        </p:txBody>
      </p:sp>
      <p:sp>
        <p:nvSpPr>
          <p:cNvPr id="58" name="Fluxograma: Processo 57">
            <a:extLst>
              <a:ext uri="{FF2B5EF4-FFF2-40B4-BE49-F238E27FC236}">
                <a16:creationId xmlns:a16="http://schemas.microsoft.com/office/drawing/2014/main" id="{EEC7116C-B92B-67D0-A227-39462D37C280}"/>
              </a:ext>
            </a:extLst>
          </p:cNvPr>
          <p:cNvSpPr/>
          <p:nvPr/>
        </p:nvSpPr>
        <p:spPr>
          <a:xfrm>
            <a:off x="6282401" y="1923721"/>
            <a:ext cx="1068617" cy="643096"/>
          </a:xfrm>
          <a:prstGeom prst="flowChartProcess">
            <a:avLst/>
          </a:prstGeom>
          <a:solidFill>
            <a:srgbClr val="F2A516"/>
          </a:solidFill>
          <a:ln w="19050">
            <a:solidFill>
              <a:srgbClr val="00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000050"/>
                </a:solidFill>
              </a:rPr>
              <a:t>Sinal de Saída</a:t>
            </a:r>
          </a:p>
        </p:txBody>
      </p:sp>
      <p:sp>
        <p:nvSpPr>
          <p:cNvPr id="64" name="Fluxograma: Processo 63">
            <a:extLst>
              <a:ext uri="{FF2B5EF4-FFF2-40B4-BE49-F238E27FC236}">
                <a16:creationId xmlns:a16="http://schemas.microsoft.com/office/drawing/2014/main" id="{E506F0DE-9112-A4B3-CABB-5910ADB404D3}"/>
              </a:ext>
            </a:extLst>
          </p:cNvPr>
          <p:cNvSpPr/>
          <p:nvPr/>
        </p:nvSpPr>
        <p:spPr>
          <a:xfrm>
            <a:off x="8030347" y="3210912"/>
            <a:ext cx="634485" cy="292388"/>
          </a:xfrm>
          <a:prstGeom prst="flowChartProcess">
            <a:avLst/>
          </a:prstGeom>
          <a:solidFill>
            <a:srgbClr val="C0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C000"/>
                </a:solidFill>
              </a:rPr>
              <a:t>Erro </a:t>
            </a:r>
          </a:p>
        </p:txBody>
      </p:sp>
    </p:spTree>
    <p:extLst>
      <p:ext uri="{BB962C8B-B14F-4D97-AF65-F5344CB8AC3E}">
        <p14:creationId xmlns:p14="http://schemas.microsoft.com/office/powerpoint/2010/main" val="27872956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CE0BB-A625-8E1A-2E70-AC79A6129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ADALINE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99C61E-29BE-BB8D-65F6-02A1CF7E27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O modelo </a:t>
            </a:r>
            <a:r>
              <a:rPr lang="pt-BR" dirty="0" err="1"/>
              <a:t>Adaline</a:t>
            </a:r>
            <a:r>
              <a:rPr lang="pt-BR" dirty="0"/>
              <a:t> tem seus pesos adaptados em função do erro de sua saída linear (antes da aplicação da função de ativação)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B4C6367-20C9-6326-0FA8-EFA6FAAF2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647" y="1027906"/>
            <a:ext cx="3280493" cy="516731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7BECA5E-F294-8EB5-8A27-B0B5244040A3}"/>
              </a:ext>
            </a:extLst>
          </p:cNvPr>
          <p:cNvSpPr txBox="1"/>
          <p:nvPr/>
        </p:nvSpPr>
        <p:spPr>
          <a:xfrm>
            <a:off x="9353550" y="2353469"/>
            <a:ext cx="1085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Função de ativação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5D2578D-34E6-4A6C-F214-D7D69136D560}"/>
              </a:ext>
            </a:extLst>
          </p:cNvPr>
          <p:cNvSpPr txBox="1"/>
          <p:nvPr/>
        </p:nvSpPr>
        <p:spPr>
          <a:xfrm>
            <a:off x="9427415" y="4593758"/>
            <a:ext cx="169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Saida da rede</a:t>
            </a:r>
          </a:p>
          <a:p>
            <a:pPr algn="ctr"/>
            <a:r>
              <a:rPr lang="pt-BR" sz="1400" dirty="0"/>
              <a:t>Combinador linear</a:t>
            </a:r>
          </a:p>
        </p:txBody>
      </p:sp>
    </p:spTree>
    <p:extLst>
      <p:ext uri="{BB962C8B-B14F-4D97-AF65-F5344CB8AC3E}">
        <p14:creationId xmlns:p14="http://schemas.microsoft.com/office/powerpoint/2010/main" val="10438271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FB523-1350-ADA9-0D33-DBE6F5A30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ADALINE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728DA2D-F250-3F72-3644-F266D0B8D9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O algoritmo de aprendizagem tem como objetivo minimizar o erro das saídas em relação aos valores desejados (conjunto de treinamento)</a:t>
                </a:r>
              </a:p>
              <a:p>
                <a:r>
                  <a:rPr lang="pt-BR" dirty="0"/>
                  <a:t>A função de custo a ser minimizada é a soma dos erros quadráticos:</a:t>
                </a:r>
              </a:p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728DA2D-F250-3F72-3644-F266D0B8D9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3358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E9FAB-B8FA-EE7B-1508-F26A54939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ADALINE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9DBAF2D-C624-944F-3CDC-F36D0576D9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3410" y="1825625"/>
                <a:ext cx="5226890" cy="4351338"/>
              </a:xfrm>
            </p:spPr>
            <p:txBody>
              <a:bodyPr/>
              <a:lstStyle/>
              <a:p>
                <a:r>
                  <a:rPr lang="pt-BR" dirty="0"/>
                  <a:t>Processo de minimização do erro quadrático pelo método do Gradiente Descendente.</a:t>
                </a:r>
              </a:p>
              <a:p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𝑘𝑖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</m:den>
                    </m:f>
                  </m:oMath>
                </a14:m>
                <a:endParaRPr lang="pt-BR" dirty="0"/>
              </a:p>
              <a:p>
                <a:r>
                  <a:rPr lang="pt-BR" dirty="0"/>
                  <a:t>Cada peso sináptico i do neurônio k é atualizado proporcionalmente ao negativo da derivada parcial do erro em relação ao peso.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9DBAF2D-C624-944F-3CDC-F36D0576D9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3410" y="1825625"/>
                <a:ext cx="5226890" cy="4351338"/>
              </a:xfrm>
              <a:blipFill>
                <a:blip r:embed="rId2"/>
                <a:stretch>
                  <a:fillRect l="-2098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06765E17-5A01-BFB9-F660-79F78B718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388" y="2227694"/>
            <a:ext cx="3572374" cy="2610214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BF39CBE7-1AD9-6D32-B48B-00510E6B1050}"/>
              </a:ext>
            </a:extLst>
          </p:cNvPr>
          <p:cNvCxnSpPr>
            <a:cxnSpLocks/>
          </p:cNvCxnSpPr>
          <p:nvPr/>
        </p:nvCxnSpPr>
        <p:spPr>
          <a:xfrm flipV="1">
            <a:off x="8953500" y="2124075"/>
            <a:ext cx="0" cy="7322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C207C8B-A761-153E-4848-57A1AA0E6C7F}"/>
              </a:ext>
            </a:extLst>
          </p:cNvPr>
          <p:cNvCxnSpPr>
            <a:cxnSpLocks/>
          </p:cNvCxnSpPr>
          <p:nvPr/>
        </p:nvCxnSpPr>
        <p:spPr>
          <a:xfrm>
            <a:off x="9363075" y="3805635"/>
            <a:ext cx="1028700" cy="4615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787CD7EF-9FAE-390F-C057-AA76F619DFE5}"/>
              </a:ext>
            </a:extLst>
          </p:cNvPr>
          <p:cNvCxnSpPr>
            <a:cxnSpLocks/>
          </p:cNvCxnSpPr>
          <p:nvPr/>
        </p:nvCxnSpPr>
        <p:spPr>
          <a:xfrm flipH="1">
            <a:off x="7067550" y="3805635"/>
            <a:ext cx="1143000" cy="3377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E804394-3829-A1CB-7778-F391FBE7A182}"/>
              </a:ext>
            </a:extLst>
          </p:cNvPr>
          <p:cNvSpPr txBox="1"/>
          <p:nvPr/>
        </p:nvSpPr>
        <p:spPr>
          <a:xfrm>
            <a:off x="8953500" y="1790400"/>
            <a:ext cx="796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E(</a:t>
            </a:r>
            <a:r>
              <a:rPr lang="pt-BR" dirty="0" err="1"/>
              <a:t>w,b</a:t>
            </a:r>
            <a:r>
              <a:rPr lang="pt-BR" dirty="0"/>
              <a:t>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EBE8E55-E9D9-2B00-22FB-BDF6B4466B0B}"/>
              </a:ext>
            </a:extLst>
          </p:cNvPr>
          <p:cNvSpPr txBox="1"/>
          <p:nvPr/>
        </p:nvSpPr>
        <p:spPr>
          <a:xfrm>
            <a:off x="6685091" y="40364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7DA1E5B-B40A-FAF7-6145-0F5256E24925}"/>
              </a:ext>
            </a:extLst>
          </p:cNvPr>
          <p:cNvSpPr txBox="1"/>
          <p:nvPr/>
        </p:nvSpPr>
        <p:spPr>
          <a:xfrm>
            <a:off x="10420507" y="414337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2587684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B4F0C60-028B-29D8-3028-3FDAB29F9299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528097" y="1189228"/>
                <a:ext cx="4313352" cy="8237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𝑘𝑖</m:t>
                          </m:r>
                        </m:sub>
                      </m:sSub>
                      <m:r>
                        <a:rPr lang="pt-B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pt-B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pt-B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B4F0C60-028B-29D8-3028-3FDAB29F92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528097" y="1189228"/>
                <a:ext cx="4313352" cy="82379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28F0C552-D380-2C8E-1310-9A4306C2189D}"/>
              </a:ext>
            </a:extLst>
          </p:cNvPr>
          <p:cNvGrpSpPr/>
          <p:nvPr/>
        </p:nvGrpSpPr>
        <p:grpSpPr>
          <a:xfrm>
            <a:off x="6540221" y="76473"/>
            <a:ext cx="5554856" cy="2197931"/>
            <a:chOff x="1095648" y="1126272"/>
            <a:chExt cx="11065526" cy="43783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id="{223CD707-729D-C26C-B325-DEBC1B1B9A1A}"/>
                    </a:ext>
                  </a:extLst>
                </p:cNvPr>
                <p:cNvSpPr txBox="1"/>
                <p:nvPr/>
              </p:nvSpPr>
              <p:spPr>
                <a:xfrm>
                  <a:off x="2783391" y="4707613"/>
                  <a:ext cx="1224678" cy="7970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id="{223CD707-729D-C26C-B325-DEBC1B1B9A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391" y="4707613"/>
                  <a:ext cx="1224678" cy="797037"/>
                </a:xfrm>
                <a:prstGeom prst="rect">
                  <a:avLst/>
                </a:prstGeom>
                <a:blipFill>
                  <a:blip r:embed="rId4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90DE9759-EF5D-A138-9F3D-7713D803C654}"/>
                </a:ext>
              </a:extLst>
            </p:cNvPr>
            <p:cNvGrpSpPr/>
            <p:nvPr/>
          </p:nvGrpSpPr>
          <p:grpSpPr>
            <a:xfrm>
              <a:off x="1095648" y="1126272"/>
              <a:ext cx="11065526" cy="4210585"/>
              <a:chOff x="1095648" y="1126272"/>
              <a:chExt cx="11065526" cy="4210585"/>
            </a:xfrm>
          </p:grpSpPr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2858F5B9-CAE7-6A5E-2F27-F59BAE5F074A}"/>
                  </a:ext>
                </a:extLst>
              </p:cNvPr>
              <p:cNvSpPr/>
              <p:nvPr/>
            </p:nvSpPr>
            <p:spPr>
              <a:xfrm>
                <a:off x="5581651" y="2647950"/>
                <a:ext cx="1325563" cy="1325563"/>
              </a:xfrm>
              <a:prstGeom prst="ellipse">
                <a:avLst/>
              </a:prstGeom>
              <a:solidFill>
                <a:srgbClr val="000050"/>
              </a:solidFill>
              <a:ln w="38100">
                <a:solidFill>
                  <a:srgbClr val="0367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 dirty="0"/>
              </a:p>
            </p:txBody>
          </p: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CDD0A50F-C0FE-764F-98C8-B36CB3AFA7BB}"/>
                  </a:ext>
                </a:extLst>
              </p:cNvPr>
              <p:cNvSpPr/>
              <p:nvPr/>
            </p:nvSpPr>
            <p:spPr>
              <a:xfrm>
                <a:off x="9116219" y="2979340"/>
                <a:ext cx="662782" cy="662782"/>
              </a:xfrm>
              <a:prstGeom prst="ellipse">
                <a:avLst/>
              </a:prstGeom>
              <a:solidFill>
                <a:srgbClr val="000050"/>
              </a:solidFill>
              <a:ln w="38100">
                <a:solidFill>
                  <a:srgbClr val="0367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/>
                  <a:t>-</a:t>
                </a:r>
              </a:p>
            </p:txBody>
          </p: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A32E12E1-B457-745D-F1A6-DDB2D4B7FD30}"/>
                  </a:ext>
                </a:extLst>
              </p:cNvPr>
              <p:cNvSpPr/>
              <p:nvPr/>
            </p:nvSpPr>
            <p:spPr>
              <a:xfrm>
                <a:off x="2326485" y="1937789"/>
                <a:ext cx="366712" cy="366712"/>
              </a:xfrm>
              <a:prstGeom prst="ellipse">
                <a:avLst/>
              </a:prstGeom>
              <a:solidFill>
                <a:srgbClr val="000050"/>
              </a:solidFill>
              <a:ln w="38100">
                <a:solidFill>
                  <a:srgbClr val="0367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 dirty="0"/>
              </a:p>
            </p:txBody>
          </p:sp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87EAAA69-A752-6F31-542A-98F2BDDA1A18}"/>
                  </a:ext>
                </a:extLst>
              </p:cNvPr>
              <p:cNvSpPr/>
              <p:nvPr/>
            </p:nvSpPr>
            <p:spPr>
              <a:xfrm>
                <a:off x="2343152" y="2647950"/>
                <a:ext cx="366712" cy="366712"/>
              </a:xfrm>
              <a:prstGeom prst="ellipse">
                <a:avLst/>
              </a:prstGeom>
              <a:solidFill>
                <a:srgbClr val="000050"/>
              </a:solidFill>
              <a:ln w="38100">
                <a:solidFill>
                  <a:srgbClr val="0367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7002960C-3535-11B3-487B-95565DB5EBE0}"/>
                  </a:ext>
                </a:extLst>
              </p:cNvPr>
              <p:cNvSpPr/>
              <p:nvPr/>
            </p:nvSpPr>
            <p:spPr>
              <a:xfrm>
                <a:off x="2343152" y="4617245"/>
                <a:ext cx="366712" cy="366712"/>
              </a:xfrm>
              <a:prstGeom prst="ellipse">
                <a:avLst/>
              </a:prstGeom>
              <a:solidFill>
                <a:srgbClr val="000050"/>
              </a:solidFill>
              <a:ln w="38100">
                <a:solidFill>
                  <a:srgbClr val="0367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EE4CEF2C-7BFE-E8BE-2D3B-BCDAD065AB5B}"/>
                  </a:ext>
                </a:extLst>
              </p:cNvPr>
              <p:cNvCxnSpPr>
                <a:cxnSpLocks/>
                <a:stCxn id="9" idx="6"/>
                <a:endCxn id="7" idx="1"/>
              </p:cNvCxnSpPr>
              <p:nvPr/>
            </p:nvCxnSpPr>
            <p:spPr>
              <a:xfrm>
                <a:off x="2693197" y="2121144"/>
                <a:ext cx="3082578" cy="720928"/>
              </a:xfrm>
              <a:prstGeom prst="straightConnector1">
                <a:avLst/>
              </a:prstGeom>
              <a:ln w="76200">
                <a:solidFill>
                  <a:srgbClr val="000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de Seta Reta 12">
                <a:extLst>
                  <a:ext uri="{FF2B5EF4-FFF2-40B4-BE49-F238E27FC236}">
                    <a16:creationId xmlns:a16="http://schemas.microsoft.com/office/drawing/2014/main" id="{3A0CA4A3-99EF-D3AD-4380-4B5F17B5500E}"/>
                  </a:ext>
                </a:extLst>
              </p:cNvPr>
              <p:cNvCxnSpPr>
                <a:stCxn id="10" idx="6"/>
                <a:endCxn id="7" idx="2"/>
              </p:cNvCxnSpPr>
              <p:nvPr/>
            </p:nvCxnSpPr>
            <p:spPr>
              <a:xfrm>
                <a:off x="2709864" y="2831306"/>
                <a:ext cx="2871787" cy="479426"/>
              </a:xfrm>
              <a:prstGeom prst="straightConnector1">
                <a:avLst/>
              </a:prstGeom>
              <a:ln w="76200">
                <a:solidFill>
                  <a:srgbClr val="000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de Seta Reta 13">
                <a:extLst>
                  <a:ext uri="{FF2B5EF4-FFF2-40B4-BE49-F238E27FC236}">
                    <a16:creationId xmlns:a16="http://schemas.microsoft.com/office/drawing/2014/main" id="{0294BD6D-B4DE-6F6A-479D-B212A9401A1C}"/>
                  </a:ext>
                </a:extLst>
              </p:cNvPr>
              <p:cNvCxnSpPr>
                <a:stCxn id="11" idx="6"/>
                <a:endCxn id="7" idx="3"/>
              </p:cNvCxnSpPr>
              <p:nvPr/>
            </p:nvCxnSpPr>
            <p:spPr>
              <a:xfrm flipV="1">
                <a:off x="2709864" y="3779389"/>
                <a:ext cx="3065911" cy="1021212"/>
              </a:xfrm>
              <a:prstGeom prst="straightConnector1">
                <a:avLst/>
              </a:prstGeom>
              <a:ln w="76200">
                <a:solidFill>
                  <a:srgbClr val="000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de Seta Reta 14">
                <a:extLst>
                  <a:ext uri="{FF2B5EF4-FFF2-40B4-BE49-F238E27FC236}">
                    <a16:creationId xmlns:a16="http://schemas.microsoft.com/office/drawing/2014/main" id="{80503993-63F6-F9A1-A2B2-B9522F822E59}"/>
                  </a:ext>
                </a:extLst>
              </p:cNvPr>
              <p:cNvCxnSpPr>
                <a:cxnSpLocks/>
                <a:stCxn id="7" idx="6"/>
                <a:endCxn id="8" idx="2"/>
              </p:cNvCxnSpPr>
              <p:nvPr/>
            </p:nvCxnSpPr>
            <p:spPr>
              <a:xfrm flipV="1">
                <a:off x="6907214" y="3310731"/>
                <a:ext cx="2209005" cy="1"/>
              </a:xfrm>
              <a:prstGeom prst="straightConnector1">
                <a:avLst/>
              </a:prstGeom>
              <a:ln w="76200">
                <a:solidFill>
                  <a:srgbClr val="000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de Seta Reta 15">
                <a:extLst>
                  <a:ext uri="{FF2B5EF4-FFF2-40B4-BE49-F238E27FC236}">
                    <a16:creationId xmlns:a16="http://schemas.microsoft.com/office/drawing/2014/main" id="{A3E9B28E-0708-8895-1871-9179CB02C213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>
                <a:off x="9779001" y="3310731"/>
                <a:ext cx="1574798" cy="0"/>
              </a:xfrm>
              <a:prstGeom prst="straightConnector1">
                <a:avLst/>
              </a:prstGeom>
              <a:ln w="76200">
                <a:solidFill>
                  <a:srgbClr val="000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CaixaDeTexto 16">
                    <a:extLst>
                      <a:ext uri="{FF2B5EF4-FFF2-40B4-BE49-F238E27FC236}">
                        <a16:creationId xmlns:a16="http://schemas.microsoft.com/office/drawing/2014/main" id="{A6D41A70-95AB-457D-1DA9-2ABBA4D1DB2F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648" y="1228757"/>
                    <a:ext cx="1415506" cy="7970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pt-B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pt-BR" sz="2000" dirty="0"/>
                      <a:t>=1</a:t>
                    </a:r>
                  </a:p>
                </p:txBody>
              </p:sp>
            </mc:Choice>
            <mc:Fallback xmlns="">
              <p:sp>
                <p:nvSpPr>
                  <p:cNvPr id="17" name="CaixaDeTexto 16">
                    <a:extLst>
                      <a:ext uri="{FF2B5EF4-FFF2-40B4-BE49-F238E27FC236}">
                        <a16:creationId xmlns:a16="http://schemas.microsoft.com/office/drawing/2014/main" id="{A6D41A70-95AB-457D-1DA9-2ABBA4D1DB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648" y="1228757"/>
                    <a:ext cx="1415506" cy="7970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7576" r="-7759" b="-27273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CaixaDeTexto 17">
                    <a:extLst>
                      <a:ext uri="{FF2B5EF4-FFF2-40B4-BE49-F238E27FC236}">
                        <a16:creationId xmlns:a16="http://schemas.microsoft.com/office/drawing/2014/main" id="{D1604E6A-6937-8718-0221-C0FC0BD054C7}"/>
                      </a:ext>
                    </a:extLst>
                  </p:cNvPr>
                  <p:cNvSpPr txBox="1"/>
                  <p:nvPr/>
                </p:nvSpPr>
                <p:spPr>
                  <a:xfrm>
                    <a:off x="1124796" y="2484594"/>
                    <a:ext cx="966152" cy="7970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18" name="CaixaDeTexto 17">
                    <a:extLst>
                      <a:ext uri="{FF2B5EF4-FFF2-40B4-BE49-F238E27FC236}">
                        <a16:creationId xmlns:a16="http://schemas.microsoft.com/office/drawing/2014/main" id="{D1604E6A-6937-8718-0221-C0FC0BD054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4796" y="2484594"/>
                    <a:ext cx="966152" cy="7970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CaixaDeTexto 18">
                    <a:extLst>
                      <a:ext uri="{FF2B5EF4-FFF2-40B4-BE49-F238E27FC236}">
                        <a16:creationId xmlns:a16="http://schemas.microsoft.com/office/drawing/2014/main" id="{0898D977-BABB-0851-A5A7-329665183F21}"/>
                      </a:ext>
                    </a:extLst>
                  </p:cNvPr>
                  <p:cNvSpPr txBox="1"/>
                  <p:nvPr/>
                </p:nvSpPr>
                <p:spPr>
                  <a:xfrm>
                    <a:off x="1184192" y="4539820"/>
                    <a:ext cx="904586" cy="7970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19" name="CaixaDeTexto 18">
                    <a:extLst>
                      <a:ext uri="{FF2B5EF4-FFF2-40B4-BE49-F238E27FC236}">
                        <a16:creationId xmlns:a16="http://schemas.microsoft.com/office/drawing/2014/main" id="{0898D977-BABB-0851-A5A7-329665183F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4192" y="4539820"/>
                    <a:ext cx="904586" cy="7970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538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CaixaDeTexto 19">
                    <a:extLst>
                      <a:ext uri="{FF2B5EF4-FFF2-40B4-BE49-F238E27FC236}">
                        <a16:creationId xmlns:a16="http://schemas.microsoft.com/office/drawing/2014/main" id="{C45D6668-8DE8-BE4F-B12D-B29DBD8C7C60}"/>
                      </a:ext>
                    </a:extLst>
                  </p:cNvPr>
                  <p:cNvSpPr txBox="1"/>
                  <p:nvPr/>
                </p:nvSpPr>
                <p:spPr>
                  <a:xfrm>
                    <a:off x="2306935" y="1166493"/>
                    <a:ext cx="2393409" cy="7970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pt-B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pt-BR" sz="2000" dirty="0"/>
                      <a:t>=bias</a:t>
                    </a:r>
                  </a:p>
                </p:txBody>
              </p:sp>
            </mc:Choice>
            <mc:Fallback xmlns="">
              <p:sp>
                <p:nvSpPr>
                  <p:cNvPr id="20" name="CaixaDeTexto 19">
                    <a:extLst>
                      <a:ext uri="{FF2B5EF4-FFF2-40B4-BE49-F238E27FC236}">
                        <a16:creationId xmlns:a16="http://schemas.microsoft.com/office/drawing/2014/main" id="{C45D6668-8DE8-BE4F-B12D-B29DBD8C7C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6935" y="1166493"/>
                    <a:ext cx="2393409" cy="7970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7692" r="-4061" b="-2923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CaixaDeTexto 20">
                    <a:extLst>
                      <a:ext uri="{FF2B5EF4-FFF2-40B4-BE49-F238E27FC236}">
                        <a16:creationId xmlns:a16="http://schemas.microsoft.com/office/drawing/2014/main" id="{3E3AC54D-5316-9360-4B4E-21951FD45E5F}"/>
                      </a:ext>
                    </a:extLst>
                  </p:cNvPr>
                  <p:cNvSpPr txBox="1"/>
                  <p:nvPr/>
                </p:nvSpPr>
                <p:spPr>
                  <a:xfrm>
                    <a:off x="2414575" y="2842073"/>
                    <a:ext cx="1298120" cy="7970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21" name="CaixaDeTexto 20">
                    <a:extLst>
                      <a:ext uri="{FF2B5EF4-FFF2-40B4-BE49-F238E27FC236}">
                        <a16:creationId xmlns:a16="http://schemas.microsoft.com/office/drawing/2014/main" id="{3E3AC54D-5316-9360-4B4E-21951FD45E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4575" y="2842073"/>
                    <a:ext cx="1298120" cy="7970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538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CaixaDeTexto 22">
                    <a:extLst>
                      <a:ext uri="{FF2B5EF4-FFF2-40B4-BE49-F238E27FC236}">
                        <a16:creationId xmlns:a16="http://schemas.microsoft.com/office/drawing/2014/main" id="{08426D1E-1B52-9E76-02B7-2CEC88F3FD2D}"/>
                      </a:ext>
                    </a:extLst>
                  </p:cNvPr>
                  <p:cNvSpPr txBox="1"/>
                  <p:nvPr/>
                </p:nvSpPr>
                <p:spPr>
                  <a:xfrm>
                    <a:off x="7481379" y="2413277"/>
                    <a:ext cx="1004089" cy="7970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23" name="CaixaDeTexto 22">
                    <a:extLst>
                      <a:ext uri="{FF2B5EF4-FFF2-40B4-BE49-F238E27FC236}">
                        <a16:creationId xmlns:a16="http://schemas.microsoft.com/office/drawing/2014/main" id="{08426D1E-1B52-9E76-02B7-2CEC88F3FD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81379" y="2413277"/>
                    <a:ext cx="1004089" cy="79703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CaixaDeTexto 25">
                    <a:extLst>
                      <a:ext uri="{FF2B5EF4-FFF2-40B4-BE49-F238E27FC236}">
                        <a16:creationId xmlns:a16="http://schemas.microsoft.com/office/drawing/2014/main" id="{D56DB366-E1ED-0F06-B1A1-34A8A137DDBA}"/>
                      </a:ext>
                    </a:extLst>
                  </p:cNvPr>
                  <p:cNvSpPr txBox="1"/>
                  <p:nvPr/>
                </p:nvSpPr>
                <p:spPr>
                  <a:xfrm>
                    <a:off x="8902066" y="1126272"/>
                    <a:ext cx="1029121" cy="7970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26" name="CaixaDeTexto 25">
                    <a:extLst>
                      <a:ext uri="{FF2B5EF4-FFF2-40B4-BE49-F238E27FC236}">
                        <a16:creationId xmlns:a16="http://schemas.microsoft.com/office/drawing/2014/main" id="{D56DB366-E1ED-0F06-B1A1-34A8A137DD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02066" y="1126272"/>
                    <a:ext cx="1029121" cy="7970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538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aixaDeTexto 26">
                    <a:extLst>
                      <a:ext uri="{FF2B5EF4-FFF2-40B4-BE49-F238E27FC236}">
                        <a16:creationId xmlns:a16="http://schemas.microsoft.com/office/drawing/2014/main" id="{302CEA3F-3E21-B8DF-830F-E4B9376595FF}"/>
                      </a:ext>
                    </a:extLst>
                  </p:cNvPr>
                  <p:cNvSpPr txBox="1"/>
                  <p:nvPr/>
                </p:nvSpPr>
                <p:spPr>
                  <a:xfrm>
                    <a:off x="11191701" y="2842071"/>
                    <a:ext cx="969473" cy="7970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27" name="CaixaDeTexto 26">
                    <a:extLst>
                      <a:ext uri="{FF2B5EF4-FFF2-40B4-BE49-F238E27FC236}">
                        <a16:creationId xmlns:a16="http://schemas.microsoft.com/office/drawing/2014/main" id="{302CEA3F-3E21-B8DF-830F-E4B9376595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91701" y="2842071"/>
                    <a:ext cx="969473" cy="79703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538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Conector de Seta Reta 27">
                <a:extLst>
                  <a:ext uri="{FF2B5EF4-FFF2-40B4-BE49-F238E27FC236}">
                    <a16:creationId xmlns:a16="http://schemas.microsoft.com/office/drawing/2014/main" id="{3E4282AB-CB08-94C6-9262-C74C1A08A6B3}"/>
                  </a:ext>
                </a:extLst>
              </p:cNvPr>
              <p:cNvCxnSpPr>
                <a:cxnSpLocks/>
                <a:endCxn id="8" idx="0"/>
              </p:cNvCxnSpPr>
              <p:nvPr/>
            </p:nvCxnSpPr>
            <p:spPr>
              <a:xfrm>
                <a:off x="9443685" y="1937788"/>
                <a:ext cx="3923" cy="1041553"/>
              </a:xfrm>
              <a:prstGeom prst="straightConnector1">
                <a:avLst/>
              </a:prstGeom>
              <a:ln w="76200">
                <a:solidFill>
                  <a:srgbClr val="000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Espaço Reservado para Conteúdo 2">
                <a:extLst>
                  <a:ext uri="{FF2B5EF4-FFF2-40B4-BE49-F238E27FC236}">
                    <a16:creationId xmlns:a16="http://schemas.microsoft.com/office/drawing/2014/main" id="{DF81EBD7-65D3-CD5B-055B-53886C1FDF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2758051"/>
                <a:ext cx="4202769" cy="8237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0" name="Espaço Reservado para Conteúdo 2">
                <a:extLst>
                  <a:ext uri="{FF2B5EF4-FFF2-40B4-BE49-F238E27FC236}">
                    <a16:creationId xmlns:a16="http://schemas.microsoft.com/office/drawing/2014/main" id="{DF81EBD7-65D3-CD5B-055B-53886C1FD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58051"/>
                <a:ext cx="4202769" cy="82379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C7A820DC-BA0A-44DD-E82E-E21EF4FA6A2D}"/>
                  </a:ext>
                </a:extLst>
              </p:cNvPr>
              <p:cNvSpPr txBox="1"/>
              <p:nvPr/>
            </p:nvSpPr>
            <p:spPr>
              <a:xfrm>
                <a:off x="0" y="3581841"/>
                <a:ext cx="2825249" cy="681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pt-B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C7A820DC-BA0A-44DD-E82E-E21EF4FA6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81841"/>
                <a:ext cx="2825249" cy="68198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Espaço Reservado para Conteúdo 2">
                <a:extLst>
                  <a:ext uri="{FF2B5EF4-FFF2-40B4-BE49-F238E27FC236}">
                    <a16:creationId xmlns:a16="http://schemas.microsoft.com/office/drawing/2014/main" id="{5BF5141A-0E8F-5CDF-8D90-30422B1DAE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87334" y="2782841"/>
                <a:ext cx="1908176" cy="8237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4" name="Espaço Reservado para Conteúdo 2">
                <a:extLst>
                  <a:ext uri="{FF2B5EF4-FFF2-40B4-BE49-F238E27FC236}">
                    <a16:creationId xmlns:a16="http://schemas.microsoft.com/office/drawing/2014/main" id="{5BF5141A-0E8F-5CDF-8D90-30422B1DA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334" y="2782841"/>
                <a:ext cx="1908176" cy="82379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9428F64-5995-985F-4E43-55D1D178D008}"/>
                  </a:ext>
                </a:extLst>
              </p:cNvPr>
              <p:cNvSpPr txBox="1"/>
              <p:nvPr/>
            </p:nvSpPr>
            <p:spPr>
              <a:xfrm>
                <a:off x="5254797" y="3770785"/>
                <a:ext cx="1682406" cy="857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9428F64-5995-985F-4E43-55D1D178D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797" y="3770785"/>
                <a:ext cx="1682406" cy="8570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spaço Reservado para Conteúdo 2">
                <a:extLst>
                  <a:ext uri="{FF2B5EF4-FFF2-40B4-BE49-F238E27FC236}">
                    <a16:creationId xmlns:a16="http://schemas.microsoft.com/office/drawing/2014/main" id="{B2DEBBAC-74CB-3C90-313E-BFC16FD7D8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38653" y="5258301"/>
                <a:ext cx="4202769" cy="5320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𝑘𝑖</m:t>
                          </m:r>
                        </m:sub>
                      </m:sSub>
                      <m:r>
                        <a:rPr lang="pt-B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3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32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36" name="Espaço Reservado para Conteúdo 2">
                <a:extLst>
                  <a:ext uri="{FF2B5EF4-FFF2-40B4-BE49-F238E27FC236}">
                    <a16:creationId xmlns:a16="http://schemas.microsoft.com/office/drawing/2014/main" id="{B2DEBBAC-74CB-3C90-313E-BFC16FD7D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653" y="5258301"/>
                <a:ext cx="4202769" cy="53206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Seta: para Baixo 36">
            <a:extLst>
              <a:ext uri="{FF2B5EF4-FFF2-40B4-BE49-F238E27FC236}">
                <a16:creationId xmlns:a16="http://schemas.microsoft.com/office/drawing/2014/main" id="{CCC5E783-C787-EFB3-6104-27C226054748}"/>
              </a:ext>
            </a:extLst>
          </p:cNvPr>
          <p:cNvSpPr/>
          <p:nvPr/>
        </p:nvSpPr>
        <p:spPr>
          <a:xfrm rot="18805822">
            <a:off x="5003728" y="1805332"/>
            <a:ext cx="513946" cy="10965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Seta: para Baixo 37">
            <a:extLst>
              <a:ext uri="{FF2B5EF4-FFF2-40B4-BE49-F238E27FC236}">
                <a16:creationId xmlns:a16="http://schemas.microsoft.com/office/drawing/2014/main" id="{906260A1-1AF4-5315-2B67-6F870B0A0741}"/>
              </a:ext>
            </a:extLst>
          </p:cNvPr>
          <p:cNvSpPr/>
          <p:nvPr/>
        </p:nvSpPr>
        <p:spPr>
          <a:xfrm rot="2352046">
            <a:off x="2802215" y="1867952"/>
            <a:ext cx="513946" cy="10965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426FA18A-C16A-E4D5-D130-86152DF55EDD}"/>
              </a:ext>
            </a:extLst>
          </p:cNvPr>
          <p:cNvCxnSpPr/>
          <p:nvPr/>
        </p:nvCxnSpPr>
        <p:spPr>
          <a:xfrm>
            <a:off x="4078942" y="770199"/>
            <a:ext cx="0" cy="16144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ítulo 1">
            <a:extLst>
              <a:ext uri="{FF2B5EF4-FFF2-40B4-BE49-F238E27FC236}">
                <a16:creationId xmlns:a16="http://schemas.microsoft.com/office/drawing/2014/main" id="{D269C9E6-E94D-DA07-D06B-1AA68BF42CE6}"/>
              </a:ext>
            </a:extLst>
          </p:cNvPr>
          <p:cNvSpPr txBox="1">
            <a:spLocks/>
          </p:cNvSpPr>
          <p:nvPr/>
        </p:nvSpPr>
        <p:spPr>
          <a:xfrm>
            <a:off x="983410" y="365125"/>
            <a:ext cx="10370389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005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pt-BR" dirty="0"/>
              <a:t>Calculando</a:t>
            </a:r>
          </a:p>
        </p:txBody>
      </p:sp>
    </p:spTree>
    <p:extLst>
      <p:ext uri="{BB962C8B-B14F-4D97-AF65-F5344CB8AC3E}">
        <p14:creationId xmlns:p14="http://schemas.microsoft.com/office/powerpoint/2010/main" val="9214002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A7D46-03A7-721B-6F4F-BFF37A6C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ADALINE VS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A689DB6-E790-83E7-DE7F-78A6A57CC0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Regra de atualização: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𝑘𝑖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BR" dirty="0"/>
              </a:p>
              <a:p>
                <a:r>
                  <a:rPr lang="pt-BR" dirty="0" err="1"/>
                  <a:t>Perceptron</a:t>
                </a:r>
                <a:r>
                  <a:rPr lang="pt-BR" dirty="0"/>
                  <a:t> </a:t>
                </a:r>
                <a:r>
                  <a:rPr lang="pt-BR" dirty="0">
                    <a:sym typeface="Wingdings" panose="05000000000000000000" pitchFamily="2" charset="2"/>
                  </a:rPr>
                  <a:t> Neurônio não linear</a:t>
                </a:r>
              </a:p>
              <a:p>
                <a:r>
                  <a:rPr lang="pt-BR" dirty="0" err="1">
                    <a:sym typeface="Wingdings" panose="05000000000000000000" pitchFamily="2" charset="2"/>
                  </a:rPr>
                  <a:t>Adaline</a:t>
                </a:r>
                <a:r>
                  <a:rPr lang="pt-BR" dirty="0">
                    <a:sym typeface="Wingdings" panose="05000000000000000000" pitchFamily="2" charset="2"/>
                  </a:rPr>
                  <a:t>  Neurônio Linear</a:t>
                </a:r>
              </a:p>
              <a:p>
                <a:pPr lvl="1"/>
                <a:r>
                  <a:rPr lang="pt-BR" dirty="0">
                    <a:sym typeface="Wingdings" panose="05000000000000000000" pitchFamily="2" charset="2"/>
                  </a:rPr>
                  <a:t>Ambos podem ser usados para resolver problemas linearmente separáveis.</a:t>
                </a:r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A689DB6-E790-83E7-DE7F-78A6A57CC0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7109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E1AD6153-2AB8-E96F-D09B-606A7FAD2FA7}"/>
              </a:ext>
            </a:extLst>
          </p:cNvPr>
          <p:cNvGrpSpPr/>
          <p:nvPr/>
        </p:nvGrpSpPr>
        <p:grpSpPr>
          <a:xfrm>
            <a:off x="280046" y="1857375"/>
            <a:ext cx="11631907" cy="3143250"/>
            <a:chOff x="2400300" y="2209800"/>
            <a:chExt cx="7848600" cy="2120900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D44FAB7B-799F-82B7-8EAA-4B65AF436495}"/>
                </a:ext>
              </a:extLst>
            </p:cNvPr>
            <p:cNvSpPr/>
            <p:nvPr/>
          </p:nvSpPr>
          <p:spPr>
            <a:xfrm>
              <a:off x="2400300" y="2209800"/>
              <a:ext cx="7848600" cy="2120900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13996152-5179-BDA3-7EEC-7DD9B90CB91B}"/>
                </a:ext>
              </a:extLst>
            </p:cNvPr>
            <p:cNvSpPr/>
            <p:nvPr/>
          </p:nvSpPr>
          <p:spPr>
            <a:xfrm>
              <a:off x="2642737" y="2481775"/>
              <a:ext cx="7352163" cy="1640450"/>
            </a:xfrm>
            <a:prstGeom prst="rect">
              <a:avLst/>
            </a:prstGeom>
            <a:solidFill>
              <a:srgbClr val="071F0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600" dirty="0"/>
                <a:t>THE END!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69081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_Aems_2026_v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_Aems_2026_v1" id="{31D861D1-C375-4C3D-9E26-2064B5AFDB1D}" vid="{B7592932-0B5C-45F7-B648-5DAF9370664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Tema_Aems_2026_v1</Template>
  <TotalTime>588</TotalTime>
  <Words>2630</Words>
  <Application>Microsoft Office PowerPoint</Application>
  <PresentationFormat>Widescreen</PresentationFormat>
  <Paragraphs>641</Paragraphs>
  <Slides>39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4" baseType="lpstr">
      <vt:lpstr>Aptos</vt:lpstr>
      <vt:lpstr>Arial</vt:lpstr>
      <vt:lpstr>Cambria Math</vt:lpstr>
      <vt:lpstr>Wingdings</vt:lpstr>
      <vt:lpstr>Tema_Aems_2026_v1</vt:lpstr>
      <vt:lpstr>Disciplina: Inteligência Artificial</vt:lpstr>
      <vt:lpstr>Primeiros modelos:</vt:lpstr>
      <vt:lpstr>APLICAÇÃO DA AULA DE HOJE, PORTA LÓGICA AND...  TEMOS QUE COMEÇAR POR ALGUM LUGAR NÉ!!!!</vt:lpstr>
      <vt:lpstr>REDE NEURAL PARA RESOLVER O PROBLEMA DA PORTA AND</vt:lpstr>
      <vt:lpstr>REDE NEURAL PARA RESOLVER O PROBLEMA DA PORTA AND</vt:lpstr>
      <vt:lpstr>O NEURÔNIO MCP</vt:lpstr>
      <vt:lpstr>Explicação do slide anterior</vt:lpstr>
      <vt:lpstr>O QUE FAZ O MCP?</vt:lpstr>
      <vt:lpstr>MCP: PORTA AND</vt:lpstr>
      <vt:lpstr>MCP: PORTA AND</vt:lpstr>
      <vt:lpstr>MCP: PORTA AND</vt:lpstr>
      <vt:lpstr>MCP: PORTA AND</vt:lpstr>
      <vt:lpstr>MCP: PORTA AND</vt:lpstr>
      <vt:lpstr>MCP: PORTA AND</vt:lpstr>
      <vt:lpstr>MCP: PORTA AND</vt:lpstr>
      <vt:lpstr>MCP: PORTA AND</vt:lpstr>
      <vt:lpstr>MODELO 01 : PERCEPTRON</vt:lpstr>
      <vt:lpstr>PERCEPTRON Neurônios assumem saídas binárias:</vt:lpstr>
      <vt:lpstr>PERCEPTRON</vt:lpstr>
      <vt:lpstr>PERCEPTRON: ALGORITMO</vt:lpstr>
      <vt:lpstr>EXEMPLO: PORTA AND Agora com algoritmo automático.</vt:lpstr>
      <vt:lpstr>ÉPOCA</vt:lpstr>
      <vt:lpstr>ÉPOCA 01</vt:lpstr>
      <vt:lpstr>ÉPOCA 01</vt:lpstr>
      <vt:lpstr>ÉPOCA 02</vt:lpstr>
      <vt:lpstr>ÉPOCA 02</vt:lpstr>
      <vt:lpstr>ÉPOCA 02</vt:lpstr>
      <vt:lpstr>APÓS ALGUMAS ÉPOCAS</vt:lpstr>
      <vt:lpstr>APÓS ALGUMAS ÉPOCAS</vt:lpstr>
      <vt:lpstr>INTERPRETAÇÃO GEOMÉTRICA w_0=-1,w_1=1,w_2=0,5</vt:lpstr>
      <vt:lpstr>MODELO 02 : ADALINE</vt:lpstr>
      <vt:lpstr>ADALINE ADAptive LINear Element  ADAptive Linear NEuron</vt:lpstr>
      <vt:lpstr>ADALINE</vt:lpstr>
      <vt:lpstr>ADALINE</vt:lpstr>
      <vt:lpstr>ADALINE</vt:lpstr>
      <vt:lpstr>ADALINE</vt:lpstr>
      <vt:lpstr>Apresentação do PowerPoint</vt:lpstr>
      <vt:lpstr>ADALINE VS PERCEPTRON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Vieira do Espirito Santo</dc:creator>
  <cp:lastModifiedBy>Richard Vieira do Espirito Santo</cp:lastModifiedBy>
  <cp:revision>30</cp:revision>
  <dcterms:created xsi:type="dcterms:W3CDTF">2026-03-09T03:25:46Z</dcterms:created>
  <dcterms:modified xsi:type="dcterms:W3CDTF">2026-05-18T22:06:37Z</dcterms:modified>
</cp:coreProperties>
</file>