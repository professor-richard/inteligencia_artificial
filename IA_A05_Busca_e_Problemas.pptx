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8" r:id="rId22"/>
    <p:sldId id="271" r:id="rId23"/>
    <p:sldId id="279" r:id="rId24"/>
    <p:sldId id="280" r:id="rId25"/>
    <p:sldId id="281" r:id="rId26"/>
    <p:sldId id="282" r:id="rId27"/>
    <p:sldId id="284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9B6"/>
    <a:srgbClr val="B19361"/>
    <a:srgbClr val="F2A5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0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111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FA611-8731-44A2-8458-7A527BFF297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FD0B4-8088-471E-8067-114D6A8BE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62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FD0B4-8088-471E-8067-114D6A8BECE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385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84BBB-0AEA-105D-5F87-52B2FC1E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453965-2FB7-E6C1-2D48-C1EF35957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B0BE4-0B3E-30BE-D41C-62AEAD97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BFDA-415E-5F6B-F87B-0F7FE93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493DA-AB46-D8FB-2185-A49008D8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75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30393-E547-B402-03CC-977C713C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0C602-D520-EDC4-187E-103F6250C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44A02-B00A-409C-0ABE-4C69A0C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294A3-DBD2-373A-96BA-A6B1C2A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BC20E-BDE8-6472-1B3C-016524FF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472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5BAED-F86F-0AC7-647B-B8A925DF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C3476-CD80-4260-A4C2-2CDFA248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C15D3-799E-BBB0-85BA-584502B9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4EF58-7AC8-27CC-5B9B-EED41826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CF4E0-A0A1-08F0-A73C-ED4919D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7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1E92E-A5BC-3F60-E557-825A4E8B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C1AA8-FB7E-039A-24C9-71933BE39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DC13D-ACF4-6279-0D25-F68EA3F21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A62DA2-9535-D227-515B-1933B4B2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6CAFA-D0FB-A2B8-C97A-B5DB7B47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B6B634-E234-0270-994E-2864DA39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83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1544-7593-F36C-2C36-80B84B2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D72AF6-0728-2D6D-BC4E-B25FAFF8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110DB-6D43-82EB-25DC-408B09D8E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EB588C-6277-79CF-6343-0F585A2E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8D674-5AFF-D280-6D48-E4C2C0329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38353D-4395-51BF-CDCA-A35D7B2E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BD0EDD-60AD-FA3C-F280-01AD946E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31E9E0-B60E-A76D-82FF-B23C21AE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43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4A328-27BA-6C20-2FB6-98760D5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DA9652-A327-6D9E-CC07-C8A1023A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F18115-5EF4-574B-D44D-27550650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486F2C-FC0F-0478-8E5F-0F85241C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20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6C3CC4-9550-C1FA-5318-A6D53D36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6C7134-7863-79A8-B1E5-08D59D16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85BF5D-51E3-7925-A994-498EF63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41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34C60-48F7-DCD4-ABEF-6CBCECEA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3E1DA-09C8-60BB-8F89-F2BA8226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4122BE-EE75-4F1D-5A91-54AB05B8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EB627-3A8E-D68B-28DA-6A4A9820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6BCA7-BF39-4B03-3B17-C8549873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BFB53-36B2-B3BC-0577-DA7D2731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34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B6C0-5830-21EF-B785-2AD6C6D7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2380AF-2FC0-47F1-4FAA-2E1EFAF1E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DEE9A2-9D8F-309B-B2CB-CBF15552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6F3A24-39BC-1118-1FF6-1792998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4CBDC-807B-6B9B-B9BD-7A5690E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CAB5BE-1395-3BF1-FF58-028235DF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41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D97B7-A87C-36DD-B679-99B72EA2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928B2A-290D-B5B2-E50B-4F4C9FAF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7D33C-1337-5311-833E-2D7643CF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A5F3B-4FB2-BE00-DF94-87A44049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37468-1245-F38C-437C-6033D878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20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93BD76-06E7-209F-0376-2E47F78A6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C96CE7-9026-FDC0-0242-9AF0C3FC3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BDCA1-0E3E-BB76-A5F0-729B4879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6FF04-149E-14D1-915C-EFF7EF09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EEC5E-B552-AE4E-C1D9-36C046EA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48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&#10;&#10;Descrição gerada automaticamente com confiança baixa">
            <a:extLst>
              <a:ext uri="{FF2B5EF4-FFF2-40B4-BE49-F238E27FC236}">
                <a16:creationId xmlns:a16="http://schemas.microsoft.com/office/drawing/2014/main" id="{2BC3A1D1-431E-0470-24A9-941A1C326EA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2" t="1853" r="64727" b="42836"/>
          <a:stretch/>
        </p:blipFill>
        <p:spPr>
          <a:xfrm>
            <a:off x="0" y="11262"/>
            <a:ext cx="1054100" cy="1051045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564E83-31D4-9D45-4A19-04EFC823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A1DFB-5681-4229-5B94-71B9E955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410" y="1825625"/>
            <a:ext cx="10370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7EB250-651F-F2DA-477B-A568DED1B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FA704-DDBD-4AE1-95D7-6B8D9C9024FC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12ADF-D139-99D1-CE25-D18F6CF31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A8DBA7-56FD-416B-3A34-FAAB40E86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0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5334C9-A291-E2BC-B303-645466EEF4C7}"/>
              </a:ext>
            </a:extLst>
          </p:cNvPr>
          <p:cNvSpPr/>
          <p:nvPr/>
        </p:nvSpPr>
        <p:spPr>
          <a:xfrm>
            <a:off x="1262744" y="-435789"/>
            <a:ext cx="377372" cy="377372"/>
          </a:xfrm>
          <a:prstGeom prst="rect">
            <a:avLst/>
          </a:prstGeom>
          <a:solidFill>
            <a:srgbClr val="0367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106479-385D-C6FD-2709-39137C20CE48}"/>
              </a:ext>
            </a:extLst>
          </p:cNvPr>
          <p:cNvSpPr/>
          <p:nvPr/>
        </p:nvSpPr>
        <p:spPr>
          <a:xfrm>
            <a:off x="841830" y="-435789"/>
            <a:ext cx="377372" cy="377372"/>
          </a:xfrm>
          <a:prstGeom prst="rect">
            <a:avLst/>
          </a:prstGeom>
          <a:solidFill>
            <a:srgbClr val="034C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EF7CBD-2BB8-036A-70B2-B2A220CB3F2A}"/>
              </a:ext>
            </a:extLst>
          </p:cNvPr>
          <p:cNvSpPr/>
          <p:nvPr/>
        </p:nvSpPr>
        <p:spPr>
          <a:xfrm>
            <a:off x="420916" y="-435789"/>
            <a:ext cx="377372" cy="377372"/>
          </a:xfrm>
          <a:prstGeom prst="rect">
            <a:avLst/>
          </a:prstGeom>
          <a:solidFill>
            <a:srgbClr val="033E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3ED86F-1E57-DE2F-6EB3-89C0943F53BC}"/>
              </a:ext>
            </a:extLst>
          </p:cNvPr>
          <p:cNvSpPr/>
          <p:nvPr/>
        </p:nvSpPr>
        <p:spPr>
          <a:xfrm>
            <a:off x="2525486" y="-435789"/>
            <a:ext cx="377372" cy="377372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90E2CE5-0969-31F1-13AA-C76C7FD546AC}"/>
              </a:ext>
            </a:extLst>
          </p:cNvPr>
          <p:cNvSpPr/>
          <p:nvPr/>
        </p:nvSpPr>
        <p:spPr>
          <a:xfrm>
            <a:off x="2104572" y="-434315"/>
            <a:ext cx="377372" cy="377372"/>
          </a:xfrm>
          <a:prstGeom prst="rect">
            <a:avLst/>
          </a:prstGeom>
          <a:solidFill>
            <a:srgbClr val="F2A5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D49E67-D59A-6D06-1B7C-A99F60761CAA}"/>
              </a:ext>
            </a:extLst>
          </p:cNvPr>
          <p:cNvSpPr/>
          <p:nvPr/>
        </p:nvSpPr>
        <p:spPr>
          <a:xfrm>
            <a:off x="1683658" y="-434315"/>
            <a:ext cx="377372" cy="377372"/>
          </a:xfrm>
          <a:prstGeom prst="rect">
            <a:avLst/>
          </a:prstGeom>
          <a:solidFill>
            <a:srgbClr val="F2BF2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7D67DA-8B35-427E-A6FD-8DBD101026FC}"/>
              </a:ext>
            </a:extLst>
          </p:cNvPr>
          <p:cNvSpPr/>
          <p:nvPr/>
        </p:nvSpPr>
        <p:spPr>
          <a:xfrm>
            <a:off x="0" y="-434315"/>
            <a:ext cx="377372" cy="377372"/>
          </a:xfrm>
          <a:prstGeom prst="rect">
            <a:avLst/>
          </a:prstGeom>
          <a:solidFill>
            <a:srgbClr val="000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A423E13-8E08-0F8C-E482-6F9D05CB9F55}"/>
              </a:ext>
            </a:extLst>
          </p:cNvPr>
          <p:cNvGrpSpPr/>
          <p:nvPr/>
        </p:nvGrpSpPr>
        <p:grpSpPr>
          <a:xfrm>
            <a:off x="0" y="6642613"/>
            <a:ext cx="12192000" cy="215387"/>
            <a:chOff x="0" y="6464800"/>
            <a:chExt cx="12192000" cy="21538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E4B12E3-B991-7147-5AE5-B7D8DD728B2E}"/>
                </a:ext>
              </a:extLst>
            </p:cNvPr>
            <p:cNvSpPr/>
            <p:nvPr/>
          </p:nvSpPr>
          <p:spPr>
            <a:xfrm>
              <a:off x="0" y="6500466"/>
              <a:ext cx="12192000" cy="7200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94ACB2C-0551-938A-97B9-A9F2C4D838B7}"/>
                </a:ext>
              </a:extLst>
            </p:cNvPr>
            <p:cNvSpPr/>
            <p:nvPr/>
          </p:nvSpPr>
          <p:spPr>
            <a:xfrm>
              <a:off x="0" y="6464800"/>
              <a:ext cx="12192000" cy="3600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BB72F72-6C9D-DED7-AE87-3D1500432B97}"/>
                </a:ext>
              </a:extLst>
            </p:cNvPr>
            <p:cNvSpPr/>
            <p:nvPr/>
          </p:nvSpPr>
          <p:spPr>
            <a:xfrm>
              <a:off x="0" y="6572466"/>
              <a:ext cx="12192000" cy="107721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9092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005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7E7BE-3A07-2FF6-62D1-DFDE33402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5000" dirty="0"/>
              <a:t>Disciplina:</a:t>
            </a:r>
            <a:br>
              <a:rPr lang="pt-BR" dirty="0"/>
            </a:br>
            <a:r>
              <a:rPr lang="pt-BR" dirty="0"/>
              <a:t>Inteligência Artificial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EBED47-DD57-D1E8-C0C3-C07A6CBA58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04: Resolução de Problemas e Métodos de Resolução de Problemas.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6129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7C0E8-9F54-43B7-F6E1-A5C16159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significa resolver problemas em IA?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6D9118-F082-795B-9A74-521B7A1A5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Encontrar uma sequência de ações</a:t>
            </a:r>
          </a:p>
          <a:p>
            <a:r>
              <a:rPr lang="pt-BR" dirty="0"/>
              <a:t>Sair de um estado inicial</a:t>
            </a:r>
          </a:p>
          <a:p>
            <a:r>
              <a:rPr lang="pt-BR" dirty="0"/>
              <a:t>Alcançar um estado objetivo</a:t>
            </a:r>
          </a:p>
          <a:p>
            <a:r>
              <a:rPr lang="pt-BR" dirty="0"/>
              <a:t>Fazer isso de forma correta, rápida e eficiente</a:t>
            </a:r>
          </a:p>
        </p:txBody>
      </p:sp>
    </p:spTree>
    <p:extLst>
      <p:ext uri="{BB962C8B-B14F-4D97-AF65-F5344CB8AC3E}">
        <p14:creationId xmlns:p14="http://schemas.microsoft.com/office/powerpoint/2010/main" val="649497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B6499-2E8C-C080-DF78-C130822A9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Situação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12F877-FAE0-D999-0ECA-D00042F5E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app de entregas precisa definir a melhor rota</a:t>
            </a:r>
          </a:p>
          <a:p>
            <a:r>
              <a:rPr lang="pt-BR" dirty="0"/>
              <a:t>Um </a:t>
            </a:r>
            <a:r>
              <a:rPr lang="pt-BR" dirty="0" err="1"/>
              <a:t>chatbot</a:t>
            </a:r>
            <a:r>
              <a:rPr lang="pt-BR" dirty="0"/>
              <a:t> precisa escolher a resposta mais adequada</a:t>
            </a:r>
          </a:p>
          <a:p>
            <a:r>
              <a:rPr lang="pt-BR" dirty="0"/>
              <a:t>Um sistema antifraude precisa decidir se uma transação é suspeita</a:t>
            </a:r>
          </a:p>
        </p:txBody>
      </p:sp>
    </p:spTree>
    <p:extLst>
      <p:ext uri="{BB962C8B-B14F-4D97-AF65-F5344CB8AC3E}">
        <p14:creationId xmlns:p14="http://schemas.microsoft.com/office/powerpoint/2010/main" val="138030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BA23A-1D40-4B3F-A891-DD241481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problema em IA?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A76A9F-2EDE-69D0-F945-A69E980EA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problema é uma situação com:</a:t>
            </a:r>
          </a:p>
          <a:p>
            <a:pPr lvl="1"/>
            <a:r>
              <a:rPr lang="pt-BR" dirty="0"/>
              <a:t>Estado inicial</a:t>
            </a:r>
          </a:p>
          <a:p>
            <a:pPr lvl="1"/>
            <a:r>
              <a:rPr lang="pt-BR" dirty="0"/>
              <a:t>Objetivo</a:t>
            </a:r>
          </a:p>
          <a:p>
            <a:pPr lvl="1"/>
            <a:r>
              <a:rPr lang="pt-BR" dirty="0"/>
              <a:t>Ações possíveis</a:t>
            </a:r>
          </a:p>
          <a:p>
            <a:pPr lvl="1"/>
            <a:r>
              <a:rPr lang="pt-BR" dirty="0"/>
              <a:t>Restrições</a:t>
            </a:r>
          </a:p>
        </p:txBody>
      </p:sp>
    </p:spTree>
    <p:extLst>
      <p:ext uri="{BB962C8B-B14F-4D97-AF65-F5344CB8AC3E}">
        <p14:creationId xmlns:p14="http://schemas.microsoft.com/office/powerpoint/2010/main" val="298068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328777-0350-16C9-4A9C-7B2DEDF5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Elementos da resolução de 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4C8EB3-E67C-9B5E-91AD-985B9A18D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b="1" dirty="0">
                <a:solidFill>
                  <a:srgbClr val="002060"/>
                </a:solidFill>
              </a:rPr>
              <a:t>Estado inicial</a:t>
            </a:r>
          </a:p>
          <a:p>
            <a:pPr marL="457200" indent="-457200">
              <a:buFont typeface="+mj-lt"/>
              <a:buAutoNum type="arabicPeriod"/>
            </a:pPr>
            <a:r>
              <a:rPr lang="pt-BR" b="1" dirty="0">
                <a:solidFill>
                  <a:srgbClr val="002060"/>
                </a:solidFill>
              </a:rPr>
              <a:t>Estado objetivo</a:t>
            </a:r>
          </a:p>
          <a:p>
            <a:pPr marL="457200" indent="-457200">
              <a:buFont typeface="+mj-lt"/>
              <a:buAutoNum type="arabicPeriod"/>
            </a:pPr>
            <a:r>
              <a:rPr lang="pt-BR" b="1" dirty="0">
                <a:solidFill>
                  <a:srgbClr val="002060"/>
                </a:solidFill>
              </a:rPr>
              <a:t>Operadores / ações</a:t>
            </a:r>
          </a:p>
          <a:p>
            <a:pPr marL="457200" indent="-457200">
              <a:buFont typeface="+mj-lt"/>
              <a:buAutoNum type="arabicPeriod"/>
            </a:pPr>
            <a:r>
              <a:rPr lang="pt-BR" b="1" dirty="0">
                <a:solidFill>
                  <a:srgbClr val="002060"/>
                </a:solidFill>
              </a:rPr>
              <a:t>Espaço de estados</a:t>
            </a:r>
          </a:p>
          <a:p>
            <a:pPr marL="457200" indent="-457200">
              <a:buFont typeface="+mj-lt"/>
              <a:buAutoNum type="arabicPeriod"/>
            </a:pPr>
            <a:r>
              <a:rPr lang="pt-BR" b="1" dirty="0">
                <a:solidFill>
                  <a:srgbClr val="002060"/>
                </a:solidFill>
              </a:rPr>
              <a:t>Critério de sucesso</a:t>
            </a:r>
          </a:p>
          <a:p>
            <a:pPr marL="457200" indent="-457200">
              <a:buFont typeface="+mj-lt"/>
              <a:buAutoNum type="arabicPeriod"/>
            </a:pPr>
            <a:r>
              <a:rPr lang="pt-BR" b="1" dirty="0">
                <a:solidFill>
                  <a:srgbClr val="002060"/>
                </a:solidFill>
              </a:rPr>
              <a:t>Custo da solução (quando existir)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401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8E140-5452-E25B-2247-870E2823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rgbClr val="FFC000"/>
                </a:solidFill>
              </a:rPr>
              <a:t>Exemplo simples:</a:t>
            </a:r>
            <a:br>
              <a:rPr lang="pt-BR" dirty="0">
                <a:solidFill>
                  <a:srgbClr val="FFC000"/>
                </a:solidFill>
              </a:rPr>
            </a:br>
            <a:r>
              <a:rPr lang="pt-BR" dirty="0"/>
              <a:t>Ir de Andradina até São José do Rio Preto.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76F2CA-EA74-B4A9-161B-D82CABB4B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Estado</a:t>
            </a:r>
            <a:r>
              <a:rPr lang="pt-BR" dirty="0"/>
              <a:t> </a:t>
            </a:r>
            <a:r>
              <a:rPr lang="pt-BR" b="1" dirty="0"/>
              <a:t>inicial</a:t>
            </a:r>
            <a:r>
              <a:rPr lang="pt-BR" dirty="0"/>
              <a:t>: Andradina</a:t>
            </a:r>
          </a:p>
          <a:p>
            <a:r>
              <a:rPr lang="pt-BR" b="1" dirty="0"/>
              <a:t>Objetivo</a:t>
            </a:r>
            <a:r>
              <a:rPr lang="pt-BR" dirty="0"/>
              <a:t>: chegar a Rio Preto</a:t>
            </a:r>
          </a:p>
          <a:p>
            <a:r>
              <a:rPr lang="pt-BR" b="1" dirty="0"/>
              <a:t>Ações</a:t>
            </a:r>
            <a:r>
              <a:rPr lang="pt-BR" dirty="0"/>
              <a:t>: escolher rotas possíveis</a:t>
            </a:r>
          </a:p>
          <a:p>
            <a:r>
              <a:rPr lang="pt-BR" b="1" dirty="0"/>
              <a:t>Restrições</a:t>
            </a:r>
            <a:r>
              <a:rPr lang="pt-BR" dirty="0"/>
              <a:t>: tempo, distância, pedágios</a:t>
            </a:r>
          </a:p>
          <a:p>
            <a:r>
              <a:rPr lang="pt-BR" b="1" dirty="0"/>
              <a:t>Solução</a:t>
            </a:r>
            <a:r>
              <a:rPr lang="pt-BR" dirty="0"/>
              <a:t>: sequência de cidades/ações</a:t>
            </a:r>
          </a:p>
        </p:txBody>
      </p:sp>
    </p:spTree>
    <p:extLst>
      <p:ext uri="{BB962C8B-B14F-4D97-AF65-F5344CB8AC3E}">
        <p14:creationId xmlns:p14="http://schemas.microsoft.com/office/powerpoint/2010/main" val="1806675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A0A7B096-47F7-B372-08B4-E5BBA0384144}"/>
              </a:ext>
            </a:extLst>
          </p:cNvPr>
          <p:cNvSpPr/>
          <p:nvPr/>
        </p:nvSpPr>
        <p:spPr>
          <a:xfrm>
            <a:off x="8614179" y="2147887"/>
            <a:ext cx="2739618" cy="2743199"/>
          </a:xfrm>
          <a:prstGeom prst="roundRect">
            <a:avLst>
              <a:gd name="adj" fmla="val 685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id="{CDAD4914-33B9-1977-396C-A0C31AC879D6}"/>
              </a:ext>
            </a:extLst>
          </p:cNvPr>
          <p:cNvCxnSpPr>
            <a:cxnSpLocks/>
          </p:cNvCxnSpPr>
          <p:nvPr/>
        </p:nvCxnSpPr>
        <p:spPr>
          <a:xfrm>
            <a:off x="9067798" y="2624417"/>
            <a:ext cx="1900516" cy="1857935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533A0255-0D8B-6E59-7F51-D43F473A03B1}"/>
              </a:ext>
            </a:extLst>
          </p:cNvPr>
          <p:cNvSpPr/>
          <p:nvPr/>
        </p:nvSpPr>
        <p:spPr>
          <a:xfrm>
            <a:off x="8610599" y="2151529"/>
            <a:ext cx="2743200" cy="2743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943ED8-408A-EE51-CA3E-F7D656A4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Espaço de estados.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DD947D-0CED-93E4-0E64-9EB006C67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5"/>
            <a:ext cx="6116635" cy="4351338"/>
          </a:xfrm>
        </p:spPr>
        <p:txBody>
          <a:bodyPr/>
          <a:lstStyle/>
          <a:p>
            <a:r>
              <a:rPr lang="pt-BR" b="1" dirty="0"/>
              <a:t>Como a IA enxerga o problema</a:t>
            </a:r>
          </a:p>
          <a:p>
            <a:pPr lvl="1"/>
            <a:r>
              <a:rPr lang="pt-BR" dirty="0"/>
              <a:t>Cada situação possível é um </a:t>
            </a:r>
            <a:r>
              <a:rPr lang="pt-BR" b="1" dirty="0"/>
              <a:t>estado</a:t>
            </a:r>
            <a:endParaRPr lang="pt-BR" dirty="0"/>
          </a:p>
          <a:p>
            <a:pPr lvl="1"/>
            <a:r>
              <a:rPr lang="pt-BR" dirty="0"/>
              <a:t>Cada mudança é uma </a:t>
            </a:r>
            <a:r>
              <a:rPr lang="pt-BR" b="1" dirty="0"/>
              <a:t>transição</a:t>
            </a:r>
            <a:endParaRPr lang="pt-BR" dirty="0"/>
          </a:p>
          <a:p>
            <a:pPr lvl="1"/>
            <a:r>
              <a:rPr lang="pt-BR" dirty="0"/>
              <a:t>Resolver = navegar nesse espaço até o objetivo</a:t>
            </a:r>
          </a:p>
          <a:p>
            <a:r>
              <a:rPr lang="pt-BR" b="1" dirty="0"/>
              <a:t>Diagrama textual</a:t>
            </a:r>
          </a:p>
          <a:p>
            <a:pPr lvl="1"/>
            <a:r>
              <a:rPr lang="pt-BR" dirty="0"/>
              <a:t>Estado A → Estado B ... Estado G</a:t>
            </a:r>
          </a:p>
          <a:p>
            <a:pPr lvl="1"/>
            <a:r>
              <a:rPr lang="pt-BR" dirty="0"/>
              <a:t>Estado A → Estado D ... Estado G</a:t>
            </a:r>
          </a:p>
          <a:p>
            <a:pPr lvl="1"/>
            <a:r>
              <a:rPr lang="pt-BR" dirty="0"/>
              <a:t>A IA avalia </a:t>
            </a:r>
            <a:r>
              <a:rPr lang="pt-BR" b="1" dirty="0"/>
              <a:t>quais caminhos seguir</a:t>
            </a:r>
            <a:endParaRPr lang="pt-BR" dirty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9C9CC9B-14EA-F5EA-63BF-AB818BDF4435}"/>
              </a:ext>
            </a:extLst>
          </p:cNvPr>
          <p:cNvCxnSpPr/>
          <p:nvPr/>
        </p:nvCxnSpPr>
        <p:spPr>
          <a:xfrm>
            <a:off x="10910047" y="2151529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B50D03E-7EF8-5824-0C11-141F9B96A3CF}"/>
              </a:ext>
            </a:extLst>
          </p:cNvPr>
          <p:cNvCxnSpPr/>
          <p:nvPr/>
        </p:nvCxnSpPr>
        <p:spPr>
          <a:xfrm>
            <a:off x="9565341" y="2151529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6B8BD97-5204-2A05-F7D1-21D946B8BF92}"/>
              </a:ext>
            </a:extLst>
          </p:cNvPr>
          <p:cNvCxnSpPr/>
          <p:nvPr/>
        </p:nvCxnSpPr>
        <p:spPr>
          <a:xfrm>
            <a:off x="9991164" y="2151529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B87FBDA-9039-CEB0-76D1-A4B3862AB2F2}"/>
              </a:ext>
            </a:extLst>
          </p:cNvPr>
          <p:cNvCxnSpPr/>
          <p:nvPr/>
        </p:nvCxnSpPr>
        <p:spPr>
          <a:xfrm>
            <a:off x="10430434" y="2151529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AB0EF52-9E40-81BD-BDED-165C83C38415}"/>
              </a:ext>
            </a:extLst>
          </p:cNvPr>
          <p:cNvCxnSpPr/>
          <p:nvPr/>
        </p:nvCxnSpPr>
        <p:spPr>
          <a:xfrm>
            <a:off x="9982199" y="3747245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4AE89FDC-EAF7-CE65-A198-AE151B2D84FD}"/>
              </a:ext>
            </a:extLst>
          </p:cNvPr>
          <p:cNvCxnSpPr/>
          <p:nvPr/>
        </p:nvCxnSpPr>
        <p:spPr>
          <a:xfrm>
            <a:off x="10416411" y="2671483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B8F90C2-4F9F-0FBB-AC75-B504E67F17B8}"/>
              </a:ext>
            </a:extLst>
          </p:cNvPr>
          <p:cNvCxnSpPr/>
          <p:nvPr/>
        </p:nvCxnSpPr>
        <p:spPr>
          <a:xfrm>
            <a:off x="10420223" y="3818964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934BF3FE-45A6-DE89-6780-27CE2A194B85}"/>
              </a:ext>
            </a:extLst>
          </p:cNvPr>
          <p:cNvCxnSpPr/>
          <p:nvPr/>
        </p:nvCxnSpPr>
        <p:spPr>
          <a:xfrm>
            <a:off x="9090212" y="4356847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DF602469-6541-5741-B98B-1FB30E2B4DD2}"/>
              </a:ext>
            </a:extLst>
          </p:cNvPr>
          <p:cNvCxnSpPr/>
          <p:nvPr/>
        </p:nvCxnSpPr>
        <p:spPr>
          <a:xfrm>
            <a:off x="9067798" y="2743199"/>
            <a:ext cx="47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34E92BCE-FEAA-42DD-0413-81D1D621B91A}"/>
              </a:ext>
            </a:extLst>
          </p:cNvPr>
          <p:cNvCxnSpPr/>
          <p:nvPr/>
        </p:nvCxnSpPr>
        <p:spPr>
          <a:xfrm>
            <a:off x="9982199" y="2731059"/>
            <a:ext cx="47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3109999A-0EBE-A4E8-65E2-ED9A40EB19B4}"/>
              </a:ext>
            </a:extLst>
          </p:cNvPr>
          <p:cNvCxnSpPr/>
          <p:nvPr/>
        </p:nvCxnSpPr>
        <p:spPr>
          <a:xfrm>
            <a:off x="10430434" y="3218329"/>
            <a:ext cx="47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2AD2366F-68C1-BF0A-6986-E29DD9F2DCFE}"/>
              </a:ext>
            </a:extLst>
          </p:cNvPr>
          <p:cNvCxnSpPr/>
          <p:nvPr/>
        </p:nvCxnSpPr>
        <p:spPr>
          <a:xfrm>
            <a:off x="9090212" y="3236258"/>
            <a:ext cx="47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7C30D287-B2F1-DA72-26E4-6985DDCE7D54}"/>
              </a:ext>
            </a:extLst>
          </p:cNvPr>
          <p:cNvCxnSpPr/>
          <p:nvPr/>
        </p:nvCxnSpPr>
        <p:spPr>
          <a:xfrm>
            <a:off x="9067798" y="3818964"/>
            <a:ext cx="47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7D1BF883-A8BB-79D2-1915-CB27471E1412}"/>
              </a:ext>
            </a:extLst>
          </p:cNvPr>
          <p:cNvCxnSpPr/>
          <p:nvPr/>
        </p:nvCxnSpPr>
        <p:spPr>
          <a:xfrm>
            <a:off x="10044954" y="3818964"/>
            <a:ext cx="47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46E5AA95-29EA-3437-6079-DD5B9CF8F2DD}"/>
              </a:ext>
            </a:extLst>
          </p:cNvPr>
          <p:cNvCxnSpPr/>
          <p:nvPr/>
        </p:nvCxnSpPr>
        <p:spPr>
          <a:xfrm>
            <a:off x="10488701" y="3818964"/>
            <a:ext cx="47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42309420-6B73-8921-5758-7CE57D8498BE}"/>
              </a:ext>
            </a:extLst>
          </p:cNvPr>
          <p:cNvCxnSpPr/>
          <p:nvPr/>
        </p:nvCxnSpPr>
        <p:spPr>
          <a:xfrm>
            <a:off x="10927974" y="4312022"/>
            <a:ext cx="47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650210D5-3CCB-EBB7-DFB1-095A13EEF6E8}"/>
              </a:ext>
            </a:extLst>
          </p:cNvPr>
          <p:cNvCxnSpPr/>
          <p:nvPr/>
        </p:nvCxnSpPr>
        <p:spPr>
          <a:xfrm>
            <a:off x="9914960" y="4312022"/>
            <a:ext cx="47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7EF5B572-DBD2-5DEC-6BA7-015F9689DC7F}"/>
              </a:ext>
            </a:extLst>
          </p:cNvPr>
          <p:cNvCxnSpPr/>
          <p:nvPr/>
        </p:nvCxnSpPr>
        <p:spPr>
          <a:xfrm>
            <a:off x="9511551" y="4338915"/>
            <a:ext cx="47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5E294ED-357E-8946-274B-69F6F91E506B}"/>
              </a:ext>
            </a:extLst>
          </p:cNvPr>
          <p:cNvCxnSpPr/>
          <p:nvPr/>
        </p:nvCxnSpPr>
        <p:spPr>
          <a:xfrm>
            <a:off x="8686800" y="4383741"/>
            <a:ext cx="47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F60C9F2E-CE1E-7CCE-0027-D111531DB025}"/>
              </a:ext>
            </a:extLst>
          </p:cNvPr>
          <p:cNvCxnSpPr/>
          <p:nvPr/>
        </p:nvCxnSpPr>
        <p:spPr>
          <a:xfrm>
            <a:off x="9565341" y="3818964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A6E74226-6213-26D0-8444-F6040D1D80BB}"/>
              </a:ext>
            </a:extLst>
          </p:cNvPr>
          <p:cNvCxnSpPr/>
          <p:nvPr/>
        </p:nvCxnSpPr>
        <p:spPr>
          <a:xfrm>
            <a:off x="9071610" y="3217565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019B4F47-1321-784F-6E01-38607164AD86}"/>
              </a:ext>
            </a:extLst>
          </p:cNvPr>
          <p:cNvCxnSpPr/>
          <p:nvPr/>
        </p:nvCxnSpPr>
        <p:spPr>
          <a:xfrm>
            <a:off x="10910047" y="2671483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E80D61A7-9481-9981-E83D-B0114992E5AB}"/>
              </a:ext>
            </a:extLst>
          </p:cNvPr>
          <p:cNvCxnSpPr/>
          <p:nvPr/>
        </p:nvCxnSpPr>
        <p:spPr>
          <a:xfrm>
            <a:off x="10019675" y="3218329"/>
            <a:ext cx="0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Smiley 60">
            <a:extLst>
              <a:ext uri="{FF2B5EF4-FFF2-40B4-BE49-F238E27FC236}">
                <a16:creationId xmlns:a16="http://schemas.microsoft.com/office/drawing/2014/main" id="{A271CE6C-DAE9-9B9D-8507-B3A0471AACBA}"/>
              </a:ext>
            </a:extLst>
          </p:cNvPr>
          <p:cNvSpPr/>
          <p:nvPr/>
        </p:nvSpPr>
        <p:spPr>
          <a:xfrm>
            <a:off x="8723780" y="2324752"/>
            <a:ext cx="248773" cy="245224"/>
          </a:xfrm>
          <a:prstGeom prst="smileyFace">
            <a:avLst>
              <a:gd name="adj" fmla="val 4653"/>
            </a:avLst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Botão de Ação: Ir para a Página Inicial 6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6C3D8BF-2411-4207-6E03-64A22F747E5F}"/>
              </a:ext>
            </a:extLst>
          </p:cNvPr>
          <p:cNvSpPr/>
          <p:nvPr/>
        </p:nvSpPr>
        <p:spPr>
          <a:xfrm>
            <a:off x="11057966" y="4482352"/>
            <a:ext cx="242045" cy="242045"/>
          </a:xfrm>
          <a:prstGeom prst="actionButtonHome">
            <a:avLst/>
          </a:prstGeom>
          <a:solidFill>
            <a:srgbClr val="FAF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CD52A643-3AE1-BB63-6097-DDBB2DA37644}"/>
              </a:ext>
            </a:extLst>
          </p:cNvPr>
          <p:cNvSpPr txBox="1"/>
          <p:nvPr/>
        </p:nvSpPr>
        <p:spPr>
          <a:xfrm>
            <a:off x="8526339" y="244736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DB8CB3B3-7B1D-B78F-997A-4F1A9CBDB83A}"/>
              </a:ext>
            </a:extLst>
          </p:cNvPr>
          <p:cNvSpPr txBox="1"/>
          <p:nvPr/>
        </p:nvSpPr>
        <p:spPr>
          <a:xfrm>
            <a:off x="8663486" y="393372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718D32FE-38D7-84A3-4AF4-667570B268D0}"/>
              </a:ext>
            </a:extLst>
          </p:cNvPr>
          <p:cNvSpPr txBox="1"/>
          <p:nvPr/>
        </p:nvSpPr>
        <p:spPr>
          <a:xfrm>
            <a:off x="9155294" y="445456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7D20E886-AA73-907C-C7B6-7524DDD14BC4}"/>
              </a:ext>
            </a:extLst>
          </p:cNvPr>
          <p:cNvSpPr txBox="1"/>
          <p:nvPr/>
        </p:nvSpPr>
        <p:spPr>
          <a:xfrm>
            <a:off x="9576546" y="283106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793C332-8F0E-9241-795F-1034416ABC8F}"/>
              </a:ext>
            </a:extLst>
          </p:cNvPr>
          <p:cNvSpPr txBox="1"/>
          <p:nvPr/>
        </p:nvSpPr>
        <p:spPr>
          <a:xfrm>
            <a:off x="10055965" y="33128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89AFD6E1-79AD-4C45-E475-54A1AB24716C}"/>
              </a:ext>
            </a:extLst>
          </p:cNvPr>
          <p:cNvSpPr txBox="1"/>
          <p:nvPr/>
        </p:nvSpPr>
        <p:spPr>
          <a:xfrm>
            <a:off x="10746080" y="441871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2D78A610-4A5B-BA33-560C-CB07045D8CAA}"/>
              </a:ext>
            </a:extLst>
          </p:cNvPr>
          <p:cNvSpPr txBox="1"/>
          <p:nvPr/>
        </p:nvSpPr>
        <p:spPr>
          <a:xfrm>
            <a:off x="10941238" y="33044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1D330551-858B-9C21-D10D-108339C209AE}"/>
              </a:ext>
            </a:extLst>
          </p:cNvPr>
          <p:cNvSpPr txBox="1"/>
          <p:nvPr/>
        </p:nvSpPr>
        <p:spPr>
          <a:xfrm>
            <a:off x="9576546" y="337791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CECDFD0F-5742-0809-BDC2-744000F23C4E}"/>
              </a:ext>
            </a:extLst>
          </p:cNvPr>
          <p:cNvSpPr txBox="1"/>
          <p:nvPr/>
        </p:nvSpPr>
        <p:spPr>
          <a:xfrm>
            <a:off x="8610599" y="2151529"/>
            <a:ext cx="2743198" cy="2743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954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250"/>
                            </p:stCondLst>
                            <p:childTnLst>
                              <p:par>
                                <p:cTn id="5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750"/>
                            </p:stCondLst>
                            <p:childTnLst>
                              <p:par>
                                <p:cTn id="6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750"/>
                            </p:stCondLst>
                            <p:childTnLst>
                              <p:par>
                                <p:cTn id="8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250"/>
                            </p:stCondLst>
                            <p:childTnLst>
                              <p:par>
                                <p:cTn id="9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500"/>
                            </p:stCondLst>
                            <p:childTnLst>
                              <p:par>
                                <p:cTn id="9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750"/>
                            </p:stCondLst>
                            <p:childTnLst>
                              <p:par>
                                <p:cTn id="10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250"/>
                            </p:stCondLst>
                            <p:childTnLst>
                              <p:par>
                                <p:cTn id="1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50"/>
                            </p:stCondLst>
                            <p:childTnLst>
                              <p:par>
                                <p:cTn id="1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64E0E-DBCF-6D05-6AFC-B612B829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Formulação do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D6D9F-0ECF-ADF0-C267-CD738724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Etapas de formulação</a:t>
            </a:r>
          </a:p>
          <a:p>
            <a:r>
              <a:rPr lang="pt-BR" b="1" dirty="0">
                <a:solidFill>
                  <a:srgbClr val="FF0000"/>
                </a:solidFill>
              </a:rPr>
              <a:t>Definir o problema com clareza</a:t>
            </a:r>
            <a:endParaRPr lang="pt-BR" dirty="0">
              <a:solidFill>
                <a:srgbClr val="FF0000"/>
              </a:solidFill>
            </a:endParaRPr>
          </a:p>
          <a:p>
            <a:r>
              <a:rPr lang="pt-BR" dirty="0"/>
              <a:t>Identificar:</a:t>
            </a:r>
          </a:p>
          <a:p>
            <a:pPr lvl="1"/>
            <a:r>
              <a:rPr lang="pt-BR" dirty="0"/>
              <a:t>Entrada</a:t>
            </a:r>
          </a:p>
          <a:p>
            <a:pPr lvl="1"/>
            <a:r>
              <a:rPr lang="pt-BR" dirty="0"/>
              <a:t>Saída</a:t>
            </a:r>
          </a:p>
          <a:p>
            <a:pPr lvl="1"/>
            <a:r>
              <a:rPr lang="pt-BR" dirty="0"/>
              <a:t>Restrições</a:t>
            </a:r>
          </a:p>
          <a:p>
            <a:pPr lvl="1"/>
            <a:r>
              <a:rPr lang="pt-BR" dirty="0"/>
              <a:t>Critérios de solução</a:t>
            </a:r>
          </a:p>
          <a:p>
            <a:r>
              <a:rPr lang="pt-BR" dirty="0"/>
              <a:t>Escolher uma representação adequada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1642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D37D8-121D-3989-EAC9-59D818AD0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resolução de 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0DE0F5-65D3-EBA7-E821-F645B1742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Tentativa e erro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Decomposição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Divisão em subproblemas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Busca sistemática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Uso de conhecimento prévio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Uso de heurísticas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8859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78A2E-B867-2691-6840-2FBB370F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1: Tentativa e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7DFC63-300A-1973-1FA7-3B9AD0F12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Características</a:t>
            </a:r>
          </a:p>
          <a:p>
            <a:pPr lvl="1"/>
            <a:r>
              <a:rPr lang="pt-BR" dirty="0"/>
              <a:t>Testa possibilidades até encontrar solução</a:t>
            </a:r>
          </a:p>
          <a:p>
            <a:pPr lvl="1"/>
            <a:r>
              <a:rPr lang="pt-BR" dirty="0"/>
              <a:t>Fácil de entender</a:t>
            </a:r>
          </a:p>
          <a:p>
            <a:pPr lvl="1"/>
            <a:r>
              <a:rPr lang="pt-BR" dirty="0"/>
              <a:t>Pode ser muito ineficiente</a:t>
            </a:r>
          </a:p>
          <a:p>
            <a:pPr lvl="1"/>
            <a:r>
              <a:rPr lang="pt-BR" dirty="0"/>
              <a:t>Útil em problemas pequenos</a:t>
            </a:r>
          </a:p>
          <a:p>
            <a:r>
              <a:rPr lang="pt-BR" b="1" dirty="0"/>
              <a:t>Exemplo</a:t>
            </a:r>
          </a:p>
          <a:p>
            <a:pPr lvl="1"/>
            <a:r>
              <a:rPr lang="pt-BR" dirty="0"/>
              <a:t>Tentar combinações de senha simples</a:t>
            </a:r>
          </a:p>
          <a:p>
            <a:pPr lvl="1"/>
            <a:r>
              <a:rPr lang="pt-BR" dirty="0"/>
              <a:t>Testar respostas possíveis em um jogo</a:t>
            </a:r>
          </a:p>
          <a:p>
            <a:endParaRPr lang="pt-BR" dirty="0"/>
          </a:p>
        </p:txBody>
      </p:sp>
      <p:pic>
        <p:nvPicPr>
          <p:cNvPr id="1028" name="Picture 4" descr="Labirinto Imagens – Download Grátis no Freepik">
            <a:extLst>
              <a:ext uri="{FF2B5EF4-FFF2-40B4-BE49-F238E27FC236}">
                <a16:creationId xmlns:a16="http://schemas.microsoft.com/office/drawing/2014/main" id="{91845048-A302-52AA-7F59-481B608C6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98" y="1961818"/>
            <a:ext cx="3239097" cy="231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lde De Dados - Modelo De Um Cubo Branco Ilustração do Vetor - Ilustração  de dados, oportunidade: 109314094">
            <a:extLst>
              <a:ext uri="{FF2B5EF4-FFF2-40B4-BE49-F238E27FC236}">
                <a16:creationId xmlns:a16="http://schemas.microsoft.com/office/drawing/2014/main" id="{94DEA2A8-A57A-051F-E8A3-8A124D027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3499" y="4325938"/>
            <a:ext cx="1985962" cy="198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jogo de labirinto para crianças. quebra-cabeça de labirinto simples com  solução 8724225 Vetor no Vecteezy">
            <a:extLst>
              <a:ext uri="{FF2B5EF4-FFF2-40B4-BE49-F238E27FC236}">
                <a16:creationId xmlns:a16="http://schemas.microsoft.com/office/drawing/2014/main" id="{31D0AA32-FE51-6139-840D-6E11A2E5E5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" r="54334"/>
          <a:stretch>
            <a:fillRect/>
          </a:stretch>
        </p:blipFill>
        <p:spPr bwMode="auto">
          <a:xfrm>
            <a:off x="7869451" y="365125"/>
            <a:ext cx="1461248" cy="182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77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Pedra Grande Partida Em Pedaços Sobre Um Fundo Branco Isolado Foto de Stock  - Imagem de material, geologia: 192814616">
            <a:extLst>
              <a:ext uri="{FF2B5EF4-FFF2-40B4-BE49-F238E27FC236}">
                <a16:creationId xmlns:a16="http://schemas.microsoft.com/office/drawing/2014/main" id="{EF2C4D15-CA45-BCA4-748B-D49F1A6EF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971" y="4131236"/>
            <a:ext cx="2162175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E346BA-AB2C-9894-1D08-7F2789C5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1" y="365125"/>
            <a:ext cx="8656560" cy="1325563"/>
          </a:xfrm>
        </p:spPr>
        <p:txBody>
          <a:bodyPr/>
          <a:lstStyle/>
          <a:p>
            <a:r>
              <a:rPr lang="pt-BR" dirty="0"/>
              <a:t>Método 2: Decomposição do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8F54FB-EEE1-6885-E954-7188FE5AE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Ideia principal</a:t>
            </a:r>
          </a:p>
          <a:p>
            <a:pPr lvl="1"/>
            <a:r>
              <a:rPr lang="pt-BR" dirty="0"/>
              <a:t>Dividir problema grande em partes menores</a:t>
            </a:r>
          </a:p>
          <a:p>
            <a:pPr lvl="1"/>
            <a:r>
              <a:rPr lang="pt-BR" dirty="0"/>
              <a:t>Resolver cada parte separadamente</a:t>
            </a:r>
          </a:p>
          <a:p>
            <a:pPr lvl="1"/>
            <a:r>
              <a:rPr lang="pt-BR" dirty="0"/>
              <a:t>Integrar as soluções ao final</a:t>
            </a:r>
          </a:p>
          <a:p>
            <a:r>
              <a:rPr lang="pt-BR" b="1" dirty="0"/>
              <a:t>Exemplo</a:t>
            </a:r>
          </a:p>
          <a:p>
            <a:r>
              <a:rPr lang="pt-BR" dirty="0"/>
              <a:t>Sistema acadêmico:</a:t>
            </a:r>
          </a:p>
          <a:p>
            <a:pPr lvl="1"/>
            <a:r>
              <a:rPr lang="pt-BR" dirty="0"/>
              <a:t>Cadastro de aluno</a:t>
            </a:r>
          </a:p>
          <a:p>
            <a:pPr lvl="1"/>
            <a:r>
              <a:rPr lang="pt-BR" dirty="0"/>
              <a:t>Matrícula</a:t>
            </a:r>
          </a:p>
          <a:p>
            <a:pPr lvl="1"/>
            <a:r>
              <a:rPr lang="pt-BR" dirty="0"/>
              <a:t>Notas</a:t>
            </a:r>
          </a:p>
          <a:p>
            <a:pPr lvl="1"/>
            <a:r>
              <a:rPr lang="pt-BR" dirty="0"/>
              <a:t>Frequência</a:t>
            </a:r>
          </a:p>
          <a:p>
            <a:endParaRPr lang="pt-BR" dirty="0"/>
          </a:p>
        </p:txBody>
      </p:sp>
      <p:pic>
        <p:nvPicPr>
          <p:cNvPr id="2050" name="Picture 2" descr="Como Partir uma Rocha ao Meio Usando um Martelo | TikTok">
            <a:extLst>
              <a:ext uri="{FF2B5EF4-FFF2-40B4-BE49-F238E27FC236}">
                <a16:creationId xmlns:a16="http://schemas.microsoft.com/office/drawing/2014/main" id="{796691F9-BE16-BE33-19CD-854CA77D17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22"/>
          <a:stretch>
            <a:fillRect/>
          </a:stretch>
        </p:blipFill>
        <p:spPr bwMode="auto">
          <a:xfrm>
            <a:off x="9639971" y="495067"/>
            <a:ext cx="2436749" cy="350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2181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C76DA-E5F1-680D-7F84-C4B328709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3: Redução a subproblemas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D472EC-B21F-209A-1406-50B3216F1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5"/>
            <a:ext cx="8214378" cy="4351338"/>
          </a:xfrm>
        </p:spPr>
        <p:txBody>
          <a:bodyPr/>
          <a:lstStyle/>
          <a:p>
            <a:r>
              <a:rPr lang="pt-BR" b="1" dirty="0"/>
              <a:t>Estratégia</a:t>
            </a:r>
          </a:p>
          <a:p>
            <a:pPr lvl="1"/>
            <a:r>
              <a:rPr lang="pt-BR" dirty="0"/>
              <a:t>Transformar problema complexo em versões menores</a:t>
            </a:r>
          </a:p>
          <a:p>
            <a:pPr lvl="1"/>
            <a:r>
              <a:rPr lang="pt-BR" dirty="0"/>
              <a:t>Resolver de forma progressiva</a:t>
            </a:r>
          </a:p>
          <a:p>
            <a:r>
              <a:rPr lang="pt-BR" b="1" dirty="0"/>
              <a:t>Exemplo</a:t>
            </a:r>
          </a:p>
          <a:p>
            <a:r>
              <a:rPr lang="pt-BR" dirty="0"/>
              <a:t>Planejamento de viagem:</a:t>
            </a:r>
          </a:p>
          <a:p>
            <a:pPr lvl="1"/>
            <a:r>
              <a:rPr lang="pt-BR" dirty="0"/>
              <a:t>definir destino</a:t>
            </a:r>
          </a:p>
          <a:p>
            <a:pPr lvl="1"/>
            <a:r>
              <a:rPr lang="pt-BR" dirty="0"/>
              <a:t>escolher transporte</a:t>
            </a:r>
          </a:p>
          <a:p>
            <a:pPr lvl="1"/>
            <a:r>
              <a:rPr lang="pt-BR" dirty="0"/>
              <a:t>organizar hospedagem</a:t>
            </a:r>
          </a:p>
          <a:p>
            <a:pPr lvl="1"/>
            <a:r>
              <a:rPr lang="pt-BR" dirty="0"/>
              <a:t>calcular custo</a:t>
            </a:r>
          </a:p>
          <a:p>
            <a:endParaRPr lang="pt-BR" dirty="0"/>
          </a:p>
        </p:txBody>
      </p:sp>
      <p:pic>
        <p:nvPicPr>
          <p:cNvPr id="3074" name="Picture 2" descr="Aquedutos romanos — maravilhas da engenharia">
            <a:extLst>
              <a:ext uri="{FF2B5EF4-FFF2-40B4-BE49-F238E27FC236}">
                <a16:creationId xmlns:a16="http://schemas.microsoft.com/office/drawing/2014/main" id="{EF2F78B4-B009-2398-CFEC-9D80D3069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824" y="1186657"/>
            <a:ext cx="3990975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egóvia: Aqueduto Romano e Castelo Medieval Pertinho de Madri – história,  viagens e livros">
            <a:extLst>
              <a:ext uri="{FF2B5EF4-FFF2-40B4-BE49-F238E27FC236}">
                <a16:creationId xmlns:a16="http://schemas.microsoft.com/office/drawing/2014/main" id="{F4CC4748-090E-114B-80BB-1C88E8E78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121" y="4160230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Relembre os melhores jogos da série SimCity">
            <a:extLst>
              <a:ext uri="{FF2B5EF4-FFF2-40B4-BE49-F238E27FC236}">
                <a16:creationId xmlns:a16="http://schemas.microsoft.com/office/drawing/2014/main" id="{46E03D34-1B79-C7F5-4255-9F007DFAF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787" y="3253581"/>
            <a:ext cx="4319058" cy="323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084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B9301-2B2F-6861-B33A-057A96D6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4: Busca em espaço de estados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DED034-AA62-19F6-2E09-421BE9CF0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Estratégia clássica da IA</a:t>
            </a:r>
          </a:p>
          <a:p>
            <a:pPr lvl="1"/>
            <a:r>
              <a:rPr lang="pt-BR" dirty="0"/>
              <a:t>Modela o problema como um grafo</a:t>
            </a:r>
          </a:p>
          <a:p>
            <a:pPr lvl="1"/>
            <a:r>
              <a:rPr lang="pt-BR" dirty="0"/>
              <a:t>Cada nó = estado</a:t>
            </a:r>
          </a:p>
          <a:p>
            <a:pPr lvl="1"/>
            <a:r>
              <a:rPr lang="pt-BR" dirty="0"/>
              <a:t>Cada aresta = ação</a:t>
            </a:r>
          </a:p>
          <a:p>
            <a:pPr lvl="1"/>
            <a:r>
              <a:rPr lang="pt-BR" dirty="0"/>
              <a:t>A solução é o caminho até o objetivo</a:t>
            </a:r>
          </a:p>
          <a:p>
            <a:endParaRPr lang="pt-BR" dirty="0"/>
          </a:p>
        </p:txBody>
      </p:sp>
      <p:pic>
        <p:nvPicPr>
          <p:cNvPr id="4100" name="Picture 4" descr="Mundo GTAV | TUDO DE GTA V">
            <a:extLst>
              <a:ext uri="{FF2B5EF4-FFF2-40B4-BE49-F238E27FC236}">
                <a16:creationId xmlns:a16="http://schemas.microsoft.com/office/drawing/2014/main" id="{9CD4C9C4-B94F-4E15-075F-B181E4AEB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649" y="1434353"/>
            <a:ext cx="3691703" cy="504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Graph Online: Exemplos de grafos">
            <a:extLst>
              <a:ext uri="{FF2B5EF4-FFF2-40B4-BE49-F238E27FC236}">
                <a16:creationId xmlns:a16="http://schemas.microsoft.com/office/drawing/2014/main" id="{75EAFE8B-85AC-AFCD-01EA-CB66EE376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92" y="4060410"/>
            <a:ext cx="2953625" cy="232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291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4C7D3-C718-0245-2020-C5605464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Comparação entre métodos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7B6F4DAF-5BB2-419C-D1DC-445D2CE179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5937694"/>
              </p:ext>
            </p:extLst>
          </p:nvPr>
        </p:nvGraphicFramePr>
        <p:xfrm>
          <a:off x="982663" y="1825625"/>
          <a:ext cx="10371136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784">
                  <a:extLst>
                    <a:ext uri="{9D8B030D-6E8A-4147-A177-3AD203B41FA5}">
                      <a16:colId xmlns:a16="http://schemas.microsoft.com/office/drawing/2014/main" val="2256611557"/>
                    </a:ext>
                  </a:extLst>
                </a:gridCol>
                <a:gridCol w="2592784">
                  <a:extLst>
                    <a:ext uri="{9D8B030D-6E8A-4147-A177-3AD203B41FA5}">
                      <a16:colId xmlns:a16="http://schemas.microsoft.com/office/drawing/2014/main" val="1082842947"/>
                    </a:ext>
                  </a:extLst>
                </a:gridCol>
                <a:gridCol w="2592784">
                  <a:extLst>
                    <a:ext uri="{9D8B030D-6E8A-4147-A177-3AD203B41FA5}">
                      <a16:colId xmlns:a16="http://schemas.microsoft.com/office/drawing/2014/main" val="3701941690"/>
                    </a:ext>
                  </a:extLst>
                </a:gridCol>
                <a:gridCol w="2592784">
                  <a:extLst>
                    <a:ext uri="{9D8B030D-6E8A-4147-A177-3AD203B41FA5}">
                      <a16:colId xmlns:a16="http://schemas.microsoft.com/office/drawing/2014/main" val="1082055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Método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Vantagem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Limitação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Exemplo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043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Tentativa e erro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Simples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Pouco eficiente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Testar combinações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118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Decomposição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Organiza problemas complexos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Exige boa modelagem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Sistema em módulos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566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Redução a subproblemas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Facilita a resolução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Pode gerar dependências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Planejamento por etapas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548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Busca em estados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Formal e poderosa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Pode ser custosa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Rotas, jogos, 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942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810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19B97-CBE7-2DE1-749D-35FEBAE5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Bem definidos x </a:t>
            </a:r>
            <a:r>
              <a:rPr lang="pt-BR" u="sng" dirty="0"/>
              <a:t>Mal</a:t>
            </a:r>
            <a:r>
              <a:rPr lang="pt-BR" dirty="0"/>
              <a:t> definidos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CAEF-6226-3E70-BAD4-5BA03FAD0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Bem definidos</a:t>
            </a:r>
            <a:endParaRPr lang="pt-BR" dirty="0"/>
          </a:p>
          <a:p>
            <a:pPr lvl="1"/>
            <a:r>
              <a:rPr lang="pt-BR" dirty="0"/>
              <a:t>regras claras</a:t>
            </a:r>
          </a:p>
          <a:p>
            <a:pPr lvl="1"/>
            <a:r>
              <a:rPr lang="pt-BR" dirty="0"/>
              <a:t>objetivo claro</a:t>
            </a:r>
          </a:p>
          <a:p>
            <a:pPr lvl="1"/>
            <a:r>
              <a:rPr lang="pt-BR" dirty="0"/>
              <a:t>ações conhecidas</a:t>
            </a:r>
          </a:p>
          <a:p>
            <a:r>
              <a:rPr lang="pt-BR" b="1" dirty="0"/>
              <a:t>Mal definidos</a:t>
            </a:r>
            <a:endParaRPr lang="pt-BR" dirty="0"/>
          </a:p>
          <a:p>
            <a:pPr lvl="1"/>
            <a:r>
              <a:rPr lang="pt-BR" dirty="0"/>
              <a:t>múltiplas interpretações</a:t>
            </a:r>
          </a:p>
          <a:p>
            <a:pPr lvl="1"/>
            <a:r>
              <a:rPr lang="pt-BR" dirty="0"/>
              <a:t>critérios subjetivos</a:t>
            </a:r>
          </a:p>
          <a:p>
            <a:pPr lvl="1"/>
            <a:r>
              <a:rPr lang="pt-BR" dirty="0"/>
              <a:t>objetivos abertos</a:t>
            </a:r>
          </a:p>
          <a:p>
            <a:r>
              <a:rPr lang="pt-BR" b="1" dirty="0"/>
              <a:t>Exemplos</a:t>
            </a:r>
          </a:p>
          <a:p>
            <a:pPr lvl="1"/>
            <a:r>
              <a:rPr lang="pt-BR" dirty="0"/>
              <a:t>Bem definido: jogo da velha</a:t>
            </a:r>
          </a:p>
          <a:p>
            <a:pPr lvl="1"/>
            <a:r>
              <a:rPr lang="pt-BR" dirty="0"/>
              <a:t>Mal definido: escolher a melhor estratégia de marketing</a:t>
            </a:r>
          </a:p>
        </p:txBody>
      </p:sp>
      <p:pic>
        <p:nvPicPr>
          <p:cNvPr id="5122" name="Picture 2" descr="Burj Khalifa – Wikipédia, a enciclopédia livre">
            <a:extLst>
              <a:ext uri="{FF2B5EF4-FFF2-40B4-BE49-F238E27FC236}">
                <a16:creationId xmlns:a16="http://schemas.microsoft.com/office/drawing/2014/main" id="{4820E5D7-7F6A-96AF-B448-39F944FF0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8866" y="1253331"/>
            <a:ext cx="246770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Fotos: Design boom">
            <a:extLst>
              <a:ext uri="{FF2B5EF4-FFF2-40B4-BE49-F238E27FC236}">
                <a16:creationId xmlns:a16="http://schemas.microsoft.com/office/drawing/2014/main" id="{7D1D115F-454E-2D1D-A73A-19E0EE974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511" y="1945340"/>
            <a:ext cx="4264639" cy="2985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193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D83920-2593-4388-8857-B173807C7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Passos para resolver problemas em 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AD5B42-BA4E-BEB3-3764-065FBF5DF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Definir o problema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Representar o ambiente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Escolher método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Executar busca/resolução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Avaliar resultado</a:t>
            </a:r>
          </a:p>
        </p:txBody>
      </p:sp>
    </p:spTree>
    <p:extLst>
      <p:ext uri="{BB962C8B-B14F-4D97-AF65-F5344CB8AC3E}">
        <p14:creationId xmlns:p14="http://schemas.microsoft.com/office/powerpoint/2010/main" val="9794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496EE-7A3B-E6F5-9412-3DF2ECFD3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Critérios de qualidade da solução;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32C376-D17B-F00F-2A54-30DCF3807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Nem toda solução é igualmente boa.</a:t>
            </a:r>
          </a:p>
          <a:p>
            <a:pPr lvl="1"/>
            <a:r>
              <a:rPr lang="pt-BR" dirty="0"/>
              <a:t>Correta</a:t>
            </a:r>
          </a:p>
          <a:p>
            <a:pPr lvl="1"/>
            <a:r>
              <a:rPr lang="pt-BR" dirty="0"/>
              <a:t>Completa</a:t>
            </a:r>
          </a:p>
          <a:p>
            <a:pPr lvl="1"/>
            <a:r>
              <a:rPr lang="pt-BR" dirty="0"/>
              <a:t>Rápida</a:t>
            </a:r>
          </a:p>
          <a:p>
            <a:pPr lvl="1"/>
            <a:r>
              <a:rPr lang="pt-BR" dirty="0"/>
              <a:t>Econômica</a:t>
            </a:r>
          </a:p>
          <a:p>
            <a:pPr lvl="1"/>
            <a:r>
              <a:rPr lang="pt-BR" dirty="0"/>
              <a:t>Escalável</a:t>
            </a:r>
          </a:p>
          <a:p>
            <a:pPr lvl="1"/>
            <a:r>
              <a:rPr lang="pt-BR" dirty="0"/>
              <a:t>Fácil de manter</a:t>
            </a:r>
          </a:p>
        </p:txBody>
      </p:sp>
    </p:spTree>
    <p:extLst>
      <p:ext uri="{BB962C8B-B14F-4D97-AF65-F5344CB8AC3E}">
        <p14:creationId xmlns:p14="http://schemas.microsoft.com/office/powerpoint/2010/main" val="2813757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51472-E0B7-DDE5-F2AB-0B3DE1B4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Cega x Busca Informada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3FC242-4FB8-C89D-D4EA-4B674DB92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Busca cega</a:t>
            </a:r>
            <a:endParaRPr lang="pt-BR" dirty="0"/>
          </a:p>
          <a:p>
            <a:pPr lvl="1"/>
            <a:r>
              <a:rPr lang="pt-BR" dirty="0"/>
              <a:t>não usa conhecimento extra</a:t>
            </a:r>
          </a:p>
          <a:p>
            <a:pPr lvl="1"/>
            <a:r>
              <a:rPr lang="pt-BR" dirty="0"/>
              <a:t>explora possibilidades de forma geral</a:t>
            </a:r>
          </a:p>
          <a:p>
            <a:r>
              <a:rPr lang="pt-BR" b="1" dirty="0"/>
              <a:t>Busca informada</a:t>
            </a:r>
            <a:endParaRPr lang="pt-BR" dirty="0"/>
          </a:p>
          <a:p>
            <a:pPr lvl="1"/>
            <a:r>
              <a:rPr lang="pt-BR" dirty="0"/>
              <a:t>usa pistas/conhecimento</a:t>
            </a:r>
          </a:p>
          <a:p>
            <a:pPr lvl="1"/>
            <a:r>
              <a:rPr lang="pt-BR" dirty="0"/>
              <a:t>prioriza caminhos mais promissores</a:t>
            </a:r>
          </a:p>
          <a:p>
            <a:endParaRPr lang="pt-BR" dirty="0"/>
          </a:p>
        </p:txBody>
      </p:sp>
      <p:pic>
        <p:nvPicPr>
          <p:cNvPr id="6146" name="Picture 2" descr="13,031 Fotos de Stock de Fita Sobre Os Olhos - Fotos de Stock Gratuitas e  Sem Fidelização a partir da Dreamstime">
            <a:extLst>
              <a:ext uri="{FF2B5EF4-FFF2-40B4-BE49-F238E27FC236}">
                <a16:creationId xmlns:a16="http://schemas.microsoft.com/office/drawing/2014/main" id="{6444030D-0F82-E745-9137-EAF97604D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69829" y="1418945"/>
            <a:ext cx="2518241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Fofoca e Curiosidade: A Arte de Estar Bem Informado | TikTok">
            <a:extLst>
              <a:ext uri="{FF2B5EF4-FFF2-40B4-BE49-F238E27FC236}">
                <a16:creationId xmlns:a16="http://schemas.microsoft.com/office/drawing/2014/main" id="{3BC4DF61-A38F-C834-BA66-DCAFC5B28F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5" b="16637"/>
          <a:stretch>
            <a:fillRect/>
          </a:stretch>
        </p:blipFill>
        <p:spPr bwMode="auto">
          <a:xfrm>
            <a:off x="7533013" y="3550023"/>
            <a:ext cx="3036109" cy="243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605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5BA5F-8751-7168-3F60-B53FB1E2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Onde esses métodos aparecem?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BBA939-E4A3-B53B-4ADC-2AA4039D7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GPS e apps de rota</a:t>
            </a:r>
          </a:p>
          <a:p>
            <a:r>
              <a:rPr lang="pt-BR" dirty="0"/>
              <a:t>Jogos digitais</a:t>
            </a:r>
          </a:p>
          <a:p>
            <a:r>
              <a:rPr lang="pt-BR" dirty="0"/>
              <a:t>Robótica</a:t>
            </a:r>
          </a:p>
          <a:p>
            <a:r>
              <a:rPr lang="pt-BR" dirty="0"/>
              <a:t>Planejamento de tarefas</a:t>
            </a:r>
          </a:p>
          <a:p>
            <a:r>
              <a:rPr lang="pt-BR" dirty="0"/>
              <a:t>Diagnóstico médico assistido</a:t>
            </a:r>
          </a:p>
          <a:p>
            <a:r>
              <a:rPr lang="pt-BR" dirty="0"/>
              <a:t>Sistemas inteligentes em empresa</a:t>
            </a:r>
          </a:p>
        </p:txBody>
      </p:sp>
      <p:pic>
        <p:nvPicPr>
          <p:cNvPr id="7170" name="Picture 2" descr="Mão Robótica PNG , Clipart De Robô, Vetor De Mão, Desenho Animado Imagem  PNG e Vetor Para Download Gratuito">
            <a:extLst>
              <a:ext uri="{FF2B5EF4-FFF2-40B4-BE49-F238E27FC236}">
                <a16:creationId xmlns:a16="http://schemas.microsoft.com/office/drawing/2014/main" id="{EA3957EE-A312-2902-3539-9041DEA6E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981" y="1690688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Gps desenho Imagens – Download Grátis no Freepik">
            <a:extLst>
              <a:ext uri="{FF2B5EF4-FFF2-40B4-BE49-F238E27FC236}">
                <a16:creationId xmlns:a16="http://schemas.microsoft.com/office/drawing/2014/main" id="{3780BB54-15BD-64E1-AE1F-1D0863C6F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4615" y="858931"/>
            <a:ext cx="195262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Media 6">
            <a:extLst>
              <a:ext uri="{FF2B5EF4-FFF2-40B4-BE49-F238E27FC236}">
                <a16:creationId xmlns:a16="http://schemas.microsoft.com/office/drawing/2014/main" id="{ECE60950-F3F1-1D1C-C9D2-FF586E03A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872" y="4275280"/>
            <a:ext cx="3536109" cy="2173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471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B42C7-EB1B-DD14-4FC8-D1EA6A8B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aplicação no 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1B541F-FE2D-40B1-DCBE-1753AD76F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Sistema de suporte técnico</a:t>
            </a:r>
          </a:p>
          <a:p>
            <a:r>
              <a:rPr lang="pt-BR" b="1" dirty="0"/>
              <a:t>Estado inicial</a:t>
            </a:r>
            <a:r>
              <a:rPr lang="pt-BR" dirty="0"/>
              <a:t>: chamado aberto</a:t>
            </a:r>
          </a:p>
          <a:p>
            <a:r>
              <a:rPr lang="pt-BR" b="1" dirty="0"/>
              <a:t>Estados intermediários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classificado</a:t>
            </a:r>
          </a:p>
          <a:p>
            <a:pPr lvl="1"/>
            <a:r>
              <a:rPr lang="pt-BR" dirty="0"/>
              <a:t>priorizado</a:t>
            </a:r>
          </a:p>
          <a:p>
            <a:pPr lvl="1"/>
            <a:r>
              <a:rPr lang="pt-BR" dirty="0"/>
              <a:t>encaminhado</a:t>
            </a:r>
          </a:p>
          <a:p>
            <a:r>
              <a:rPr lang="pt-BR" b="1" dirty="0"/>
              <a:t>Objetivo</a:t>
            </a:r>
            <a:r>
              <a:rPr lang="pt-BR" dirty="0"/>
              <a:t>: chamado resolvido</a:t>
            </a:r>
          </a:p>
          <a:p>
            <a:r>
              <a:rPr lang="pt-BR" dirty="0">
                <a:solidFill>
                  <a:srgbClr val="FF0000"/>
                </a:solidFill>
              </a:rPr>
              <a:t>Problema pode ser modelado e automatizado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9565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FE350-123C-2B4D-4A59-09F31F46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chegar a um número-alvo.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1F21F3-7BC3-117A-137F-2859B8E2A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Estado inicial: </a:t>
            </a:r>
            <a:r>
              <a:rPr lang="pt-BR" dirty="0"/>
              <a:t>número 2</a:t>
            </a:r>
          </a:p>
          <a:p>
            <a:r>
              <a:rPr lang="pt-BR" b="1" dirty="0"/>
              <a:t>Objetivo</a:t>
            </a:r>
            <a:r>
              <a:rPr lang="pt-BR" dirty="0"/>
              <a:t>: chegar ao número 9</a:t>
            </a:r>
          </a:p>
          <a:p>
            <a:r>
              <a:rPr lang="pt-BR" b="1" dirty="0"/>
              <a:t>Ações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somar 1multiplicar por 2</a:t>
            </a:r>
          </a:p>
          <a:p>
            <a:r>
              <a:rPr lang="pt-BR" b="1" dirty="0"/>
              <a:t>Pergunta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qual sequência resolve mais rápido?</a:t>
            </a:r>
          </a:p>
        </p:txBody>
      </p:sp>
    </p:spTree>
    <p:extLst>
      <p:ext uri="{BB962C8B-B14F-4D97-AF65-F5344CB8AC3E}">
        <p14:creationId xmlns:p14="http://schemas.microsoft.com/office/powerpoint/2010/main" val="282028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9CDEC-4FDA-E68D-EB69-CDE2E2E31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Problema: Atravessar um labirinto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A1FE2C-5FD6-28B1-68DB-338A50B53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Posição inicial do personagem</a:t>
            </a:r>
          </a:p>
          <a:p>
            <a:r>
              <a:rPr lang="pt-BR" dirty="0"/>
              <a:t>Casas livres e bloqueadas</a:t>
            </a:r>
          </a:p>
          <a:p>
            <a:r>
              <a:rPr lang="pt-BR" dirty="0"/>
              <a:t>Objetivo: chegar à saída</a:t>
            </a:r>
          </a:p>
          <a:p>
            <a:r>
              <a:rPr lang="pt-BR" dirty="0"/>
              <a:t>A IA precisa:</a:t>
            </a:r>
          </a:p>
          <a:p>
            <a:pPr lvl="1"/>
            <a:r>
              <a:rPr lang="pt-BR" dirty="0"/>
              <a:t>Explorar possibilidades</a:t>
            </a:r>
          </a:p>
          <a:p>
            <a:pPr lvl="1"/>
            <a:r>
              <a:rPr lang="pt-BR" dirty="0"/>
              <a:t>Evitar repetições</a:t>
            </a:r>
          </a:p>
          <a:p>
            <a:pPr lvl="1"/>
            <a:r>
              <a:rPr lang="pt-BR" dirty="0"/>
              <a:t>Escolher caminhos</a:t>
            </a:r>
          </a:p>
        </p:txBody>
      </p:sp>
    </p:spTree>
    <p:extLst>
      <p:ext uri="{BB962C8B-B14F-4D97-AF65-F5344CB8AC3E}">
        <p14:creationId xmlns:p14="http://schemas.microsoft.com/office/powerpoint/2010/main" val="77770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65FAF-5105-441C-E437-37915EF8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solidFill>
                  <a:srgbClr val="FF0000"/>
                </a:solidFill>
              </a:rPr>
              <a:t>DESAFIO PARA OS VETERANOS DOS MEUS DESAFIOS, QUE SERÃO DESAFIADOS NESSE DESAFIO.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8C6FC8-9773-310E-6162-ED2B5820C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Desenvolver uma solução simples para um rato que quer tomar banho e lavar o pé em uma grade 2D.</a:t>
            </a:r>
          </a:p>
          <a:p>
            <a:r>
              <a:rPr lang="pt-BR" dirty="0"/>
              <a:t>O robô começa em uma posição</a:t>
            </a:r>
          </a:p>
          <a:p>
            <a:r>
              <a:rPr lang="pt-BR" dirty="0"/>
              <a:t>Deve chegar ao destino</a:t>
            </a:r>
          </a:p>
          <a:p>
            <a:r>
              <a:rPr lang="pt-BR" dirty="0"/>
              <a:t>Há obstáculos no caminho</a:t>
            </a:r>
          </a:p>
          <a:p>
            <a:r>
              <a:rPr lang="pt-BR" dirty="0"/>
              <a:t>O sistema deve encontrar uma rota possível</a:t>
            </a:r>
          </a:p>
          <a:p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4C07249-D536-4F32-CB36-161E31FBE7B3}"/>
              </a:ext>
            </a:extLst>
          </p:cNvPr>
          <p:cNvGrpSpPr/>
          <p:nvPr/>
        </p:nvGrpSpPr>
        <p:grpSpPr>
          <a:xfrm>
            <a:off x="8218287" y="4269105"/>
            <a:ext cx="3393518" cy="2042795"/>
            <a:chOff x="983410" y="3832474"/>
            <a:chExt cx="4382861" cy="2660401"/>
          </a:xfrm>
        </p:grpSpPr>
        <p:pic>
          <p:nvPicPr>
            <p:cNvPr id="5" name="Picture 2" descr="modelo de labirinto quadrado de vetor. jogo de labirinto ...">
              <a:extLst>
                <a:ext uri="{FF2B5EF4-FFF2-40B4-BE49-F238E27FC236}">
                  <a16:creationId xmlns:a16="http://schemas.microsoft.com/office/drawing/2014/main" id="{639F4B46-D773-66AF-5BD1-9D1B1DEA6D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2198291" y="4065462"/>
              <a:ext cx="2144041" cy="21440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6" descr="Boneco e personagem fandombox ratinho ra-tim-bum - lider (unidade) -  Papelaria Toledo">
              <a:extLst>
                <a:ext uri="{FF2B5EF4-FFF2-40B4-BE49-F238E27FC236}">
                  <a16:creationId xmlns:a16="http://schemas.microsoft.com/office/drawing/2014/main" id="{AF41FDBF-39C4-2E4D-B7B7-75F974DD53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410" y="5421312"/>
              <a:ext cx="1071563" cy="1071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Ratinho Na Banheira Castelo Rá-tim-bum Colecionável | Parcelamento sem juros">
              <a:extLst>
                <a:ext uri="{FF2B5EF4-FFF2-40B4-BE49-F238E27FC236}">
                  <a16:creationId xmlns:a16="http://schemas.microsoft.com/office/drawing/2014/main" id="{CEDB8223-31B2-88B2-90A9-F5070489F9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333" y="3832474"/>
              <a:ext cx="1023938" cy="11191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5C1FB7C-3452-F344-3A4A-828493BFB68A}"/>
                </a:ext>
              </a:extLst>
            </p:cNvPr>
            <p:cNvCxnSpPr/>
            <p:nvPr/>
          </p:nvCxnSpPr>
          <p:spPr>
            <a:xfrm>
              <a:off x="2198291" y="5957093"/>
              <a:ext cx="7710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A3520BFF-8299-F8C5-3178-F3B3522104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9342" y="5137482"/>
              <a:ext cx="0" cy="8196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89185AE4-8B1E-2EA4-8152-200A5A891022}"/>
                </a:ext>
              </a:extLst>
            </p:cNvPr>
            <p:cNvCxnSpPr>
              <a:cxnSpLocks/>
            </p:cNvCxnSpPr>
            <p:nvPr/>
          </p:nvCxnSpPr>
          <p:spPr>
            <a:xfrm>
              <a:off x="3595773" y="4353449"/>
              <a:ext cx="5927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C48EFE00-145D-07C4-D649-8BFFC64911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773" y="4658249"/>
              <a:ext cx="4129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AD04A56C-3241-7F69-35F1-89F60D4557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5773" y="4392068"/>
              <a:ext cx="0" cy="1504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1B21633A-E87D-8891-1AF7-BF27395393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8728" y="4658249"/>
              <a:ext cx="16831" cy="14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855220CA-6D10-958F-E485-2A94813550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2604" y="4865535"/>
              <a:ext cx="0" cy="2719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EA9DBBA1-30CC-DAA0-AD5D-86F2C5720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9597" y="5166979"/>
              <a:ext cx="0" cy="14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322AF796-1C79-88B8-5376-1BF27107BA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6642" y="5115576"/>
              <a:ext cx="4129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E05FD05C-C7CA-5F1A-6893-C094D2295699}"/>
                </a:ext>
              </a:extLst>
            </p:cNvPr>
            <p:cNvCxnSpPr>
              <a:cxnSpLocks/>
            </p:cNvCxnSpPr>
            <p:nvPr/>
          </p:nvCxnSpPr>
          <p:spPr>
            <a:xfrm>
              <a:off x="3545776" y="4807974"/>
              <a:ext cx="3463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F8FA27EC-E164-79AE-4EFE-EECBDE4EEDCD}"/>
                </a:ext>
              </a:extLst>
            </p:cNvPr>
            <p:cNvCxnSpPr>
              <a:cxnSpLocks/>
            </p:cNvCxnSpPr>
            <p:nvPr/>
          </p:nvCxnSpPr>
          <p:spPr>
            <a:xfrm>
              <a:off x="3455288" y="5304630"/>
              <a:ext cx="5927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D6B5E7E8-1DAB-DC88-9E2E-67E9A2A8F3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9957" y="5351053"/>
              <a:ext cx="0" cy="2719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>
              <a:extLst>
                <a:ext uri="{FF2B5EF4-FFF2-40B4-BE49-F238E27FC236}">
                  <a16:creationId xmlns:a16="http://schemas.microsoft.com/office/drawing/2014/main" id="{4439FC7C-6DF7-4FD2-2060-3E67314112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5194" y="5615970"/>
              <a:ext cx="4129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981337F0-4C5A-76BF-5F36-1586458A7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2157" y="5685146"/>
              <a:ext cx="0" cy="2719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F17BD9BC-412B-AA98-0130-6A15277DF57D}"/>
                </a:ext>
              </a:extLst>
            </p:cNvPr>
            <p:cNvCxnSpPr/>
            <p:nvPr/>
          </p:nvCxnSpPr>
          <p:spPr>
            <a:xfrm>
              <a:off x="3101733" y="5955838"/>
              <a:ext cx="7710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7835E472-75AC-C3D3-3292-065675B831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8064" y="4658249"/>
              <a:ext cx="0" cy="4573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3C8BF45A-F213-DD0B-B3FA-966B59E27D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8064" y="5115576"/>
              <a:ext cx="4129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59F67621-C753-EF1C-635A-2CD1428A264C}"/>
                </a:ext>
              </a:extLst>
            </p:cNvPr>
            <p:cNvCxnSpPr>
              <a:cxnSpLocks/>
            </p:cNvCxnSpPr>
            <p:nvPr/>
          </p:nvCxnSpPr>
          <p:spPr>
            <a:xfrm>
              <a:off x="2583816" y="4636343"/>
              <a:ext cx="3855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>
              <a:extLst>
                <a:ext uri="{FF2B5EF4-FFF2-40B4-BE49-F238E27FC236}">
                  <a16:creationId xmlns:a16="http://schemas.microsoft.com/office/drawing/2014/main" id="{96210D47-9B8D-1E7E-55C0-E42BA54FB06B}"/>
                </a:ext>
              </a:extLst>
            </p:cNvPr>
            <p:cNvCxnSpPr>
              <a:cxnSpLocks/>
            </p:cNvCxnSpPr>
            <p:nvPr/>
          </p:nvCxnSpPr>
          <p:spPr>
            <a:xfrm>
              <a:off x="2969342" y="4309637"/>
              <a:ext cx="3855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5B7C0E77-6D4B-C110-645C-7DF7EAB63D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9342" y="4358659"/>
              <a:ext cx="9159" cy="220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DDEC5B93-02A9-A615-2EEE-E3AA9A411966}"/>
                </a:ext>
              </a:extLst>
            </p:cNvPr>
            <p:cNvCxnSpPr>
              <a:cxnSpLocks/>
            </p:cNvCxnSpPr>
            <p:nvPr/>
          </p:nvCxnSpPr>
          <p:spPr>
            <a:xfrm>
              <a:off x="3271644" y="4387957"/>
              <a:ext cx="0" cy="74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F56B478D-096A-5956-96DB-C7F8C1444E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7904" y="5137482"/>
              <a:ext cx="2064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id="{499EF3E7-F45C-D1D4-CBC5-A3877CE02F00}"/>
                </a:ext>
              </a:extLst>
            </p:cNvPr>
            <p:cNvCxnSpPr>
              <a:cxnSpLocks/>
            </p:cNvCxnSpPr>
            <p:nvPr/>
          </p:nvCxnSpPr>
          <p:spPr>
            <a:xfrm>
              <a:off x="3082948" y="5137482"/>
              <a:ext cx="0" cy="74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5926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179E2-3F6E-0818-937D-F3CB0D13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LABIRINTO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9E309B-109A-1576-F5D2-F5C793445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Picture 2" descr="modelo de labirinto quadrado de vetor. jogo de labirinto ...">
            <a:extLst>
              <a:ext uri="{FF2B5EF4-FFF2-40B4-BE49-F238E27FC236}">
                <a16:creationId xmlns:a16="http://schemas.microsoft.com/office/drawing/2014/main" id="{14D1851E-B4D0-F1EA-1ED9-37DAF34DB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693028" y="1401655"/>
            <a:ext cx="5156183" cy="519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Boneco e personagem fandombox ratinho ra-tim-bum - lider (unidade) -  Papelaria Toledo">
            <a:extLst>
              <a:ext uri="{FF2B5EF4-FFF2-40B4-BE49-F238E27FC236}">
                <a16:creationId xmlns:a16="http://schemas.microsoft.com/office/drawing/2014/main" id="{E5203C87-97E1-EBC3-2BCB-A39E87114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57" y="4002395"/>
            <a:ext cx="2598530" cy="257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Ratinho Na Banheira Castelo Rá-tim-bum Colecionável | Parcelamento sem juros">
            <a:extLst>
              <a:ext uri="{FF2B5EF4-FFF2-40B4-BE49-F238E27FC236}">
                <a16:creationId xmlns:a16="http://schemas.microsoft.com/office/drawing/2014/main" id="{30D64422-0624-2001-CA4C-CC55D6A72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4412" y="1042660"/>
            <a:ext cx="2483040" cy="2691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23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23FD4-132F-D32A-FABB-0FEAD291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2C03E3-9971-94EB-4BE1-C01B85903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adaptar para :</a:t>
            </a:r>
          </a:p>
          <a:p>
            <a:pPr lvl="1"/>
            <a:r>
              <a:rPr lang="pt-BR" dirty="0"/>
              <a:t>Drones</a:t>
            </a:r>
          </a:p>
          <a:p>
            <a:pPr lvl="1"/>
            <a:r>
              <a:rPr lang="pt-BR" dirty="0"/>
              <a:t>Robôs de estoque</a:t>
            </a:r>
          </a:p>
          <a:p>
            <a:pPr lvl="1"/>
            <a:r>
              <a:rPr lang="pt-BR" dirty="0"/>
              <a:t>Games</a:t>
            </a:r>
          </a:p>
        </p:txBody>
      </p:sp>
    </p:spTree>
    <p:extLst>
      <p:ext uri="{BB962C8B-B14F-4D97-AF65-F5344CB8AC3E}">
        <p14:creationId xmlns:p14="http://schemas.microsoft.com/office/powerpoint/2010/main" val="1929480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7D848-4DFB-8F03-11BC-92B08AEE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D478E0-F923-74F9-930D-B5BAE2350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O que muda quando o ambiente é maior?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 quando existem muitos obstáculos?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O que caracteriza um problema bem definido em IA?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Qual a função do espaço de estados na resolução de problemas?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Explique a diferença entre decomposição e tentativa e erro.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Por que o controle de estados visitados é importante?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Cite uma aplicação real de resolução de problemas em IA no mercado brasileiro.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5457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 descr="Qual é o filme da 'Sessão da tarde' de hoje? Confira a sinopse de 'MIB -  Homens de preto'">
            <a:extLst>
              <a:ext uri="{FF2B5EF4-FFF2-40B4-BE49-F238E27FC236}">
                <a16:creationId xmlns:a16="http://schemas.microsoft.com/office/drawing/2014/main" id="{047F52A1-9093-273F-A4F1-081EF10B8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381" y="0"/>
            <a:ext cx="107217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A6DF5E4-A37E-9E05-F416-BC38E0438AED}"/>
              </a:ext>
            </a:extLst>
          </p:cNvPr>
          <p:cNvSpPr/>
          <p:nvPr/>
        </p:nvSpPr>
        <p:spPr>
          <a:xfrm>
            <a:off x="1004047" y="4262718"/>
            <a:ext cx="7162801" cy="2595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800" b="1" dirty="0">
                <a:solidFill>
                  <a:srgbClr val="F2A516"/>
                </a:solidFill>
                <a:latin typeface="Edwardian Script ITC" panose="030303020407070D0804" pitchFamily="66" charset="0"/>
                <a:ea typeface="ADLaM Display" panose="020F0502020204030204" pitchFamily="2" charset="0"/>
                <a:cs typeface="ADLaM Display" panose="020F0502020204030204" pitchFamily="2" charset="0"/>
              </a:rPr>
              <a:t>Fim da aula.</a:t>
            </a:r>
          </a:p>
          <a:p>
            <a:pPr algn="ctr"/>
            <a:r>
              <a:rPr lang="pt-BR" sz="8800" b="1" dirty="0">
                <a:solidFill>
                  <a:srgbClr val="F2A516"/>
                </a:solidFill>
                <a:latin typeface="Edwardian Script ITC" panose="030303020407070D0804" pitchFamily="66" charset="0"/>
                <a:ea typeface="ADLaM Display" panose="020F0502020204030204" pitchFamily="2" charset="0"/>
                <a:cs typeface="ADLaM Display" panose="020F0502020204030204" pitchFamily="2" charset="0"/>
              </a:rPr>
              <a:t>Até semana que vem!</a:t>
            </a:r>
            <a:endParaRPr lang="pt-B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97799DE-3AA9-F725-8297-44467FB669EC}"/>
              </a:ext>
            </a:extLst>
          </p:cNvPr>
          <p:cNvSpPr/>
          <p:nvPr/>
        </p:nvSpPr>
        <p:spPr>
          <a:xfrm>
            <a:off x="6248843" y="2127391"/>
            <a:ext cx="299432" cy="2557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BD52CF1-8701-5709-702D-1756FF1F63BD}"/>
              </a:ext>
            </a:extLst>
          </p:cNvPr>
          <p:cNvSpPr/>
          <p:nvPr/>
        </p:nvSpPr>
        <p:spPr>
          <a:xfrm>
            <a:off x="6329082" y="2178424"/>
            <a:ext cx="138954" cy="15370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800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_Aems_2026_v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_Aems_2026_v1" id="{31D861D1-C375-4C3D-9E26-2064B5AFDB1D}" vid="{B7592932-0B5C-45F7-B648-5DAF9370664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Tema_Aems_2026_v1</Template>
  <TotalTime>86</TotalTime>
  <Words>821</Words>
  <Application>Microsoft Office PowerPoint</Application>
  <PresentationFormat>Widescreen</PresentationFormat>
  <Paragraphs>207</Paragraphs>
  <Slides>27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1" baseType="lpstr">
      <vt:lpstr>Aptos</vt:lpstr>
      <vt:lpstr>Arial</vt:lpstr>
      <vt:lpstr>Edwardian Script ITC</vt:lpstr>
      <vt:lpstr>Tema_Aems_2026_v1</vt:lpstr>
      <vt:lpstr>Disciplina: Inteligência Artificial</vt:lpstr>
      <vt:lpstr>O que significa resolver problemas em IA?</vt:lpstr>
      <vt:lpstr>Situação prática</vt:lpstr>
      <vt:lpstr>O que é um problema em IA?</vt:lpstr>
      <vt:lpstr>Elementos da resolução de problemas</vt:lpstr>
      <vt:lpstr>Exemplo simples: Ir de Andradina até São José do Rio Preto.</vt:lpstr>
      <vt:lpstr>Espaço de estados.</vt:lpstr>
      <vt:lpstr>Formulação do problema</vt:lpstr>
      <vt:lpstr>Métodos de resolução de problemas</vt:lpstr>
      <vt:lpstr>Método 1: Tentativa e erro</vt:lpstr>
      <vt:lpstr>Método 2: Decomposição do problema</vt:lpstr>
      <vt:lpstr>Método 3: Redução a subproblemas</vt:lpstr>
      <vt:lpstr>Método 4: Busca em espaço de estados</vt:lpstr>
      <vt:lpstr>Comparação entre métodos</vt:lpstr>
      <vt:lpstr>Problemas Bem definidos x Mal definidos</vt:lpstr>
      <vt:lpstr>Passos para resolver problemas em IA</vt:lpstr>
      <vt:lpstr>Critérios de qualidade da solução;</vt:lpstr>
      <vt:lpstr>Busca Cega x Busca Informada</vt:lpstr>
      <vt:lpstr>Onde esses métodos aparecem?</vt:lpstr>
      <vt:lpstr>Exemplo de aplicação no desenvolvimento</vt:lpstr>
      <vt:lpstr>Exemplo: chegar a um número-alvo.</vt:lpstr>
      <vt:lpstr>Problema: Atravessar um labirinto</vt:lpstr>
      <vt:lpstr>DESAFIO PARA OS VETERANOS DOS MEUS DESAFIOS, QUE SERÃO DESAFIADOS NESSE DESAFIO.</vt:lpstr>
      <vt:lpstr>LABIRINTO</vt:lpstr>
      <vt:lpstr>Pergunta</vt:lpstr>
      <vt:lpstr>Perguntas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Vieira do Espirito Santo</dc:creator>
  <cp:lastModifiedBy>Richard Vieira do Espirito Santo</cp:lastModifiedBy>
  <cp:revision>8</cp:revision>
  <dcterms:created xsi:type="dcterms:W3CDTF">2026-03-09T03:25:46Z</dcterms:created>
  <dcterms:modified xsi:type="dcterms:W3CDTF">2026-03-09T18:44:33Z</dcterms:modified>
</cp:coreProperties>
</file>