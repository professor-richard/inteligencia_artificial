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9" r:id="rId4"/>
    <p:sldId id="280" r:id="rId5"/>
    <p:sldId id="281" r:id="rId6"/>
    <p:sldId id="282" r:id="rId7"/>
    <p:sldId id="283" r:id="rId8"/>
    <p:sldId id="270" r:id="rId9"/>
    <p:sldId id="272" r:id="rId10"/>
    <p:sldId id="27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84BBB-0AEA-105D-5F87-52B2FC1ED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453965-2FB7-E6C1-2D48-C1EF35957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9B0BE4-0B3E-30BE-D41C-62AEAD97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09BFDA-415E-5F6B-F87B-0F7FE9393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4493DA-AB46-D8FB-2185-A49008D8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700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30393-E547-B402-03CC-977C713C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0C602-D520-EDC4-187E-103F6250C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944A02-B00A-409C-0ABE-4C69A0CEA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5294A3-DBD2-373A-96BA-A6B1C2A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5BC20E-BDE8-6472-1B3C-016524FFF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80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D5BAED-F86F-0AC7-647B-B8A925DF9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C3476-CD80-4260-A4C2-2CDFA2486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7C15D3-799E-BBB0-85BA-584502B9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44EF58-7AC8-27CC-5B9B-EED41826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CCF4E0-A0A1-08F0-A73C-ED4919D8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50"/>
                </a:solidFill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31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1E92E-A5BC-3F60-E557-825A4E8B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FC1AA8-FB7E-039A-24C9-71933BE39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DC13D-ACF4-6279-0D25-F68EA3F21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A62DA2-9535-D227-515B-1933B4B2A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76CAFA-D0FB-A2B8-C97A-B5DB7B47A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B6B634-E234-0270-994E-2864DA39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10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71544-7593-F36C-2C36-80B84B2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D72AF6-0728-2D6D-BC4E-B25FAFF8B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6E110DB-6D43-82EB-25DC-408B09D8E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EB588C-6277-79CF-6343-0F585A2EA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08D674-5AFF-D280-6D48-E4C2C03297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38353D-4395-51BF-CDCA-A35D7B2E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BBD0EDD-60AD-FA3C-F280-01AD946E8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31E9E0-B60E-A76D-82FF-B23C21AE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37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D4A328-27BA-6C20-2FB6-98760D5F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4DA9652-A327-6D9E-CC07-C8A1023A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F18115-5EF4-574B-D44D-27550650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7486F2C-FC0F-0478-8E5F-0F85241C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134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6C3CC4-9550-C1FA-5318-A6D53D36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6C7134-7863-79A8-B1E5-08D59D16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85BF5D-51E3-7925-A994-498EF63F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137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34C60-48F7-DCD4-ABEF-6CBCECEA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3E1DA-09C8-60BB-8F89-F2BA8226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4122BE-EE75-4F1D-5A91-54AB05B85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CEB627-3A8E-D68B-28DA-6A4A9820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6BCA7-BF39-4B03-3B17-C8549873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FBFB53-36B2-B3BC-0577-DA7D2731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30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3B6C0-5830-21EF-B785-2AD6C6D7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2380AF-2FC0-47F1-4FAA-2E1EFAF1E9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DEE9A2-9D8F-309B-B2CB-CBF15552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6F3A24-39BC-1118-1FF6-1792998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24CBDC-807B-6B9B-B9BD-7A5690E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CAB5BE-1395-3BF1-FF58-028235DF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11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D97B7-A87C-36DD-B679-99B72EA22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928B2A-290D-B5B2-E50B-4F4C9FAF6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7D33C-1337-5311-833E-2D7643CF5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A5F3B-4FB2-BE00-DF94-87A44049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37468-1245-F38C-437C-6033D878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07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93BD76-06E7-209F-0376-2E47F78A68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C96CE7-9026-FDC0-0242-9AF0C3FC3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BDCA1-0E3E-BB76-A5F0-729B48798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E6FF04-149E-14D1-915C-EFF7EF09E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DEEC5E-B552-AE4E-C1D9-36C046EA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164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Texto&#10;&#10;Descrição gerada automaticamente com confiança baixa">
            <a:extLst>
              <a:ext uri="{FF2B5EF4-FFF2-40B4-BE49-F238E27FC236}">
                <a16:creationId xmlns:a16="http://schemas.microsoft.com/office/drawing/2014/main" id="{2BC3A1D1-431E-0470-24A9-941A1C326EAD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2" t="1853" r="64727" b="42836"/>
          <a:stretch/>
        </p:blipFill>
        <p:spPr>
          <a:xfrm>
            <a:off x="0" y="11262"/>
            <a:ext cx="1054100" cy="1051045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A564E83-31D4-9D45-4A19-04EFC823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10" y="365125"/>
            <a:ext cx="103703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FA1DFB-5681-4229-5B94-71B9E955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3410" y="1825625"/>
            <a:ext cx="103703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7EB250-651F-F2DA-477B-A568DED1B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490C3-E1FA-4D44-9757-BF1AB899E334}" type="datetimeFigureOut">
              <a:rPr lang="pt-BR" smtClean="0"/>
              <a:t>08/02/2026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E12ADF-D139-99D1-CE25-D18F6CF315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A8DBA7-56FD-416B-3A34-FAAB40E86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rgbClr val="000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4BA4026-8D5C-4A68-9480-32B12B3B83A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5334C9-A291-E2BC-B303-645466EEF4C7}"/>
              </a:ext>
            </a:extLst>
          </p:cNvPr>
          <p:cNvSpPr/>
          <p:nvPr/>
        </p:nvSpPr>
        <p:spPr>
          <a:xfrm>
            <a:off x="1262744" y="-435789"/>
            <a:ext cx="377372" cy="377372"/>
          </a:xfrm>
          <a:prstGeom prst="rect">
            <a:avLst/>
          </a:prstGeom>
          <a:solidFill>
            <a:srgbClr val="0367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A106479-385D-C6FD-2709-39137C20CE48}"/>
              </a:ext>
            </a:extLst>
          </p:cNvPr>
          <p:cNvSpPr/>
          <p:nvPr/>
        </p:nvSpPr>
        <p:spPr>
          <a:xfrm>
            <a:off x="841830" y="-435789"/>
            <a:ext cx="377372" cy="377372"/>
          </a:xfrm>
          <a:prstGeom prst="rect">
            <a:avLst/>
          </a:prstGeom>
          <a:solidFill>
            <a:srgbClr val="034C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EF7CBD-2BB8-036A-70B2-B2A220CB3F2A}"/>
              </a:ext>
            </a:extLst>
          </p:cNvPr>
          <p:cNvSpPr/>
          <p:nvPr/>
        </p:nvSpPr>
        <p:spPr>
          <a:xfrm>
            <a:off x="420916" y="-435789"/>
            <a:ext cx="377372" cy="377372"/>
          </a:xfrm>
          <a:prstGeom prst="rect">
            <a:avLst/>
          </a:prstGeom>
          <a:solidFill>
            <a:srgbClr val="033E8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3ED86F-1E57-DE2F-6EB3-89C0943F53BC}"/>
              </a:ext>
            </a:extLst>
          </p:cNvPr>
          <p:cNvSpPr/>
          <p:nvPr/>
        </p:nvSpPr>
        <p:spPr>
          <a:xfrm>
            <a:off x="2525486" y="-435789"/>
            <a:ext cx="377372" cy="377372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90E2CE5-0969-31F1-13AA-C76C7FD546AC}"/>
              </a:ext>
            </a:extLst>
          </p:cNvPr>
          <p:cNvSpPr/>
          <p:nvPr/>
        </p:nvSpPr>
        <p:spPr>
          <a:xfrm>
            <a:off x="2104572" y="-434315"/>
            <a:ext cx="377372" cy="377372"/>
          </a:xfrm>
          <a:prstGeom prst="rect">
            <a:avLst/>
          </a:prstGeom>
          <a:solidFill>
            <a:srgbClr val="F2A51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3D49E67-D59A-6D06-1B7C-A99F60761CAA}"/>
              </a:ext>
            </a:extLst>
          </p:cNvPr>
          <p:cNvSpPr/>
          <p:nvPr/>
        </p:nvSpPr>
        <p:spPr>
          <a:xfrm>
            <a:off x="1683658" y="-434315"/>
            <a:ext cx="377372" cy="377372"/>
          </a:xfrm>
          <a:prstGeom prst="rect">
            <a:avLst/>
          </a:prstGeom>
          <a:solidFill>
            <a:srgbClr val="F2BF2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27D67DA-8B35-427E-A6FD-8DBD101026FC}"/>
              </a:ext>
            </a:extLst>
          </p:cNvPr>
          <p:cNvSpPr/>
          <p:nvPr/>
        </p:nvSpPr>
        <p:spPr>
          <a:xfrm>
            <a:off x="0" y="-434315"/>
            <a:ext cx="377372" cy="377372"/>
          </a:xfrm>
          <a:prstGeom prst="rect">
            <a:avLst/>
          </a:prstGeom>
          <a:solidFill>
            <a:srgbClr val="000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FA423E13-8E08-0F8C-E482-6F9D05CB9F55}"/>
              </a:ext>
            </a:extLst>
          </p:cNvPr>
          <p:cNvGrpSpPr/>
          <p:nvPr/>
        </p:nvGrpSpPr>
        <p:grpSpPr>
          <a:xfrm>
            <a:off x="0" y="6642613"/>
            <a:ext cx="12192000" cy="215387"/>
            <a:chOff x="0" y="6464800"/>
            <a:chExt cx="12192000" cy="215387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E4B12E3-B991-7147-5AE5-B7D8DD728B2E}"/>
                </a:ext>
              </a:extLst>
            </p:cNvPr>
            <p:cNvSpPr/>
            <p:nvPr/>
          </p:nvSpPr>
          <p:spPr>
            <a:xfrm>
              <a:off x="0" y="6500466"/>
              <a:ext cx="12192000" cy="72000"/>
            </a:xfrm>
            <a:prstGeom prst="rect">
              <a:avLst/>
            </a:prstGeom>
            <a:solidFill>
              <a:srgbClr val="034C8C"/>
            </a:solidFill>
            <a:ln>
              <a:solidFill>
                <a:srgbClr val="034C8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F94ACB2C-0551-938A-97B9-A9F2C4D838B7}"/>
                </a:ext>
              </a:extLst>
            </p:cNvPr>
            <p:cNvSpPr/>
            <p:nvPr/>
          </p:nvSpPr>
          <p:spPr>
            <a:xfrm>
              <a:off x="0" y="6464800"/>
              <a:ext cx="12192000" cy="36000"/>
            </a:xfrm>
            <a:prstGeom prst="rect">
              <a:avLst/>
            </a:prstGeom>
            <a:solidFill>
              <a:srgbClr val="0367A6"/>
            </a:solidFill>
            <a:ln>
              <a:solidFill>
                <a:srgbClr val="0367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1BB72F72-6C9D-DED7-AE87-3D1500432B97}"/>
                </a:ext>
              </a:extLst>
            </p:cNvPr>
            <p:cNvSpPr/>
            <p:nvPr/>
          </p:nvSpPr>
          <p:spPr>
            <a:xfrm>
              <a:off x="0" y="6572466"/>
              <a:ext cx="12192000" cy="107721"/>
            </a:xfrm>
            <a:prstGeom prst="rect">
              <a:avLst/>
            </a:prstGeom>
            <a:solidFill>
              <a:srgbClr val="000050"/>
            </a:solidFill>
            <a:ln>
              <a:solidFill>
                <a:srgbClr val="000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ln>
                  <a:noFill/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12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005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042D-0A54-C479-B20E-5ABA436276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Disciplina:</a:t>
            </a:r>
            <a:br>
              <a:rPr lang="pt-BR" dirty="0"/>
            </a:br>
            <a:r>
              <a:rPr lang="pt-BR" dirty="0"/>
              <a:t>Inteligência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1E1A5-3FE0-37E1-E3F7-B7F98B79E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00: Boas-vindas e introdução ao curso.</a:t>
            </a:r>
          </a:p>
        </p:txBody>
      </p:sp>
    </p:spTree>
    <p:extLst>
      <p:ext uri="{BB962C8B-B14F-4D97-AF65-F5344CB8AC3E}">
        <p14:creationId xmlns:p14="http://schemas.microsoft.com/office/powerpoint/2010/main" val="13268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5A4908D-1F9F-3930-1C7F-E086ABAEDE97}"/>
              </a:ext>
            </a:extLst>
          </p:cNvPr>
          <p:cNvGrpSpPr/>
          <p:nvPr/>
        </p:nvGrpSpPr>
        <p:grpSpPr>
          <a:xfrm>
            <a:off x="1060871" y="3246120"/>
            <a:ext cx="10292930" cy="3154680"/>
            <a:chOff x="1060871" y="3246120"/>
            <a:chExt cx="10292930" cy="3154680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07B5FCCF-0F28-A279-EA65-2E60E7AEF222}"/>
                </a:ext>
              </a:extLst>
            </p:cNvPr>
            <p:cNvSpPr/>
            <p:nvPr/>
          </p:nvSpPr>
          <p:spPr>
            <a:xfrm>
              <a:off x="1060871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BF6631E4-EAFF-3515-B2B2-3D031D2FF267}"/>
                </a:ext>
              </a:extLst>
            </p:cNvPr>
            <p:cNvSpPr/>
            <p:nvPr/>
          </p:nvSpPr>
          <p:spPr>
            <a:xfrm>
              <a:off x="6246067" y="3246120"/>
              <a:ext cx="5107734" cy="315468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BD83500-4B18-9141-A7F2-30B268A8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Planejamento do Semestre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635894-991F-D157-D6FF-9286BB5D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142049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Disciplina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Inteligência Artificial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Carga horaria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80h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Ementa</a:t>
            </a:r>
            <a:r>
              <a:rPr lang="pt-BR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975B298-8512-8008-DF44-9E1CC263BC92}"/>
              </a:ext>
            </a:extLst>
          </p:cNvPr>
          <p:cNvSpPr txBox="1"/>
          <p:nvPr/>
        </p:nvSpPr>
        <p:spPr>
          <a:xfrm>
            <a:off x="6168604" y="3429000"/>
            <a:ext cx="4962525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D458903-ECEA-FD83-7D18-B1FAF98BF404}"/>
              </a:ext>
            </a:extLst>
          </p:cNvPr>
          <p:cNvSpPr txBox="1"/>
          <p:nvPr/>
        </p:nvSpPr>
        <p:spPr>
          <a:xfrm>
            <a:off x="1060871" y="3246120"/>
            <a:ext cx="5112000" cy="3132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P1: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Linguagens Simbólicas e Programação Lógica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Linguagens simbólicas</a:t>
            </a: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Programação em lógica</a:t>
            </a:r>
          </a:p>
          <a:p>
            <a:pPr marL="714375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Cláusulas de Horn</a:t>
            </a:r>
          </a:p>
          <a:p>
            <a:pPr marL="714375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Unificação</a:t>
            </a:r>
          </a:p>
          <a:p>
            <a:pPr marL="714375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Resolução</a:t>
            </a:r>
          </a:p>
          <a:p>
            <a:pPr marL="714375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Meta-predicados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Resolução de Problemas e Busca em IA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2925" lvl="1" indent="-180975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Métodos de resolução de problemas</a:t>
            </a:r>
          </a:p>
          <a:p>
            <a:pPr marL="714375" lvl="2" indent="-171450" defTabSz="1076325">
              <a:buFont typeface="Courier New" panose="02070309020205020404" pitchFamily="49" charset="0"/>
              <a:buChar char="o"/>
              <a:tabLst>
                <a:tab pos="2152650" algn="l"/>
              </a:tabLst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Redução de problemas</a:t>
            </a:r>
          </a:p>
          <a:p>
            <a:pPr marL="714375" lvl="2" indent="-171450" defTabSz="1076325">
              <a:buFont typeface="Courier New" panose="02070309020205020404" pitchFamily="49" charset="0"/>
              <a:buChar char="o"/>
              <a:tabLst>
                <a:tab pos="2152650" algn="l"/>
              </a:tabLst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Estratégias de busca</a:t>
            </a:r>
          </a:p>
          <a:p>
            <a:pPr marL="714375" lvl="2" indent="-171450" defTabSz="1076325">
              <a:buFont typeface="Courier New" panose="02070309020205020404" pitchFamily="49" charset="0"/>
              <a:buChar char="o"/>
              <a:tabLst>
                <a:tab pos="2152650" algn="l"/>
              </a:tabLst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Uso de heurísticas</a:t>
            </a:r>
          </a:p>
          <a:p>
            <a:pPr lvl="1"/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7F35393-9D14-DAA8-7077-26FD5309D5ED}"/>
              </a:ext>
            </a:extLst>
          </p:cNvPr>
          <p:cNvSpPr txBox="1"/>
          <p:nvPr/>
        </p:nvSpPr>
        <p:spPr>
          <a:xfrm>
            <a:off x="6246064" y="3243227"/>
            <a:ext cx="5107732" cy="316800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P2: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Representação do Conhecimento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Representação do conhecimento</a:t>
            </a:r>
          </a:p>
          <a:p>
            <a:pPr marL="1085850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Regras de produção</a:t>
            </a:r>
          </a:p>
          <a:p>
            <a:pPr marL="1085850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Redes semânticas</a:t>
            </a:r>
          </a:p>
          <a:p>
            <a:pPr marL="1085850" lvl="2" indent="-171450">
              <a:buFont typeface="Courier New" panose="02070309020205020404" pitchFamily="49" charset="0"/>
              <a:buChar char="o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Bases de conhecimento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Modelos de Raciocínio Avançado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Lógica </a:t>
            </a:r>
            <a:r>
              <a:rPr lang="pt-BR" sz="1200" dirty="0" err="1"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endParaRPr lang="pt-B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Redes neurais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dirty="0">
                <a:latin typeface="Arial" panose="020B0604020202020204" pitchFamily="34" charset="0"/>
                <a:cs typeface="Arial" panose="020B0604020202020204" pitchFamily="34" charset="0"/>
              </a:rPr>
              <a:t>Sistemas Inteligentes Aplicados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t-BR" sz="1200" dirty="0">
                <a:latin typeface="Arial" panose="020B0604020202020204" pitchFamily="34" charset="0"/>
                <a:cs typeface="Arial" panose="020B0604020202020204" pitchFamily="34" charset="0"/>
              </a:rPr>
              <a:t>Sistemas especialistas</a:t>
            </a:r>
          </a:p>
        </p:txBody>
      </p:sp>
    </p:spTree>
    <p:extLst>
      <p:ext uri="{BB962C8B-B14F-4D97-AF65-F5344CB8AC3E}">
        <p14:creationId xmlns:p14="http://schemas.microsoft.com/office/powerpoint/2010/main" val="3650557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ork PNG | Imagens PNG">
            <a:extLst>
              <a:ext uri="{FF2B5EF4-FFF2-40B4-BE49-F238E27FC236}">
                <a16:creationId xmlns:a16="http://schemas.microsoft.com/office/drawing/2014/main" id="{52977B42-702D-9114-FC2A-77300D5DF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315450" y="5159375"/>
            <a:ext cx="14382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EBF758-B242-F6DB-2730-43DEB27C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Curricularização</a:t>
            </a:r>
            <a:r>
              <a:rPr lang="pt-BR" dirty="0"/>
              <a:t> da extensão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59B7FB-C688-1296-4821-EC8118DBA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8332040" cy="4351338"/>
          </a:xfrm>
        </p:spPr>
        <p:txBody>
          <a:bodyPr/>
          <a:lstStyle/>
          <a:p>
            <a:r>
              <a:rPr lang="pt-BR" b="1" dirty="0"/>
              <a:t>“Sistema Especialista Educacional para Orientação e Tomada de Decisão”</a:t>
            </a:r>
          </a:p>
          <a:p>
            <a:r>
              <a:rPr lang="pt-BR" dirty="0"/>
              <a:t>Desenvolver um </a:t>
            </a:r>
            <a:r>
              <a:rPr lang="pt-BR" b="1" dirty="0"/>
              <a:t>sistema especialista</a:t>
            </a:r>
            <a:r>
              <a:rPr lang="pt-BR" dirty="0"/>
              <a:t>, baseado em </a:t>
            </a:r>
            <a:r>
              <a:rPr lang="pt-BR" b="1" dirty="0"/>
              <a:t>regras e lógica simbólica</a:t>
            </a:r>
            <a:r>
              <a:rPr lang="pt-BR" dirty="0"/>
              <a:t>, voltado para </a:t>
            </a:r>
            <a:r>
              <a:rPr lang="pt-BR" b="1" dirty="0"/>
              <a:t>orientação de um problema real da comunidade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Apoio à segurança digital (boas práticas contra golpes e fraudes).</a:t>
            </a:r>
          </a:p>
        </p:txBody>
      </p:sp>
      <p:sp>
        <p:nvSpPr>
          <p:cNvPr id="4" name="Balão de Pensamento: Nuvem 3">
            <a:extLst>
              <a:ext uri="{FF2B5EF4-FFF2-40B4-BE49-F238E27FC236}">
                <a16:creationId xmlns:a16="http://schemas.microsoft.com/office/drawing/2014/main" id="{EEBB6B87-5BD3-B25D-40EC-627FC859B9EC}"/>
              </a:ext>
            </a:extLst>
          </p:cNvPr>
          <p:cNvSpPr/>
          <p:nvPr/>
        </p:nvSpPr>
        <p:spPr>
          <a:xfrm>
            <a:off x="9486901" y="2800350"/>
            <a:ext cx="2800350" cy="2243931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Onde será que já vi isso?</a:t>
            </a:r>
          </a:p>
        </p:txBody>
      </p:sp>
    </p:spTree>
    <p:extLst>
      <p:ext uri="{BB962C8B-B14F-4D97-AF65-F5344CB8AC3E}">
        <p14:creationId xmlns:p14="http://schemas.microsoft.com/office/powerpoint/2010/main" val="658625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F46FC-51C5-AE57-3E21-379A11F4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Curricularização</a:t>
            </a:r>
            <a:r>
              <a:rPr lang="pt-BR" dirty="0"/>
              <a:t> da extensão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E45FC-5132-E168-6492-0C6DC980B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536024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O grupo deverá entregar:</a:t>
            </a:r>
          </a:p>
          <a:p>
            <a:pPr lvl="1"/>
            <a:r>
              <a:rPr lang="pt-BR" dirty="0"/>
              <a:t>Um </a:t>
            </a:r>
            <a:r>
              <a:rPr lang="pt-BR" b="1" dirty="0"/>
              <a:t>sistema especialista funcional</a:t>
            </a:r>
            <a:r>
              <a:rPr lang="pt-BR" dirty="0"/>
              <a:t>, simples, podendo ser em:</a:t>
            </a:r>
          </a:p>
          <a:p>
            <a:pPr lvl="2"/>
            <a:r>
              <a:rPr lang="pt-BR" dirty="0"/>
              <a:t>Em </a:t>
            </a:r>
            <a:r>
              <a:rPr lang="pt-BR" b="1" dirty="0"/>
              <a:t>Prolog.</a:t>
            </a:r>
            <a:endParaRPr lang="pt-BR" dirty="0"/>
          </a:p>
          <a:p>
            <a:pPr lvl="2"/>
            <a:r>
              <a:rPr lang="pt-BR" dirty="0"/>
              <a:t>Em </a:t>
            </a:r>
            <a:r>
              <a:rPr lang="pt-BR" b="1" dirty="0"/>
              <a:t>Python</a:t>
            </a:r>
            <a:r>
              <a:rPr lang="pt-BR" dirty="0"/>
              <a:t> com motor de regras simples</a:t>
            </a:r>
          </a:p>
          <a:p>
            <a:r>
              <a:rPr lang="pt-BR" dirty="0"/>
              <a:t>Uma </a:t>
            </a:r>
            <a:r>
              <a:rPr lang="pt-BR" b="1" dirty="0"/>
              <a:t>base de conhecimento documentada</a:t>
            </a:r>
            <a:endParaRPr lang="pt-BR" dirty="0"/>
          </a:p>
          <a:p>
            <a:pPr lvl="1"/>
            <a:r>
              <a:rPr lang="pt-BR" b="1" dirty="0"/>
              <a:t>Interface simples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Terminal, formulário web simples ou questionário interativo</a:t>
            </a:r>
          </a:p>
          <a:p>
            <a:r>
              <a:rPr lang="pt-BR" b="1" dirty="0"/>
              <a:t>Material de extensão:</a:t>
            </a:r>
          </a:p>
          <a:p>
            <a:pPr lvl="1"/>
            <a:r>
              <a:rPr lang="pt-BR" dirty="0"/>
              <a:t>Cartilha digital</a:t>
            </a:r>
          </a:p>
          <a:p>
            <a:pPr lvl="1"/>
            <a:r>
              <a:rPr lang="pt-BR" dirty="0"/>
              <a:t>Vídeo curto explicativo</a:t>
            </a:r>
          </a:p>
          <a:p>
            <a:pPr lvl="1"/>
            <a:r>
              <a:rPr lang="pt-BR" dirty="0"/>
              <a:t>Oficina ou apresentação para a comunidade.</a:t>
            </a:r>
          </a:p>
        </p:txBody>
      </p:sp>
    </p:spTree>
    <p:extLst>
      <p:ext uri="{BB962C8B-B14F-4D97-AF65-F5344CB8AC3E}">
        <p14:creationId xmlns:p14="http://schemas.microsoft.com/office/powerpoint/2010/main" val="188618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188DE-912B-2A1B-AED2-F31412C5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Tema: Sistema Especialista de Orientação em Segurança Digital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5106F5-50BD-7F99-FDD7-E0E3713C3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10" y="1825625"/>
            <a:ext cx="10370390" cy="4667250"/>
          </a:xfrm>
        </p:spPr>
        <p:txBody>
          <a:bodyPr>
            <a:normAutofit fontScale="92500" lnSpcReduction="10000"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Exemplo:</a:t>
            </a:r>
          </a:p>
          <a:p>
            <a:r>
              <a:rPr lang="pt-BR" b="1" dirty="0"/>
              <a:t>Entrada (usuário responde perguntas):</a:t>
            </a:r>
            <a:endParaRPr lang="pt-BR" dirty="0"/>
          </a:p>
          <a:p>
            <a:pPr lvl="1"/>
            <a:r>
              <a:rPr lang="pt-BR" dirty="0"/>
              <a:t>Usa redes sociais?</a:t>
            </a:r>
          </a:p>
          <a:p>
            <a:pPr lvl="1"/>
            <a:r>
              <a:rPr lang="pt-BR" dirty="0"/>
              <a:t>Recebe mensagens com links desconhecidos?</a:t>
            </a:r>
          </a:p>
          <a:p>
            <a:pPr lvl="1"/>
            <a:r>
              <a:rPr lang="pt-BR" dirty="0"/>
              <a:t>Usa a mesma senha em vários serviços?</a:t>
            </a:r>
          </a:p>
          <a:p>
            <a:r>
              <a:rPr lang="pt-BR" b="1" dirty="0"/>
              <a:t>Processamento:</a:t>
            </a:r>
            <a:endParaRPr lang="pt-BR" dirty="0"/>
          </a:p>
          <a:p>
            <a:pPr lvl="1"/>
            <a:r>
              <a:rPr lang="pt-BR" dirty="0"/>
              <a:t>Regras de produção</a:t>
            </a:r>
          </a:p>
          <a:p>
            <a:pPr lvl="1"/>
            <a:r>
              <a:rPr lang="pt-BR" dirty="0"/>
              <a:t>Inferência por resolução</a:t>
            </a:r>
          </a:p>
          <a:p>
            <a:pPr lvl="1"/>
            <a:r>
              <a:rPr lang="pt-BR" dirty="0"/>
              <a:t>Heurísticas simples</a:t>
            </a:r>
          </a:p>
          <a:p>
            <a:r>
              <a:rPr lang="pt-BR" b="1" dirty="0"/>
              <a:t>Saída:</a:t>
            </a:r>
            <a:endParaRPr lang="pt-BR" dirty="0"/>
          </a:p>
          <a:p>
            <a:pPr lvl="1"/>
            <a:r>
              <a:rPr lang="pt-BR" dirty="0"/>
              <a:t>Diagnóstico de risco (baixo / médio / alto)</a:t>
            </a:r>
          </a:p>
          <a:p>
            <a:pPr lvl="1"/>
            <a:r>
              <a:rPr lang="pt-BR" u="sng" dirty="0">
                <a:solidFill>
                  <a:srgbClr val="FF0000"/>
                </a:solidFill>
              </a:rPr>
              <a:t>Recomendações personalizadas</a:t>
            </a:r>
            <a:r>
              <a:rPr lang="pt-BR" dirty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8102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B658F-9A96-8216-63DE-73B20C04D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Cronograma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5058BB-C85F-FEBD-079E-30B886E99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2600" b="1" dirty="0"/>
              <a:t>Fevereiro – Planejamento e modelagem</a:t>
            </a:r>
          </a:p>
          <a:p>
            <a:pPr lvl="1"/>
            <a:r>
              <a:rPr lang="pt-BR" sz="2600" dirty="0"/>
              <a:t>Definição do problema social</a:t>
            </a:r>
          </a:p>
          <a:p>
            <a:pPr lvl="1"/>
            <a:r>
              <a:rPr lang="pt-BR" sz="2600" dirty="0"/>
              <a:t>Levantamento de conhecimento com a comunidade</a:t>
            </a:r>
          </a:p>
          <a:p>
            <a:pPr lvl="1"/>
            <a:r>
              <a:rPr lang="pt-BR" sz="2600" dirty="0"/>
              <a:t>Modelagem das regras e fatos</a:t>
            </a:r>
          </a:p>
          <a:p>
            <a:pPr lvl="1"/>
            <a:r>
              <a:rPr lang="pt-BR" sz="2600" dirty="0"/>
              <a:t>Desenho da base de conhecimento</a:t>
            </a:r>
          </a:p>
          <a:p>
            <a:r>
              <a:rPr lang="pt-BR" sz="2600" b="1" dirty="0"/>
              <a:t>Março – Implementação</a:t>
            </a:r>
          </a:p>
          <a:p>
            <a:pPr lvl="1"/>
            <a:r>
              <a:rPr lang="pt-BR" sz="2600" dirty="0"/>
              <a:t>Implementação do sistema especialista</a:t>
            </a:r>
          </a:p>
          <a:p>
            <a:pPr lvl="1"/>
            <a:r>
              <a:rPr lang="pt-BR" sz="2600" dirty="0"/>
              <a:t>Testes com casos simulados</a:t>
            </a:r>
          </a:p>
          <a:p>
            <a:pPr lvl="1"/>
            <a:r>
              <a:rPr lang="pt-BR" sz="2600" dirty="0"/>
              <a:t>Ajustes nas regras e heurísticas</a:t>
            </a:r>
          </a:p>
          <a:p>
            <a:r>
              <a:rPr lang="pt-BR" sz="2600" b="1" dirty="0"/>
              <a:t>Abril– Extensão e entrega</a:t>
            </a:r>
          </a:p>
          <a:p>
            <a:pPr lvl="1"/>
            <a:r>
              <a:rPr lang="pt-BR" sz="2200" dirty="0"/>
              <a:t>Aplicação com público externo</a:t>
            </a:r>
          </a:p>
          <a:p>
            <a:pPr lvl="1"/>
            <a:r>
              <a:rPr lang="pt-BR" sz="2200" dirty="0"/>
              <a:t>Coleta de feedback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/>
              <a:t>Produção de relatório e material educativo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/>
              <a:t>Apresentação final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8159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53A19-EF03-9137-1122-2FD9DB55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1AA2C1-6683-2361-4CF7-0F201B4A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Funcionamento do sistema (30%)</a:t>
            </a:r>
          </a:p>
          <a:p>
            <a:r>
              <a:rPr lang="pt-BR" dirty="0"/>
              <a:t>Qualidade da base de conhecimento (20%)</a:t>
            </a:r>
          </a:p>
          <a:p>
            <a:r>
              <a:rPr lang="pt-BR" dirty="0"/>
              <a:t>Aplicação real (30%)</a:t>
            </a:r>
          </a:p>
          <a:p>
            <a:r>
              <a:rPr lang="pt-BR" dirty="0"/>
              <a:t>Relatório e apresentação (20%)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238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A67B5-FCA9-46DE-804B-620FBAEF1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365125"/>
            <a:ext cx="10450132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Sistemas de notas. </a:t>
            </a:r>
            <a:br>
              <a:rPr lang="pt-BR" dirty="0"/>
            </a:br>
            <a:r>
              <a:rPr lang="pt-BR" sz="2800" b="1" dirty="0">
                <a:solidFill>
                  <a:srgbClr val="FF0000"/>
                </a:solidFill>
              </a:rPr>
              <a:t>Normalmente</a:t>
            </a:r>
            <a:r>
              <a:rPr lang="pt-BR" sz="2800" dirty="0">
                <a:solidFill>
                  <a:srgbClr val="FF0000"/>
                </a:solidFill>
              </a:rPr>
              <a:t> definidos os pontos e datas de entrega dos trabalhos em sala de aula.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43EC61-84F6-9FA5-C1DF-E4E9409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Sistemas de notas gerais.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B5458A-B549-4E63-834D-76C04EAB8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332412" cy="3684588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Nota 1</a:t>
            </a:r>
            <a:r>
              <a:rPr lang="pt-BR" dirty="0"/>
              <a:t>  = </a:t>
            </a:r>
            <a:r>
              <a:rPr lang="el-GR" dirty="0"/>
              <a:t>Σ</a:t>
            </a:r>
            <a:r>
              <a:rPr lang="pt-BR" dirty="0"/>
              <a:t> trabalhos [0-3]  + Nota da prova p1 [7 -10]</a:t>
            </a:r>
          </a:p>
          <a:p>
            <a:r>
              <a:rPr lang="pt-BR" b="1" dirty="0"/>
              <a:t>Nota 2 </a:t>
            </a:r>
            <a:r>
              <a:rPr lang="pt-BR" dirty="0"/>
              <a:t> = </a:t>
            </a:r>
            <a:r>
              <a:rPr lang="el-GR" dirty="0"/>
              <a:t>Σ</a:t>
            </a:r>
            <a:r>
              <a:rPr lang="pt-BR" dirty="0"/>
              <a:t> trabalhos [0-3]  + Nota da prova p2 [5-8]</a:t>
            </a:r>
          </a:p>
          <a:p>
            <a:endParaRPr lang="pt-BR" dirty="0"/>
          </a:p>
          <a:p>
            <a:r>
              <a:rPr lang="pt-BR" b="1" dirty="0"/>
              <a:t>Nota 3 (Sub)  </a:t>
            </a:r>
            <a:r>
              <a:rPr lang="pt-BR" dirty="0"/>
              <a:t>= Nota da prova p3 [10]</a:t>
            </a:r>
          </a:p>
          <a:p>
            <a:pPr lvl="1"/>
            <a:r>
              <a:rPr lang="pt-BR" dirty="0"/>
              <a:t>Conteúdo do semestre inteiro.</a:t>
            </a:r>
          </a:p>
          <a:p>
            <a:r>
              <a:rPr lang="pt-BR" b="1" dirty="0"/>
              <a:t>Nota 4 (exame) </a:t>
            </a:r>
            <a:r>
              <a:rPr lang="pt-BR" dirty="0"/>
              <a:t>= Nota da prova 4 [10]</a:t>
            </a:r>
          </a:p>
          <a:p>
            <a:pPr lvl="1"/>
            <a:r>
              <a:rPr lang="pt-BR" dirty="0"/>
              <a:t>Conteúdo do semestre inteiro.</a:t>
            </a:r>
          </a:p>
          <a:p>
            <a:pPr lvl="1"/>
            <a:endParaRPr lang="pt-BR" dirty="0"/>
          </a:p>
          <a:p>
            <a:r>
              <a:rPr lang="pt-BR" b="1" dirty="0"/>
              <a:t>Média &gt;= 7   </a:t>
            </a:r>
            <a:r>
              <a:rPr lang="pt-BR" b="1" dirty="0">
                <a:solidFill>
                  <a:schemeClr val="accent6">
                    <a:lumMod val="75000"/>
                  </a:schemeClr>
                </a:solidFill>
              </a:rPr>
              <a:t>Aprovado! 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05DDD4F-F771-A0FF-6FCE-951496AEE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Sistemas de Trabalhos.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606EFBD-2647-6BBA-EAB1-8FAF361C563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Trabalho [0,5 a 1 ponto] </a:t>
            </a:r>
          </a:p>
          <a:p>
            <a:pPr lvl="1"/>
            <a:r>
              <a:rPr lang="pt-BR" dirty="0"/>
              <a:t>Revisão bibliográfica.</a:t>
            </a:r>
          </a:p>
          <a:p>
            <a:r>
              <a:rPr lang="pt-BR" dirty="0">
                <a:solidFill>
                  <a:srgbClr val="FFC000"/>
                </a:solidFill>
              </a:rPr>
              <a:t>Trabalho [2 pontos]</a:t>
            </a:r>
          </a:p>
          <a:p>
            <a:pPr lvl="1"/>
            <a:r>
              <a:rPr lang="pt-BR" dirty="0"/>
              <a:t>Escrita cientifica ou Estudo de caso.</a:t>
            </a:r>
          </a:p>
          <a:p>
            <a:r>
              <a:rPr lang="pt-BR" dirty="0">
                <a:solidFill>
                  <a:srgbClr val="C00000"/>
                </a:solidFill>
              </a:rPr>
              <a:t>Trabalho [3pontos]</a:t>
            </a:r>
          </a:p>
          <a:p>
            <a:pPr lvl="1"/>
            <a:r>
              <a:rPr lang="pt-BR" dirty="0"/>
              <a:t>Projeto completo.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23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5A62D-C628-40C0-963D-B06BADF2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Datas de provas.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B71FE8-3A3E-4CD7-AE68-D7D8C7248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Segundo o calendário de provas fornecido pelo Coordenador do curso.</a:t>
            </a:r>
          </a:p>
        </p:txBody>
      </p:sp>
      <p:sp>
        <p:nvSpPr>
          <p:cNvPr id="7" name="Rolagem: Vertical 6">
            <a:extLst>
              <a:ext uri="{FF2B5EF4-FFF2-40B4-BE49-F238E27FC236}">
                <a16:creationId xmlns:a16="http://schemas.microsoft.com/office/drawing/2014/main" id="{A394030C-FF08-DA66-A805-5607D8B35B05}"/>
              </a:ext>
            </a:extLst>
          </p:cNvPr>
          <p:cNvSpPr/>
          <p:nvPr/>
        </p:nvSpPr>
        <p:spPr>
          <a:xfrm>
            <a:off x="4016025" y="3429000"/>
            <a:ext cx="4159949" cy="1143000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DATAS DE </a:t>
            </a:r>
            <a:r>
              <a:rPr lang="pt-BR" b="1" u="sng" dirty="0">
                <a:solidFill>
                  <a:srgbClr val="FF0000"/>
                </a:solidFill>
              </a:rPr>
              <a:t>PROVAS</a:t>
            </a:r>
            <a:r>
              <a:rPr lang="pt-BR" dirty="0">
                <a:solidFill>
                  <a:srgbClr val="FF0000"/>
                </a:solidFill>
              </a:rPr>
              <a:t> SÃO MARCADAS PELA INSTITUIÇÃO E NÃO SERÃO APLICADAS FORA DESSA DATA!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695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FBB5F3-768C-014D-B24A-9D4F0CCA0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Comunicação com o Professor;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9915B9-D66A-2ECF-0DB7-E2D399226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Preferencialmente com a Area do aluno;</a:t>
            </a:r>
          </a:p>
          <a:p>
            <a:r>
              <a:rPr lang="pt-BR" dirty="0"/>
              <a:t>E-mail institucional do professor; </a:t>
            </a:r>
            <a:r>
              <a:rPr lang="pt-BR" b="1" dirty="0">
                <a:solidFill>
                  <a:srgbClr val="FF0000"/>
                </a:solidFill>
              </a:rPr>
              <a:t>31440@aems.edu.br </a:t>
            </a:r>
          </a:p>
          <a:p>
            <a:r>
              <a:rPr lang="pt-BR" dirty="0"/>
              <a:t>Pasta online da disciplina;</a:t>
            </a:r>
          </a:p>
          <a:p>
            <a:pPr lvl="1"/>
            <a:r>
              <a:rPr lang="pt-BR" dirty="0"/>
              <a:t>Será encaminhado uma única vez o link da pasta na área do aluno, ficando a responsabilidade do aluno salva-lo e, ou armazena-lo da melhor maneira que lhe caber.</a:t>
            </a:r>
          </a:p>
          <a:p>
            <a:endParaRPr lang="pt-BR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olagem: Vertical 3">
            <a:extLst>
              <a:ext uri="{FF2B5EF4-FFF2-40B4-BE49-F238E27FC236}">
                <a16:creationId xmlns:a16="http://schemas.microsoft.com/office/drawing/2014/main" id="{AD5E91F2-0121-5D91-D46A-96DC27DB5CFA}"/>
              </a:ext>
            </a:extLst>
          </p:cNvPr>
          <p:cNvSpPr/>
          <p:nvPr/>
        </p:nvSpPr>
        <p:spPr>
          <a:xfrm>
            <a:off x="2977277" y="4700016"/>
            <a:ext cx="6237446" cy="1392428"/>
          </a:xfrm>
          <a:prstGeom prst="verticalScroll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dirty="0">
                <a:solidFill>
                  <a:srgbClr val="FF0000"/>
                </a:solidFill>
              </a:rPr>
              <a:t>Uso de Whatzapp somente em critério emergencial, qualquer outro uso será encaminhado uma mensagem padrão lhe encaminhando a Area do aluno. </a:t>
            </a:r>
          </a:p>
        </p:txBody>
      </p:sp>
    </p:spTree>
    <p:extLst>
      <p:ext uri="{BB962C8B-B14F-4D97-AF65-F5344CB8AC3E}">
        <p14:creationId xmlns:p14="http://schemas.microsoft.com/office/powerpoint/2010/main" val="3356865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_Aems_2026_v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_Aems_2026_v1" id="{31D861D1-C375-4C3D-9E26-2064B5AFDB1D}" vid="{B7592932-0B5C-45F7-B648-5DAF9370664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Tema_Aems_2026_v1</Template>
  <TotalTime>80</TotalTime>
  <Words>605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Tema_Aems_2026_v1</vt:lpstr>
      <vt:lpstr>Disciplina: Inteligência Artificial</vt:lpstr>
      <vt:lpstr>Planejamento do Semestre</vt:lpstr>
      <vt:lpstr>Curricularização da extensão </vt:lpstr>
      <vt:lpstr>Curricularização da extensão </vt:lpstr>
      <vt:lpstr>Tema: Sistema Especialista de Orientação em Segurança Digital </vt:lpstr>
      <vt:lpstr>Cronograma</vt:lpstr>
      <vt:lpstr>Avaliação</vt:lpstr>
      <vt:lpstr>Sistemas de notas.  Normalmente definidos os pontos e datas de entrega dos trabalhos em sala de aula.</vt:lpstr>
      <vt:lpstr>Datas de provas.</vt:lpstr>
      <vt:lpstr>Comunicação com o Professor;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Vieira do Espirito Santo</dc:creator>
  <cp:lastModifiedBy>Richard Vieira do Espirito Santo</cp:lastModifiedBy>
  <cp:revision>7</cp:revision>
  <dcterms:created xsi:type="dcterms:W3CDTF">2026-02-05T19:47:57Z</dcterms:created>
  <dcterms:modified xsi:type="dcterms:W3CDTF">2026-02-08T17:46:56Z</dcterms:modified>
</cp:coreProperties>
</file>