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97" r:id="rId3"/>
    <p:sldId id="298" r:id="rId4"/>
    <p:sldId id="257" r:id="rId5"/>
    <p:sldId id="258" r:id="rId6"/>
    <p:sldId id="287" r:id="rId7"/>
    <p:sldId id="288" r:id="rId8"/>
    <p:sldId id="299" r:id="rId9"/>
    <p:sldId id="289" r:id="rId10"/>
    <p:sldId id="290" r:id="rId11"/>
    <p:sldId id="291" r:id="rId12"/>
    <p:sldId id="292" r:id="rId13"/>
    <p:sldId id="300" r:id="rId14"/>
    <p:sldId id="293" r:id="rId15"/>
    <p:sldId id="294" r:id="rId16"/>
    <p:sldId id="295" r:id="rId17"/>
    <p:sldId id="296" r:id="rId18"/>
    <p:sldId id="301" r:id="rId19"/>
    <p:sldId id="302" r:id="rId20"/>
    <p:sldId id="303" r:id="rId21"/>
    <p:sldId id="304" r:id="rId22"/>
    <p:sldId id="305" r:id="rId23"/>
    <p:sldId id="306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2" autoAdjust="0"/>
  </p:normalViewPr>
  <p:slideViewPr>
    <p:cSldViewPr snapToGrid="0">
      <p:cViewPr varScale="1">
        <p:scale>
          <a:sx n="100" d="100"/>
          <a:sy n="100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658F66-0754-4FE4-A194-7FD46DC7959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EB88440-D218-42A4-A1D8-DEC1F5564892}">
      <dgm:prSet custT="1"/>
      <dgm:spPr/>
      <dgm:t>
        <a:bodyPr/>
        <a:lstStyle/>
        <a:p>
          <a:r>
            <a:rPr lang="pt-BR" sz="3200" b="0" i="0" baseline="0" dirty="0"/>
            <a:t>Paradigma </a:t>
          </a:r>
          <a:r>
            <a:rPr lang="pt-BR" sz="3200" b="1" i="0" baseline="0" dirty="0"/>
            <a:t>declarativo</a:t>
          </a:r>
          <a:endParaRPr lang="pt-BR" sz="3200" dirty="0"/>
        </a:p>
      </dgm:t>
    </dgm:pt>
    <dgm:pt modelId="{3E40FA4B-0C54-4F15-AC14-A044ACBF0197}" type="parTrans" cxnId="{C4CFFDB8-076B-4921-A0C8-7DD407B91A4C}">
      <dgm:prSet/>
      <dgm:spPr/>
      <dgm:t>
        <a:bodyPr/>
        <a:lstStyle/>
        <a:p>
          <a:endParaRPr lang="pt-BR" sz="6600"/>
        </a:p>
      </dgm:t>
    </dgm:pt>
    <dgm:pt modelId="{A5DD23D5-FCCF-47FD-ABD6-46764E10C762}" type="sibTrans" cxnId="{C4CFFDB8-076B-4921-A0C8-7DD407B91A4C}">
      <dgm:prSet/>
      <dgm:spPr/>
      <dgm:t>
        <a:bodyPr/>
        <a:lstStyle/>
        <a:p>
          <a:endParaRPr lang="pt-BR" sz="6600"/>
        </a:p>
      </dgm:t>
    </dgm:pt>
    <dgm:pt modelId="{F7C23BC4-26C5-4D7F-92A8-D64F83D8B0F3}">
      <dgm:prSet custT="1"/>
      <dgm:spPr/>
      <dgm:t>
        <a:bodyPr/>
        <a:lstStyle/>
        <a:p>
          <a:r>
            <a:rPr lang="pt-BR" sz="3200" b="0" i="0" baseline="0" dirty="0"/>
            <a:t>Baseado em </a:t>
          </a:r>
          <a:r>
            <a:rPr lang="pt-BR" sz="3200" b="1" i="0" baseline="0" dirty="0"/>
            <a:t>lógica de predicados</a:t>
          </a:r>
          <a:endParaRPr lang="pt-BR" sz="3200" dirty="0"/>
        </a:p>
      </dgm:t>
    </dgm:pt>
    <dgm:pt modelId="{03D8EDF7-70F2-4D06-8ADF-EBEB4D283E7C}" type="parTrans" cxnId="{8FFB1A28-AB7F-4100-9397-4A067500D471}">
      <dgm:prSet/>
      <dgm:spPr/>
      <dgm:t>
        <a:bodyPr/>
        <a:lstStyle/>
        <a:p>
          <a:endParaRPr lang="pt-BR" sz="6600"/>
        </a:p>
      </dgm:t>
    </dgm:pt>
    <dgm:pt modelId="{D2149F6D-28E0-403D-A5C7-3D624A3120B7}" type="sibTrans" cxnId="{8FFB1A28-AB7F-4100-9397-4A067500D471}">
      <dgm:prSet/>
      <dgm:spPr/>
      <dgm:t>
        <a:bodyPr/>
        <a:lstStyle/>
        <a:p>
          <a:endParaRPr lang="pt-BR" sz="6600"/>
        </a:p>
      </dgm:t>
    </dgm:pt>
    <dgm:pt modelId="{AC6E98B1-0DA2-490A-870B-9250662E1189}">
      <dgm:prSet custT="1"/>
      <dgm:spPr/>
      <dgm:t>
        <a:bodyPr/>
        <a:lstStyle/>
        <a:p>
          <a:r>
            <a:rPr lang="pt-BR" sz="3200" b="0" i="0" baseline="0" dirty="0"/>
            <a:t>Um programa é:</a:t>
          </a:r>
          <a:endParaRPr lang="pt-BR" sz="3200" dirty="0"/>
        </a:p>
      </dgm:t>
    </dgm:pt>
    <dgm:pt modelId="{FBA43990-10FF-485A-8D0B-E5F59C6236B8}" type="parTrans" cxnId="{BA63833A-9C9F-4065-A518-DE496731A42E}">
      <dgm:prSet/>
      <dgm:spPr/>
      <dgm:t>
        <a:bodyPr/>
        <a:lstStyle/>
        <a:p>
          <a:endParaRPr lang="pt-BR" sz="6600"/>
        </a:p>
      </dgm:t>
    </dgm:pt>
    <dgm:pt modelId="{A5B7F398-65BA-4C42-B579-1476418A201B}" type="sibTrans" cxnId="{BA63833A-9C9F-4065-A518-DE496731A42E}">
      <dgm:prSet/>
      <dgm:spPr/>
      <dgm:t>
        <a:bodyPr/>
        <a:lstStyle/>
        <a:p>
          <a:endParaRPr lang="pt-BR" sz="6600"/>
        </a:p>
      </dgm:t>
    </dgm:pt>
    <dgm:pt modelId="{87D3DED6-6AF5-418C-AF98-CE88137B4422}">
      <dgm:prSet custT="1"/>
      <dgm:spPr/>
      <dgm:t>
        <a:bodyPr/>
        <a:lstStyle/>
        <a:p>
          <a:r>
            <a:rPr lang="pt-BR" sz="2400" b="1" i="0" baseline="0" dirty="0"/>
            <a:t>Fatos</a:t>
          </a:r>
          <a:r>
            <a:rPr lang="pt-BR" sz="2400" b="0" i="0" baseline="0" dirty="0"/>
            <a:t> + </a:t>
          </a:r>
          <a:r>
            <a:rPr lang="pt-BR" sz="2400" b="1" i="0" baseline="0" dirty="0"/>
            <a:t>Regras</a:t>
          </a:r>
          <a:endParaRPr lang="pt-BR" sz="2400" dirty="0"/>
        </a:p>
      </dgm:t>
    </dgm:pt>
    <dgm:pt modelId="{0A854247-F251-4DFB-9912-ECBBBCB61C68}" type="parTrans" cxnId="{114AF6F1-1523-4D7D-B480-2681DACD1EC0}">
      <dgm:prSet/>
      <dgm:spPr/>
      <dgm:t>
        <a:bodyPr/>
        <a:lstStyle/>
        <a:p>
          <a:endParaRPr lang="pt-BR" sz="6600"/>
        </a:p>
      </dgm:t>
    </dgm:pt>
    <dgm:pt modelId="{7988AD69-1C37-4E41-AB06-FA83FE48F2E9}" type="sibTrans" cxnId="{114AF6F1-1523-4D7D-B480-2681DACD1EC0}">
      <dgm:prSet/>
      <dgm:spPr/>
      <dgm:t>
        <a:bodyPr/>
        <a:lstStyle/>
        <a:p>
          <a:endParaRPr lang="pt-BR" sz="6600"/>
        </a:p>
      </dgm:t>
    </dgm:pt>
    <dgm:pt modelId="{3E666C9B-0176-4220-ABC5-3A45FBD2AE14}">
      <dgm:prSet custT="1"/>
      <dgm:spPr/>
      <dgm:t>
        <a:bodyPr/>
        <a:lstStyle/>
        <a:p>
          <a:r>
            <a:rPr lang="pt-BR" sz="3200" b="0" i="0" baseline="0" dirty="0"/>
            <a:t>A execução é um processo de </a:t>
          </a:r>
          <a:r>
            <a:rPr lang="pt-BR" sz="3200" b="1" i="0" baseline="0" dirty="0"/>
            <a:t>inferência lógica</a:t>
          </a:r>
          <a:r>
            <a:rPr lang="pt-BR" sz="3200" b="0" i="0" baseline="0" dirty="0"/>
            <a:t> </a:t>
          </a:r>
          <a:endParaRPr lang="pt-BR" sz="3200" dirty="0"/>
        </a:p>
      </dgm:t>
    </dgm:pt>
    <dgm:pt modelId="{F0EAA390-1192-4213-8AB2-3D75EB31129B}" type="parTrans" cxnId="{AD39FCFC-8698-4FC1-BCC4-37A6E2E74F38}">
      <dgm:prSet/>
      <dgm:spPr/>
      <dgm:t>
        <a:bodyPr/>
        <a:lstStyle/>
        <a:p>
          <a:endParaRPr lang="pt-BR" sz="6600"/>
        </a:p>
      </dgm:t>
    </dgm:pt>
    <dgm:pt modelId="{B633140A-BC3F-4286-A3C2-0C765DBD31D4}" type="sibTrans" cxnId="{AD39FCFC-8698-4FC1-BCC4-37A6E2E74F38}">
      <dgm:prSet/>
      <dgm:spPr/>
      <dgm:t>
        <a:bodyPr/>
        <a:lstStyle/>
        <a:p>
          <a:endParaRPr lang="pt-BR" sz="6600"/>
        </a:p>
      </dgm:t>
    </dgm:pt>
    <dgm:pt modelId="{4DA3E902-EF10-41F7-9B87-D7218E87DD90}">
      <dgm:prSet custT="1"/>
      <dgm:spPr/>
      <dgm:t>
        <a:bodyPr/>
        <a:lstStyle/>
        <a:p>
          <a:r>
            <a:rPr lang="pt-BR" sz="3200" b="0" i="1" baseline="0" dirty="0"/>
            <a:t>Você não programa o algoritmo.</a:t>
          </a:r>
          <a:endParaRPr lang="pt-BR" sz="3200" dirty="0"/>
        </a:p>
      </dgm:t>
    </dgm:pt>
    <dgm:pt modelId="{50201916-7829-46A8-83C4-269A0AFB59C9}" type="parTrans" cxnId="{8B1E8D7B-9158-4C5A-ADE0-B872857F5218}">
      <dgm:prSet/>
      <dgm:spPr/>
      <dgm:t>
        <a:bodyPr/>
        <a:lstStyle/>
        <a:p>
          <a:endParaRPr lang="pt-BR" sz="6600"/>
        </a:p>
      </dgm:t>
    </dgm:pt>
    <dgm:pt modelId="{36ED482D-ABB9-4122-97E2-B36A3CCE73CE}" type="sibTrans" cxnId="{8B1E8D7B-9158-4C5A-ADE0-B872857F5218}">
      <dgm:prSet/>
      <dgm:spPr/>
      <dgm:t>
        <a:bodyPr/>
        <a:lstStyle/>
        <a:p>
          <a:endParaRPr lang="pt-BR" sz="6600"/>
        </a:p>
      </dgm:t>
    </dgm:pt>
    <dgm:pt modelId="{CE4F8410-81C6-403B-81C8-A8B0E22B62FE}">
      <dgm:prSet custT="1"/>
      <dgm:spPr/>
      <dgm:t>
        <a:bodyPr/>
        <a:lstStyle/>
        <a:p>
          <a:r>
            <a:rPr lang="pt-BR" sz="3200" b="0" i="1" baseline="0" dirty="0"/>
            <a:t>Você programa o conhecimento.</a:t>
          </a:r>
          <a:endParaRPr lang="pt-BR" sz="3200" dirty="0"/>
        </a:p>
      </dgm:t>
    </dgm:pt>
    <dgm:pt modelId="{AD4D0F6B-3EB5-4FA0-8B88-1837CE016EA1}" type="parTrans" cxnId="{EB132B31-CBD5-4A5C-8FFC-A78FDBC6CF38}">
      <dgm:prSet/>
      <dgm:spPr/>
      <dgm:t>
        <a:bodyPr/>
        <a:lstStyle/>
        <a:p>
          <a:endParaRPr lang="pt-BR"/>
        </a:p>
      </dgm:t>
    </dgm:pt>
    <dgm:pt modelId="{86138AC1-1E19-4C6D-AEA9-C10EA87FE0D1}" type="sibTrans" cxnId="{EB132B31-CBD5-4A5C-8FFC-A78FDBC6CF38}">
      <dgm:prSet/>
      <dgm:spPr/>
      <dgm:t>
        <a:bodyPr/>
        <a:lstStyle/>
        <a:p>
          <a:endParaRPr lang="pt-BR"/>
        </a:p>
      </dgm:t>
    </dgm:pt>
    <dgm:pt modelId="{35E29824-5E93-4459-8928-454EF249D029}" type="pres">
      <dgm:prSet presAssocID="{4D658F66-0754-4FE4-A194-7FD46DC7959B}" presName="linear" presStyleCnt="0">
        <dgm:presLayoutVars>
          <dgm:animLvl val="lvl"/>
          <dgm:resizeHandles val="exact"/>
        </dgm:presLayoutVars>
      </dgm:prSet>
      <dgm:spPr/>
    </dgm:pt>
    <dgm:pt modelId="{29FE21B3-A676-4512-9133-FF82E8260917}" type="pres">
      <dgm:prSet presAssocID="{8EB88440-D218-42A4-A1D8-DEC1F55648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E73AD3B-B932-4B10-92D6-444D748DDA1B}" type="pres">
      <dgm:prSet presAssocID="{8EB88440-D218-42A4-A1D8-DEC1F5564892}" presName="childText" presStyleLbl="revTx" presStyleIdx="0" presStyleCnt="3">
        <dgm:presLayoutVars>
          <dgm:bulletEnabled val="1"/>
        </dgm:presLayoutVars>
      </dgm:prSet>
      <dgm:spPr/>
    </dgm:pt>
    <dgm:pt modelId="{873D3A4A-6BCD-4721-A6E5-ED5C987AA8FB}" type="pres">
      <dgm:prSet presAssocID="{AC6E98B1-0DA2-490A-870B-9250662E11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3B74AB3-33B2-423C-8B4C-2CE4779A9A6E}" type="pres">
      <dgm:prSet presAssocID="{AC6E98B1-0DA2-490A-870B-9250662E1189}" presName="childText" presStyleLbl="revTx" presStyleIdx="1" presStyleCnt="3">
        <dgm:presLayoutVars>
          <dgm:bulletEnabled val="1"/>
        </dgm:presLayoutVars>
      </dgm:prSet>
      <dgm:spPr/>
    </dgm:pt>
    <dgm:pt modelId="{5414B613-51E0-44B1-91D4-03C98B0DDCB4}" type="pres">
      <dgm:prSet presAssocID="{3E666C9B-0176-4220-ABC5-3A45FBD2AE1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58C37E8-714D-41FE-AAC0-893F5CCD1190}" type="pres">
      <dgm:prSet presAssocID="{3E666C9B-0176-4220-ABC5-3A45FBD2AE1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A03E10D-1F25-44AF-AF55-766DBDA669E3}" type="presOf" srcId="{F7C23BC4-26C5-4D7F-92A8-D64F83D8B0F3}" destId="{4E73AD3B-B932-4B10-92D6-444D748DDA1B}" srcOrd="0" destOrd="0" presId="urn:microsoft.com/office/officeart/2005/8/layout/vList2"/>
    <dgm:cxn modelId="{8FFB1A28-AB7F-4100-9397-4A067500D471}" srcId="{8EB88440-D218-42A4-A1D8-DEC1F5564892}" destId="{F7C23BC4-26C5-4D7F-92A8-D64F83D8B0F3}" srcOrd="0" destOrd="0" parTransId="{03D8EDF7-70F2-4D06-8ADF-EBEB4D283E7C}" sibTransId="{D2149F6D-28E0-403D-A5C7-3D624A3120B7}"/>
    <dgm:cxn modelId="{EB132B31-CBD5-4A5C-8FFC-A78FDBC6CF38}" srcId="{3E666C9B-0176-4220-ABC5-3A45FBD2AE14}" destId="{CE4F8410-81C6-403B-81C8-A8B0E22B62FE}" srcOrd="1" destOrd="0" parTransId="{AD4D0F6B-3EB5-4FA0-8B88-1837CE016EA1}" sibTransId="{86138AC1-1E19-4C6D-AEA9-C10EA87FE0D1}"/>
    <dgm:cxn modelId="{FA033D32-2E74-4508-BF4E-E78B0D6C30CE}" type="presOf" srcId="{4D658F66-0754-4FE4-A194-7FD46DC7959B}" destId="{35E29824-5E93-4459-8928-454EF249D029}" srcOrd="0" destOrd="0" presId="urn:microsoft.com/office/officeart/2005/8/layout/vList2"/>
    <dgm:cxn modelId="{BA63833A-9C9F-4065-A518-DE496731A42E}" srcId="{4D658F66-0754-4FE4-A194-7FD46DC7959B}" destId="{AC6E98B1-0DA2-490A-870B-9250662E1189}" srcOrd="1" destOrd="0" parTransId="{FBA43990-10FF-485A-8D0B-E5F59C6236B8}" sibTransId="{A5B7F398-65BA-4C42-B579-1476418A201B}"/>
    <dgm:cxn modelId="{40B93E5F-BF6D-4600-98F5-54B5EC8701E3}" type="presOf" srcId="{87D3DED6-6AF5-418C-AF98-CE88137B4422}" destId="{53B74AB3-33B2-423C-8B4C-2CE4779A9A6E}" srcOrd="0" destOrd="0" presId="urn:microsoft.com/office/officeart/2005/8/layout/vList2"/>
    <dgm:cxn modelId="{8B1E8D7B-9158-4C5A-ADE0-B872857F5218}" srcId="{3E666C9B-0176-4220-ABC5-3A45FBD2AE14}" destId="{4DA3E902-EF10-41F7-9B87-D7218E87DD90}" srcOrd="0" destOrd="0" parTransId="{50201916-7829-46A8-83C4-269A0AFB59C9}" sibTransId="{36ED482D-ABB9-4122-97E2-B36A3CCE73CE}"/>
    <dgm:cxn modelId="{090EDEAC-84DC-4FE5-B528-B76137BE8B8F}" type="presOf" srcId="{AC6E98B1-0DA2-490A-870B-9250662E1189}" destId="{873D3A4A-6BCD-4721-A6E5-ED5C987AA8FB}" srcOrd="0" destOrd="0" presId="urn:microsoft.com/office/officeart/2005/8/layout/vList2"/>
    <dgm:cxn modelId="{C4CFFDB8-076B-4921-A0C8-7DD407B91A4C}" srcId="{4D658F66-0754-4FE4-A194-7FD46DC7959B}" destId="{8EB88440-D218-42A4-A1D8-DEC1F5564892}" srcOrd="0" destOrd="0" parTransId="{3E40FA4B-0C54-4F15-AC14-A044ACBF0197}" sibTransId="{A5DD23D5-FCCF-47FD-ABD6-46764E10C762}"/>
    <dgm:cxn modelId="{10DD57BA-89F6-4BB1-B0B4-DE4FD23CD345}" type="presOf" srcId="{8EB88440-D218-42A4-A1D8-DEC1F5564892}" destId="{29FE21B3-A676-4512-9133-FF82E8260917}" srcOrd="0" destOrd="0" presId="urn:microsoft.com/office/officeart/2005/8/layout/vList2"/>
    <dgm:cxn modelId="{DB580EC9-EB2C-4EEC-B820-77894DEEF886}" type="presOf" srcId="{3E666C9B-0176-4220-ABC5-3A45FBD2AE14}" destId="{5414B613-51E0-44B1-91D4-03C98B0DDCB4}" srcOrd="0" destOrd="0" presId="urn:microsoft.com/office/officeart/2005/8/layout/vList2"/>
    <dgm:cxn modelId="{BD579BE1-C9D1-4C45-8FE8-F1F92629A09A}" type="presOf" srcId="{4DA3E902-EF10-41F7-9B87-D7218E87DD90}" destId="{958C37E8-714D-41FE-AAC0-893F5CCD1190}" srcOrd="0" destOrd="0" presId="urn:microsoft.com/office/officeart/2005/8/layout/vList2"/>
    <dgm:cxn modelId="{CE95B9F0-2A5E-46E1-A031-3B33CDC3C6C1}" type="presOf" srcId="{CE4F8410-81C6-403B-81C8-A8B0E22B62FE}" destId="{958C37E8-714D-41FE-AAC0-893F5CCD1190}" srcOrd="0" destOrd="1" presId="urn:microsoft.com/office/officeart/2005/8/layout/vList2"/>
    <dgm:cxn modelId="{114AF6F1-1523-4D7D-B480-2681DACD1EC0}" srcId="{AC6E98B1-0DA2-490A-870B-9250662E1189}" destId="{87D3DED6-6AF5-418C-AF98-CE88137B4422}" srcOrd="0" destOrd="0" parTransId="{0A854247-F251-4DFB-9912-ECBBBCB61C68}" sibTransId="{7988AD69-1C37-4E41-AB06-FA83FE48F2E9}"/>
    <dgm:cxn modelId="{AD39FCFC-8698-4FC1-BCC4-37A6E2E74F38}" srcId="{4D658F66-0754-4FE4-A194-7FD46DC7959B}" destId="{3E666C9B-0176-4220-ABC5-3A45FBD2AE14}" srcOrd="2" destOrd="0" parTransId="{F0EAA390-1192-4213-8AB2-3D75EB31129B}" sibTransId="{B633140A-BC3F-4286-A3C2-0C765DBD31D4}"/>
    <dgm:cxn modelId="{2EC4F0D9-2B18-425A-BBE2-C793A1282970}" type="presParOf" srcId="{35E29824-5E93-4459-8928-454EF249D029}" destId="{29FE21B3-A676-4512-9133-FF82E8260917}" srcOrd="0" destOrd="0" presId="urn:microsoft.com/office/officeart/2005/8/layout/vList2"/>
    <dgm:cxn modelId="{6668073A-61EB-454C-A426-665313DD3375}" type="presParOf" srcId="{35E29824-5E93-4459-8928-454EF249D029}" destId="{4E73AD3B-B932-4B10-92D6-444D748DDA1B}" srcOrd="1" destOrd="0" presId="urn:microsoft.com/office/officeart/2005/8/layout/vList2"/>
    <dgm:cxn modelId="{F1435163-0A21-45BB-8881-D496BF45FE9A}" type="presParOf" srcId="{35E29824-5E93-4459-8928-454EF249D029}" destId="{873D3A4A-6BCD-4721-A6E5-ED5C987AA8FB}" srcOrd="2" destOrd="0" presId="urn:microsoft.com/office/officeart/2005/8/layout/vList2"/>
    <dgm:cxn modelId="{F9EEE7AF-27E8-4624-B4EB-7E8DC554DFF1}" type="presParOf" srcId="{35E29824-5E93-4459-8928-454EF249D029}" destId="{53B74AB3-33B2-423C-8B4C-2CE4779A9A6E}" srcOrd="3" destOrd="0" presId="urn:microsoft.com/office/officeart/2005/8/layout/vList2"/>
    <dgm:cxn modelId="{117FB0F2-DAFB-4590-817E-F6081B30444E}" type="presParOf" srcId="{35E29824-5E93-4459-8928-454EF249D029}" destId="{5414B613-51E0-44B1-91D4-03C98B0DDCB4}" srcOrd="4" destOrd="0" presId="urn:microsoft.com/office/officeart/2005/8/layout/vList2"/>
    <dgm:cxn modelId="{4A789AFA-22EE-4E9D-B239-D69C38D3F27E}" type="presParOf" srcId="{35E29824-5E93-4459-8928-454EF249D029}" destId="{958C37E8-714D-41FE-AAC0-893F5CCD119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B56CAD-15FC-4E40-85C3-FB229F1A217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F6863CF4-5B8F-4934-BF40-5B3E399F7F08}">
      <dgm:prSet/>
      <dgm:spPr/>
      <dgm:t>
        <a:bodyPr/>
        <a:lstStyle/>
        <a:p>
          <a:r>
            <a:rPr lang="pt-BR" dirty="0"/>
            <a:t>Paradigma declarativo</a:t>
          </a:r>
        </a:p>
      </dgm:t>
    </dgm:pt>
    <dgm:pt modelId="{044A25AA-48B3-4F55-82B8-1EAF498A272B}" type="parTrans" cxnId="{BA2CD581-B587-43BA-9129-59CC1530D30C}">
      <dgm:prSet/>
      <dgm:spPr/>
      <dgm:t>
        <a:bodyPr/>
        <a:lstStyle/>
        <a:p>
          <a:endParaRPr lang="pt-BR"/>
        </a:p>
      </dgm:t>
    </dgm:pt>
    <dgm:pt modelId="{11845A80-6C1D-4CC6-8E76-1DD8DCF723D1}" type="sibTrans" cxnId="{BA2CD581-B587-43BA-9129-59CC1530D30C}">
      <dgm:prSet/>
      <dgm:spPr/>
      <dgm:t>
        <a:bodyPr/>
        <a:lstStyle/>
        <a:p>
          <a:endParaRPr lang="pt-BR"/>
        </a:p>
      </dgm:t>
    </dgm:pt>
    <dgm:pt modelId="{9EA0B81F-E2A6-4558-A101-5C7C3D87B097}">
      <dgm:prSet/>
      <dgm:spPr/>
      <dgm:t>
        <a:bodyPr/>
        <a:lstStyle/>
        <a:p>
          <a:r>
            <a:rPr lang="pt-BR" dirty="0"/>
            <a:t>Baseada em lógica de predicados</a:t>
          </a:r>
        </a:p>
      </dgm:t>
    </dgm:pt>
    <dgm:pt modelId="{FBE1224C-99C3-4B38-A803-A7B719B95EB4}" type="parTrans" cxnId="{13CA2199-2DEA-46D8-B6DF-012F73D3FA19}">
      <dgm:prSet/>
      <dgm:spPr/>
      <dgm:t>
        <a:bodyPr/>
        <a:lstStyle/>
        <a:p>
          <a:endParaRPr lang="pt-BR"/>
        </a:p>
      </dgm:t>
    </dgm:pt>
    <dgm:pt modelId="{2C49DDCF-A396-4F1D-9B08-833427C266DC}" type="sibTrans" cxnId="{13CA2199-2DEA-46D8-B6DF-012F73D3FA19}">
      <dgm:prSet/>
      <dgm:spPr/>
      <dgm:t>
        <a:bodyPr/>
        <a:lstStyle/>
        <a:p>
          <a:endParaRPr lang="pt-BR"/>
        </a:p>
      </dgm:t>
    </dgm:pt>
    <dgm:pt modelId="{9FE4CCFB-F0E7-4F5D-8FE8-08CC4A46FFB4}">
      <dgm:prSet custT="1"/>
      <dgm:spPr/>
      <dgm:t>
        <a:bodyPr/>
        <a:lstStyle/>
        <a:p>
          <a:r>
            <a:rPr lang="pt-BR" sz="1800" dirty="0"/>
            <a:t>Programa = conjunto de fatos + regras</a:t>
          </a:r>
        </a:p>
      </dgm:t>
    </dgm:pt>
    <dgm:pt modelId="{F04C6073-0064-45FC-B225-955CBAE3BCD2}" type="parTrans" cxnId="{38A69D68-6A3E-4E27-AAFB-6E4749BB86AF}">
      <dgm:prSet/>
      <dgm:spPr/>
      <dgm:t>
        <a:bodyPr/>
        <a:lstStyle/>
        <a:p>
          <a:endParaRPr lang="pt-BR"/>
        </a:p>
      </dgm:t>
    </dgm:pt>
    <dgm:pt modelId="{003E6B36-BBD9-4638-B788-AD0F4B96E3AB}" type="sibTrans" cxnId="{38A69D68-6A3E-4E27-AAFB-6E4749BB86AF}">
      <dgm:prSet/>
      <dgm:spPr/>
      <dgm:t>
        <a:bodyPr/>
        <a:lstStyle/>
        <a:p>
          <a:endParaRPr lang="pt-BR"/>
        </a:p>
      </dgm:t>
    </dgm:pt>
    <dgm:pt modelId="{A1480F58-623B-477D-961D-A43EFFD51C65}">
      <dgm:prSet custT="1"/>
      <dgm:spPr/>
      <dgm:t>
        <a:bodyPr/>
        <a:lstStyle/>
        <a:p>
          <a:r>
            <a:rPr lang="pt-BR" sz="1800" dirty="0"/>
            <a:t>Execução = processo de inferência</a:t>
          </a:r>
        </a:p>
      </dgm:t>
    </dgm:pt>
    <dgm:pt modelId="{4DBB6C7D-22FB-4B7C-B9FB-010E3C9F3CD5}" type="parTrans" cxnId="{85F279BF-8378-4456-8FEC-696F53715465}">
      <dgm:prSet/>
      <dgm:spPr/>
      <dgm:t>
        <a:bodyPr/>
        <a:lstStyle/>
        <a:p>
          <a:endParaRPr lang="pt-BR"/>
        </a:p>
      </dgm:t>
    </dgm:pt>
    <dgm:pt modelId="{4384CB85-01B8-4FE7-8B3B-1DC650BB3EC2}" type="sibTrans" cxnId="{85F279BF-8378-4456-8FEC-696F53715465}">
      <dgm:prSet/>
      <dgm:spPr/>
      <dgm:t>
        <a:bodyPr/>
        <a:lstStyle/>
        <a:p>
          <a:endParaRPr lang="pt-BR"/>
        </a:p>
      </dgm:t>
    </dgm:pt>
    <dgm:pt modelId="{C73ED04B-8619-462B-B4BE-21D3E4FB9F2B}" type="pres">
      <dgm:prSet presAssocID="{6DB56CAD-15FC-4E40-85C3-FB229F1A2178}" presName="CompostProcess" presStyleCnt="0">
        <dgm:presLayoutVars>
          <dgm:dir/>
          <dgm:resizeHandles val="exact"/>
        </dgm:presLayoutVars>
      </dgm:prSet>
      <dgm:spPr/>
    </dgm:pt>
    <dgm:pt modelId="{9ED76C40-BF67-483F-8F8C-C13F8E957AEE}" type="pres">
      <dgm:prSet presAssocID="{6DB56CAD-15FC-4E40-85C3-FB229F1A2178}" presName="arrow" presStyleLbl="bgShp" presStyleIdx="0" presStyleCnt="1"/>
      <dgm:spPr/>
    </dgm:pt>
    <dgm:pt modelId="{4C5E666B-4EA7-474E-AC4D-0A53C3748648}" type="pres">
      <dgm:prSet presAssocID="{6DB56CAD-15FC-4E40-85C3-FB229F1A2178}" presName="linearProcess" presStyleCnt="0"/>
      <dgm:spPr/>
    </dgm:pt>
    <dgm:pt modelId="{3072FC61-4051-49D5-BA1A-5B8437244FFE}" type="pres">
      <dgm:prSet presAssocID="{F6863CF4-5B8F-4934-BF40-5B3E399F7F08}" presName="textNode" presStyleLbl="node1" presStyleIdx="0" presStyleCnt="4">
        <dgm:presLayoutVars>
          <dgm:bulletEnabled val="1"/>
        </dgm:presLayoutVars>
      </dgm:prSet>
      <dgm:spPr/>
    </dgm:pt>
    <dgm:pt modelId="{F0F63A4B-6C18-459F-8D42-CEEA28418201}" type="pres">
      <dgm:prSet presAssocID="{11845A80-6C1D-4CC6-8E76-1DD8DCF723D1}" presName="sibTrans" presStyleCnt="0"/>
      <dgm:spPr/>
    </dgm:pt>
    <dgm:pt modelId="{E74A1F9B-D85D-484E-9E60-04C4348D620E}" type="pres">
      <dgm:prSet presAssocID="{9EA0B81F-E2A6-4558-A101-5C7C3D87B097}" presName="textNode" presStyleLbl="node1" presStyleIdx="1" presStyleCnt="4">
        <dgm:presLayoutVars>
          <dgm:bulletEnabled val="1"/>
        </dgm:presLayoutVars>
      </dgm:prSet>
      <dgm:spPr/>
    </dgm:pt>
    <dgm:pt modelId="{717DB4D5-15B2-4EC8-A061-CEC2685B0D5C}" type="pres">
      <dgm:prSet presAssocID="{2C49DDCF-A396-4F1D-9B08-833427C266DC}" presName="sibTrans" presStyleCnt="0"/>
      <dgm:spPr/>
    </dgm:pt>
    <dgm:pt modelId="{9030136A-E8EB-4FBA-819B-9517F08AF821}" type="pres">
      <dgm:prSet presAssocID="{9FE4CCFB-F0E7-4F5D-8FE8-08CC4A46FFB4}" presName="textNode" presStyleLbl="node1" presStyleIdx="2" presStyleCnt="4">
        <dgm:presLayoutVars>
          <dgm:bulletEnabled val="1"/>
        </dgm:presLayoutVars>
      </dgm:prSet>
      <dgm:spPr/>
    </dgm:pt>
    <dgm:pt modelId="{DEB5806E-B717-4DC7-9D54-2FB501BC3130}" type="pres">
      <dgm:prSet presAssocID="{003E6B36-BBD9-4638-B788-AD0F4B96E3AB}" presName="sibTrans" presStyleCnt="0"/>
      <dgm:spPr/>
    </dgm:pt>
    <dgm:pt modelId="{DB25C3AD-A3AD-42D1-A305-72D171F7A1AA}" type="pres">
      <dgm:prSet presAssocID="{A1480F58-623B-477D-961D-A43EFFD51C6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C2E19617-7C20-425C-9C88-0D2EA5BE7D91}" type="presOf" srcId="{F6863CF4-5B8F-4934-BF40-5B3E399F7F08}" destId="{3072FC61-4051-49D5-BA1A-5B8437244FFE}" srcOrd="0" destOrd="0" presId="urn:microsoft.com/office/officeart/2005/8/layout/hProcess9"/>
    <dgm:cxn modelId="{7B27F61E-42C0-48E0-8CBF-316EEF1AD5D1}" type="presOf" srcId="{9FE4CCFB-F0E7-4F5D-8FE8-08CC4A46FFB4}" destId="{9030136A-E8EB-4FBA-819B-9517F08AF821}" srcOrd="0" destOrd="0" presId="urn:microsoft.com/office/officeart/2005/8/layout/hProcess9"/>
    <dgm:cxn modelId="{24BC4A65-5677-4D96-8A56-7CF69BCF0DE2}" type="presOf" srcId="{6DB56CAD-15FC-4E40-85C3-FB229F1A2178}" destId="{C73ED04B-8619-462B-B4BE-21D3E4FB9F2B}" srcOrd="0" destOrd="0" presId="urn:microsoft.com/office/officeart/2005/8/layout/hProcess9"/>
    <dgm:cxn modelId="{38A69D68-6A3E-4E27-AAFB-6E4749BB86AF}" srcId="{6DB56CAD-15FC-4E40-85C3-FB229F1A2178}" destId="{9FE4CCFB-F0E7-4F5D-8FE8-08CC4A46FFB4}" srcOrd="2" destOrd="0" parTransId="{F04C6073-0064-45FC-B225-955CBAE3BCD2}" sibTransId="{003E6B36-BBD9-4638-B788-AD0F4B96E3AB}"/>
    <dgm:cxn modelId="{BA2CD581-B587-43BA-9129-59CC1530D30C}" srcId="{6DB56CAD-15FC-4E40-85C3-FB229F1A2178}" destId="{F6863CF4-5B8F-4934-BF40-5B3E399F7F08}" srcOrd="0" destOrd="0" parTransId="{044A25AA-48B3-4F55-82B8-1EAF498A272B}" sibTransId="{11845A80-6C1D-4CC6-8E76-1DD8DCF723D1}"/>
    <dgm:cxn modelId="{DA13E493-E3A9-433A-8F7F-007E0F6FC089}" type="presOf" srcId="{A1480F58-623B-477D-961D-A43EFFD51C65}" destId="{DB25C3AD-A3AD-42D1-A305-72D171F7A1AA}" srcOrd="0" destOrd="0" presId="urn:microsoft.com/office/officeart/2005/8/layout/hProcess9"/>
    <dgm:cxn modelId="{4408D094-D8D8-4A7F-849D-E088C4BAEBA7}" type="presOf" srcId="{9EA0B81F-E2A6-4558-A101-5C7C3D87B097}" destId="{E74A1F9B-D85D-484E-9E60-04C4348D620E}" srcOrd="0" destOrd="0" presId="urn:microsoft.com/office/officeart/2005/8/layout/hProcess9"/>
    <dgm:cxn modelId="{13CA2199-2DEA-46D8-B6DF-012F73D3FA19}" srcId="{6DB56CAD-15FC-4E40-85C3-FB229F1A2178}" destId="{9EA0B81F-E2A6-4558-A101-5C7C3D87B097}" srcOrd="1" destOrd="0" parTransId="{FBE1224C-99C3-4B38-A803-A7B719B95EB4}" sibTransId="{2C49DDCF-A396-4F1D-9B08-833427C266DC}"/>
    <dgm:cxn modelId="{85F279BF-8378-4456-8FEC-696F53715465}" srcId="{6DB56CAD-15FC-4E40-85C3-FB229F1A2178}" destId="{A1480F58-623B-477D-961D-A43EFFD51C65}" srcOrd="3" destOrd="0" parTransId="{4DBB6C7D-22FB-4B7C-B9FB-010E3C9F3CD5}" sibTransId="{4384CB85-01B8-4FE7-8B3B-1DC650BB3EC2}"/>
    <dgm:cxn modelId="{F32631B9-0225-4F5D-845F-A7895EF8BCF9}" type="presParOf" srcId="{C73ED04B-8619-462B-B4BE-21D3E4FB9F2B}" destId="{9ED76C40-BF67-483F-8F8C-C13F8E957AEE}" srcOrd="0" destOrd="0" presId="urn:microsoft.com/office/officeart/2005/8/layout/hProcess9"/>
    <dgm:cxn modelId="{35D19F11-8603-4A97-BB44-93A8FB3B5FE4}" type="presParOf" srcId="{C73ED04B-8619-462B-B4BE-21D3E4FB9F2B}" destId="{4C5E666B-4EA7-474E-AC4D-0A53C3748648}" srcOrd="1" destOrd="0" presId="urn:microsoft.com/office/officeart/2005/8/layout/hProcess9"/>
    <dgm:cxn modelId="{C1B00810-F16C-479D-989F-989704D7477D}" type="presParOf" srcId="{4C5E666B-4EA7-474E-AC4D-0A53C3748648}" destId="{3072FC61-4051-49D5-BA1A-5B8437244FFE}" srcOrd="0" destOrd="0" presId="urn:microsoft.com/office/officeart/2005/8/layout/hProcess9"/>
    <dgm:cxn modelId="{71038FF7-9F78-4D2B-96EE-930CFFDC744C}" type="presParOf" srcId="{4C5E666B-4EA7-474E-AC4D-0A53C3748648}" destId="{F0F63A4B-6C18-459F-8D42-CEEA28418201}" srcOrd="1" destOrd="0" presId="urn:microsoft.com/office/officeart/2005/8/layout/hProcess9"/>
    <dgm:cxn modelId="{0B538C76-31E1-4DD7-A3D8-A3040DEAF1A5}" type="presParOf" srcId="{4C5E666B-4EA7-474E-AC4D-0A53C3748648}" destId="{E74A1F9B-D85D-484E-9E60-04C4348D620E}" srcOrd="2" destOrd="0" presId="urn:microsoft.com/office/officeart/2005/8/layout/hProcess9"/>
    <dgm:cxn modelId="{3E1E86E3-E38B-4075-80FB-1F1BFCEA3791}" type="presParOf" srcId="{4C5E666B-4EA7-474E-AC4D-0A53C3748648}" destId="{717DB4D5-15B2-4EC8-A061-CEC2685B0D5C}" srcOrd="3" destOrd="0" presId="urn:microsoft.com/office/officeart/2005/8/layout/hProcess9"/>
    <dgm:cxn modelId="{42905AAF-9C07-4A63-8073-C5C21E80ABA3}" type="presParOf" srcId="{4C5E666B-4EA7-474E-AC4D-0A53C3748648}" destId="{9030136A-E8EB-4FBA-819B-9517F08AF821}" srcOrd="4" destOrd="0" presId="urn:microsoft.com/office/officeart/2005/8/layout/hProcess9"/>
    <dgm:cxn modelId="{D50E17C9-2E2C-411A-9F48-6129E34E766D}" type="presParOf" srcId="{4C5E666B-4EA7-474E-AC4D-0A53C3748648}" destId="{DEB5806E-B717-4DC7-9D54-2FB501BC3130}" srcOrd="5" destOrd="0" presId="urn:microsoft.com/office/officeart/2005/8/layout/hProcess9"/>
    <dgm:cxn modelId="{D3AAADB2-3F8D-48AC-91F2-AC309483D967}" type="presParOf" srcId="{4C5E666B-4EA7-474E-AC4D-0A53C3748648}" destId="{DB25C3AD-A3AD-42D1-A305-72D171F7A1AA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E21B3-A676-4512-9133-FF82E8260917}">
      <dsp:nvSpPr>
        <dsp:cNvPr id="0" name=""/>
        <dsp:cNvSpPr/>
      </dsp:nvSpPr>
      <dsp:spPr>
        <a:xfrm>
          <a:off x="0" y="3814"/>
          <a:ext cx="9271002" cy="7013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0" i="0" kern="1200" baseline="0" dirty="0"/>
            <a:t>Paradigma </a:t>
          </a:r>
          <a:r>
            <a:rPr lang="pt-BR" sz="3200" b="1" i="0" kern="1200" baseline="0" dirty="0"/>
            <a:t>declarativo</a:t>
          </a:r>
          <a:endParaRPr lang="pt-BR" sz="3200" kern="1200" dirty="0"/>
        </a:p>
      </dsp:txBody>
      <dsp:txXfrm>
        <a:off x="34239" y="38053"/>
        <a:ext cx="9202524" cy="632904"/>
      </dsp:txXfrm>
    </dsp:sp>
    <dsp:sp modelId="{4E73AD3B-B932-4B10-92D6-444D748DDA1B}">
      <dsp:nvSpPr>
        <dsp:cNvPr id="0" name=""/>
        <dsp:cNvSpPr/>
      </dsp:nvSpPr>
      <dsp:spPr>
        <a:xfrm>
          <a:off x="0" y="705197"/>
          <a:ext cx="9271002" cy="488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4354" tIns="40640" rIns="227584" bIns="4064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3200" b="0" i="0" kern="1200" baseline="0" dirty="0"/>
            <a:t>Baseado em </a:t>
          </a:r>
          <a:r>
            <a:rPr lang="pt-BR" sz="3200" b="1" i="0" kern="1200" baseline="0" dirty="0"/>
            <a:t>lógica de predicados</a:t>
          </a:r>
          <a:endParaRPr lang="pt-BR" sz="3200" kern="1200" dirty="0"/>
        </a:p>
      </dsp:txBody>
      <dsp:txXfrm>
        <a:off x="0" y="705197"/>
        <a:ext cx="9271002" cy="488842"/>
      </dsp:txXfrm>
    </dsp:sp>
    <dsp:sp modelId="{873D3A4A-6BCD-4721-A6E5-ED5C987AA8FB}">
      <dsp:nvSpPr>
        <dsp:cNvPr id="0" name=""/>
        <dsp:cNvSpPr/>
      </dsp:nvSpPr>
      <dsp:spPr>
        <a:xfrm>
          <a:off x="0" y="1194039"/>
          <a:ext cx="9271002" cy="7013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0" i="0" kern="1200" baseline="0" dirty="0"/>
            <a:t>Um programa é:</a:t>
          </a:r>
          <a:endParaRPr lang="pt-BR" sz="3200" kern="1200" dirty="0"/>
        </a:p>
      </dsp:txBody>
      <dsp:txXfrm>
        <a:off x="34239" y="1228278"/>
        <a:ext cx="9202524" cy="632904"/>
      </dsp:txXfrm>
    </dsp:sp>
    <dsp:sp modelId="{53B74AB3-33B2-423C-8B4C-2CE4779A9A6E}">
      <dsp:nvSpPr>
        <dsp:cNvPr id="0" name=""/>
        <dsp:cNvSpPr/>
      </dsp:nvSpPr>
      <dsp:spPr>
        <a:xfrm>
          <a:off x="0" y="1895422"/>
          <a:ext cx="9271002" cy="366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435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400" b="1" i="0" kern="1200" baseline="0" dirty="0"/>
            <a:t>Fatos</a:t>
          </a:r>
          <a:r>
            <a:rPr lang="pt-BR" sz="2400" b="0" i="0" kern="1200" baseline="0" dirty="0"/>
            <a:t> + </a:t>
          </a:r>
          <a:r>
            <a:rPr lang="pt-BR" sz="2400" b="1" i="0" kern="1200" baseline="0" dirty="0"/>
            <a:t>Regras</a:t>
          </a:r>
          <a:endParaRPr lang="pt-BR" sz="2400" kern="1200" dirty="0"/>
        </a:p>
      </dsp:txBody>
      <dsp:txXfrm>
        <a:off x="0" y="1895422"/>
        <a:ext cx="9271002" cy="366631"/>
      </dsp:txXfrm>
    </dsp:sp>
    <dsp:sp modelId="{5414B613-51E0-44B1-91D4-03C98B0DDCB4}">
      <dsp:nvSpPr>
        <dsp:cNvPr id="0" name=""/>
        <dsp:cNvSpPr/>
      </dsp:nvSpPr>
      <dsp:spPr>
        <a:xfrm>
          <a:off x="0" y="2262054"/>
          <a:ext cx="9271002" cy="7013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0" i="0" kern="1200" baseline="0" dirty="0"/>
            <a:t>A execução é um processo de </a:t>
          </a:r>
          <a:r>
            <a:rPr lang="pt-BR" sz="3200" b="1" i="0" kern="1200" baseline="0" dirty="0"/>
            <a:t>inferência lógica</a:t>
          </a:r>
          <a:r>
            <a:rPr lang="pt-BR" sz="3200" b="0" i="0" kern="1200" baseline="0" dirty="0"/>
            <a:t> </a:t>
          </a:r>
          <a:endParaRPr lang="pt-BR" sz="3200" kern="1200" dirty="0"/>
        </a:p>
      </dsp:txBody>
      <dsp:txXfrm>
        <a:off x="34239" y="2296293"/>
        <a:ext cx="9202524" cy="632904"/>
      </dsp:txXfrm>
    </dsp:sp>
    <dsp:sp modelId="{958C37E8-714D-41FE-AAC0-893F5CCD1190}">
      <dsp:nvSpPr>
        <dsp:cNvPr id="0" name=""/>
        <dsp:cNvSpPr/>
      </dsp:nvSpPr>
      <dsp:spPr>
        <a:xfrm>
          <a:off x="0" y="2963437"/>
          <a:ext cx="9271002" cy="977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4354" tIns="40640" rIns="227584" bIns="4064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3200" b="0" i="1" kern="1200" baseline="0" dirty="0"/>
            <a:t>Você não programa o algoritmo.</a:t>
          </a:r>
          <a:endParaRPr lang="pt-BR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3200" b="0" i="1" kern="1200" baseline="0" dirty="0"/>
            <a:t>Você programa o conhecimento.</a:t>
          </a:r>
          <a:endParaRPr lang="pt-BR" sz="3200" kern="1200" dirty="0"/>
        </a:p>
      </dsp:txBody>
      <dsp:txXfrm>
        <a:off x="0" y="2963437"/>
        <a:ext cx="9271002" cy="9776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76C40-BF67-483F-8F8C-C13F8E957AEE}">
      <dsp:nvSpPr>
        <dsp:cNvPr id="0" name=""/>
        <dsp:cNvSpPr/>
      </dsp:nvSpPr>
      <dsp:spPr>
        <a:xfrm>
          <a:off x="820641" y="0"/>
          <a:ext cx="9300606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2FC61-4051-49D5-BA1A-5B8437244FFE}">
      <dsp:nvSpPr>
        <dsp:cNvPr id="0" name=""/>
        <dsp:cNvSpPr/>
      </dsp:nvSpPr>
      <dsp:spPr>
        <a:xfrm>
          <a:off x="5476" y="1305401"/>
          <a:ext cx="263396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Paradigma declarativo</a:t>
          </a:r>
        </a:p>
      </dsp:txBody>
      <dsp:txXfrm>
        <a:off x="90442" y="1390367"/>
        <a:ext cx="2464028" cy="1570603"/>
      </dsp:txXfrm>
    </dsp:sp>
    <dsp:sp modelId="{E74A1F9B-D85D-484E-9E60-04C4348D620E}">
      <dsp:nvSpPr>
        <dsp:cNvPr id="0" name=""/>
        <dsp:cNvSpPr/>
      </dsp:nvSpPr>
      <dsp:spPr>
        <a:xfrm>
          <a:off x="2771135" y="1305401"/>
          <a:ext cx="263396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Baseada em lógica de predicados</a:t>
          </a:r>
        </a:p>
      </dsp:txBody>
      <dsp:txXfrm>
        <a:off x="2856101" y="1390367"/>
        <a:ext cx="2464028" cy="1570603"/>
      </dsp:txXfrm>
    </dsp:sp>
    <dsp:sp modelId="{9030136A-E8EB-4FBA-819B-9517F08AF821}">
      <dsp:nvSpPr>
        <dsp:cNvPr id="0" name=""/>
        <dsp:cNvSpPr/>
      </dsp:nvSpPr>
      <dsp:spPr>
        <a:xfrm>
          <a:off x="5536794" y="1305401"/>
          <a:ext cx="263396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Programa = conjunto de fatos + regras</a:t>
          </a:r>
        </a:p>
      </dsp:txBody>
      <dsp:txXfrm>
        <a:off x="5621760" y="1390367"/>
        <a:ext cx="2464028" cy="1570603"/>
      </dsp:txXfrm>
    </dsp:sp>
    <dsp:sp modelId="{DB25C3AD-A3AD-42D1-A305-72D171F7A1AA}">
      <dsp:nvSpPr>
        <dsp:cNvPr id="0" name=""/>
        <dsp:cNvSpPr/>
      </dsp:nvSpPr>
      <dsp:spPr>
        <a:xfrm>
          <a:off x="8302452" y="1305401"/>
          <a:ext cx="263396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Execução = processo de inferência</a:t>
          </a:r>
        </a:p>
      </dsp:txBody>
      <dsp:txXfrm>
        <a:off x="8387418" y="1390367"/>
        <a:ext cx="2464028" cy="1570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9199F-661D-4BB2-80CD-F847C541EBD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0AEED-B27E-4284-91A9-FB29BA3377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03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0AEED-B27E-4284-91A9-FB29BA3377FA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3823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Use isso para conectar com:</a:t>
            </a:r>
          </a:p>
          <a:p>
            <a:r>
              <a:rPr lang="pt-BR" dirty="0"/>
              <a:t>Listas</a:t>
            </a:r>
          </a:p>
          <a:p>
            <a:r>
              <a:rPr lang="pt-BR" dirty="0"/>
              <a:t>Relatórios</a:t>
            </a:r>
          </a:p>
          <a:p>
            <a:r>
              <a:rPr lang="pt-BR" dirty="0"/>
              <a:t>Recomendações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0AEED-B27E-4284-91A9-FB29BA3377F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238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“Aqui o programa começa a decidir o que executar.”</a:t>
            </a:r>
          </a:p>
          <a:p>
            <a:endParaRPr lang="pt-BR" dirty="0"/>
          </a:p>
          <a:p>
            <a:r>
              <a:rPr lang="pt-BR" dirty="0"/>
              <a:t>Explique:</a:t>
            </a:r>
          </a:p>
          <a:p>
            <a:r>
              <a:rPr lang="pt-BR" dirty="0"/>
              <a:t>Executa algo dinamicamente</a:t>
            </a:r>
          </a:p>
          <a:p>
            <a:r>
              <a:rPr lang="pt-BR" dirty="0"/>
              <a:t>Base para sistemas especialistas</a:t>
            </a:r>
          </a:p>
          <a:p>
            <a:r>
              <a:rPr lang="pt-BR" dirty="0"/>
              <a:t>Base para </a:t>
            </a:r>
            <a:r>
              <a:rPr lang="pt-BR" dirty="0" err="1"/>
              <a:t>chatbots</a:t>
            </a:r>
            <a:r>
              <a:rPr lang="pt-BR" dirty="0"/>
              <a:t> simples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0AEED-B27E-4284-91A9-FB29BA3377F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3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- </a:t>
            </a:r>
            <a:r>
              <a:rPr lang="pt-BR" dirty="0"/>
              <a:t>“Para todo X que é aluno, X está aprovado?”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0AEED-B27E-4284-91A9-FB29BA3377F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420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54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46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543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60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405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5762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1049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971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57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05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39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9A467-24A9-40D4-9C8E-71D629A689C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F5ECD3-CA36-4689-A735-451C8BA484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635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CF024-FB2C-0C18-1E61-309B71EAB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Disciplina:</a:t>
            </a:r>
            <a:br>
              <a:rPr lang="pt-BR" dirty="0"/>
            </a:br>
            <a:r>
              <a:rPr lang="pt-BR" dirty="0"/>
              <a:t>Inteligência Artificial - 2026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A980DE-4CE1-FD01-7333-D2070A2823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Tema 02: Cláusulas de Horn, Unificação, Resolução e Meta-predicados.</a:t>
            </a:r>
          </a:p>
        </p:txBody>
      </p:sp>
    </p:spTree>
    <p:extLst>
      <p:ext uri="{BB962C8B-B14F-4D97-AF65-F5344CB8AC3E}">
        <p14:creationId xmlns:p14="http://schemas.microsoft.com/office/powerpoint/2010/main" val="54563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F6D98-4724-39B5-B6BB-BC063A49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PROGRAMAÇÃO TRADICIONAL [IMPERATIVA]</a:t>
            </a:r>
            <a:br>
              <a:rPr lang="pt-BR" dirty="0"/>
            </a:br>
            <a:r>
              <a:rPr lang="pt-BR" dirty="0"/>
              <a:t>X</a:t>
            </a:r>
            <a:br>
              <a:rPr lang="pt-BR" dirty="0"/>
            </a:br>
            <a:r>
              <a:rPr lang="pt-BR" dirty="0"/>
              <a:t>PROGRAMAÇÃO EM LÓGICA [PROLOG]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A9D126-2063-5F88-3640-E20543F0E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IMPERATIVA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6BBB04C-1C8C-AD86-7986-504F5692AC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Leia isso, calcule aquilo, repita tantas vezes…”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FE311AD-9103-0361-C72F-6B0887B28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LÓGICA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B9AB3F9-6198-3D21-07F6-11443BC9F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800725" cy="368458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“Essas coisas são verdadeiras”</a:t>
            </a:r>
            <a:br>
              <a:rPr lang="pt-BR" dirty="0"/>
            </a:br>
            <a:r>
              <a:rPr lang="pt-BR" dirty="0"/>
              <a:t>“Essas regras definem o mundo”</a:t>
            </a:r>
          </a:p>
        </p:txBody>
      </p:sp>
    </p:spTree>
    <p:extLst>
      <p:ext uri="{BB962C8B-B14F-4D97-AF65-F5344CB8AC3E}">
        <p14:creationId xmlns:p14="http://schemas.microsoft.com/office/powerpoint/2010/main" val="290740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71A00-CB0C-E752-5BE6-CF6BE8F2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C33F57-2E2C-EDE8-7291-6EBEC5AD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PROGRAMAÇÃO TRADICIONAL [IMPERATIVA]</a:t>
            </a:r>
            <a:br>
              <a:rPr lang="pt-BR" dirty="0"/>
            </a:br>
            <a:r>
              <a:rPr lang="pt-BR" dirty="0"/>
              <a:t>X</a:t>
            </a:r>
            <a:br>
              <a:rPr lang="pt-BR" dirty="0"/>
            </a:br>
            <a:r>
              <a:rPr lang="pt-BR" dirty="0"/>
              <a:t>PROGRAMAÇÃO EM LÓGICA [PROLOG]</a:t>
            </a: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E08E11AF-4BEF-5290-AECB-4E9DA4FDE9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8161861"/>
              </p:ext>
            </p:extLst>
          </p:nvPr>
        </p:nvGraphicFramePr>
        <p:xfrm>
          <a:off x="1533103" y="2217737"/>
          <a:ext cx="9271002" cy="3944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03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9A26E-455A-8A01-44EB-8C267FDD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Programação em Lógica?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1DE3CF7E-85A8-3E5C-7B22-3DD7AFDA07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484250"/>
              </p:ext>
            </p:extLst>
          </p:nvPr>
        </p:nvGraphicFramePr>
        <p:xfrm>
          <a:off x="625055" y="1844675"/>
          <a:ext cx="109418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975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7DD70-FEA4-8857-DB0C-E0D5632C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Imagine que precisamos: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C29092-F757-2CC2-CDD1-2436BBAB2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 sistema especialista educacional</a:t>
            </a:r>
          </a:p>
          <a:p>
            <a:r>
              <a:rPr lang="pt-BR" dirty="0"/>
              <a:t>Desenvolver um mecanismo de recomendação</a:t>
            </a:r>
          </a:p>
          <a:p>
            <a:r>
              <a:rPr lang="pt-BR" dirty="0"/>
              <a:t>Implementar um </a:t>
            </a:r>
            <a:r>
              <a:rPr lang="pt-BR" dirty="0" err="1"/>
              <a:t>chatbot</a:t>
            </a:r>
            <a:r>
              <a:rPr lang="pt-BR" dirty="0"/>
              <a:t> baseado em regras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2746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BB6DB-7145-A2B0-AC70-A2E55FA5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Onde isso é usado?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69FD4A-ACAD-7FEB-3E95-8BC43BB58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Sistemas especialistas</a:t>
            </a:r>
          </a:p>
          <a:p>
            <a:r>
              <a:rPr lang="pt-BR" dirty="0"/>
              <a:t>Inteligência Artificial simbólica</a:t>
            </a:r>
          </a:p>
          <a:p>
            <a:r>
              <a:rPr lang="pt-BR" dirty="0"/>
              <a:t>Motores de regras (</a:t>
            </a:r>
            <a:r>
              <a:rPr lang="pt-BR" dirty="0" err="1"/>
              <a:t>rule</a:t>
            </a:r>
            <a:r>
              <a:rPr lang="pt-BR" dirty="0"/>
              <a:t> </a:t>
            </a:r>
            <a:r>
              <a:rPr lang="pt-BR" dirty="0" err="1"/>
              <a:t>engines</a:t>
            </a:r>
            <a:r>
              <a:rPr lang="pt-BR" dirty="0"/>
              <a:t>)</a:t>
            </a:r>
          </a:p>
          <a:p>
            <a:r>
              <a:rPr lang="pt-BR" dirty="0"/>
              <a:t>Sistemas de recomendação baseados em regras</a:t>
            </a:r>
          </a:p>
          <a:p>
            <a:r>
              <a:rPr lang="pt-BR" dirty="0"/>
              <a:t>Planejamento automático</a:t>
            </a:r>
          </a:p>
        </p:txBody>
      </p:sp>
    </p:spTree>
    <p:extLst>
      <p:ext uri="{BB962C8B-B14F-4D97-AF65-F5344CB8AC3E}">
        <p14:creationId xmlns:p14="http://schemas.microsoft.com/office/powerpoint/2010/main" val="162864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F5FFB-1430-0A85-753F-78A5EF3C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são? Cláusulas de Horn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3B0A3A-C7F0-7E36-CF1B-E1A173142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 especial da lógica de predicados:</a:t>
            </a:r>
          </a:p>
          <a:p>
            <a:pPr lvl="1"/>
            <a:r>
              <a:rPr lang="pt-BR" dirty="0"/>
              <a:t>A :- B1, B2, ..., </a:t>
            </a:r>
            <a:r>
              <a:rPr lang="pt-BR" dirty="0" err="1"/>
              <a:t>Bn</a:t>
            </a:r>
            <a:r>
              <a:rPr lang="pt-BR" dirty="0"/>
              <a:t>.</a:t>
            </a:r>
          </a:p>
          <a:p>
            <a:r>
              <a:rPr lang="pt-BR" dirty="0"/>
              <a:t>Significa:</a:t>
            </a:r>
          </a:p>
          <a:p>
            <a:pPr lvl="1"/>
            <a:r>
              <a:rPr lang="pt-BR" dirty="0"/>
              <a:t>A é verdadeiro se B1 e B2 ... forem verdadeiros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08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9493E-F6C4-3602-C9EE-38848D18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Horn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0005EB-8849-5B1D-F81C-794E7DD2F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Regra</a:t>
            </a:r>
          </a:p>
          <a:p>
            <a:pPr lvl="1"/>
            <a:r>
              <a:rPr lang="pt-BR" dirty="0"/>
              <a:t>pai(X,Y) :- homem(X), filho(Y,X).</a:t>
            </a:r>
          </a:p>
          <a:p>
            <a:r>
              <a:rPr lang="pt-BR" dirty="0"/>
              <a:t>Consulta</a:t>
            </a:r>
          </a:p>
          <a:p>
            <a:pPr lvl="1"/>
            <a:r>
              <a:rPr lang="pt-BR" dirty="0"/>
              <a:t>?- pai(</a:t>
            </a:r>
            <a:r>
              <a:rPr lang="pt-BR" dirty="0" err="1"/>
              <a:t>joao</a:t>
            </a:r>
            <a:r>
              <a:rPr lang="pt-BR" dirty="0"/>
              <a:t>, Y).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520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111EB-BAA6-6F82-12CE-78508784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326BE0-B7F3-5E3A-5F57-8D30E028A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Exemplo em Prolog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A858F9D-CC10-DF07-171D-7736774EFE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09A2810-D9D5-74A2-2C46-B8A7243EB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Cláusulas de Horn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15BFB0A-2F44-FF66-E7D1-AB36A547B05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6931EB9-ED11-8291-2D33-EE7E4131A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222298"/>
              </p:ext>
            </p:extLst>
          </p:nvPr>
        </p:nvGraphicFramePr>
        <p:xfrm>
          <a:off x="942550" y="3429000"/>
          <a:ext cx="46772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350">
                  <a:extLst>
                    <a:ext uri="{9D8B030D-6E8A-4147-A177-3AD203B41FA5}">
                      <a16:colId xmlns:a16="http://schemas.microsoft.com/office/drawing/2014/main" val="461093293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1483135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Tipo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Exemplo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1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Fato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homem(</a:t>
                      </a:r>
                      <a:r>
                        <a:rPr lang="pt-BR" dirty="0" err="1"/>
                        <a:t>joao</a:t>
                      </a:r>
                      <a:r>
                        <a:rPr lang="pt-BR" dirty="0"/>
                        <a:t>). 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458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Regra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pai(X,Y) :- homem(X), filho(Y,X). 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384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Consulta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?- pai(</a:t>
                      </a:r>
                      <a:r>
                        <a:rPr lang="pt-BR" dirty="0" err="1"/>
                        <a:t>joao,Y</a:t>
                      </a:r>
                      <a:r>
                        <a:rPr lang="pt-BR" dirty="0"/>
                        <a:t>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97302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E602575-3931-75D6-274E-9331887C5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836145"/>
              </p:ext>
            </p:extLst>
          </p:nvPr>
        </p:nvGraphicFramePr>
        <p:xfrm>
          <a:off x="6425194" y="3429000"/>
          <a:ext cx="46772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350">
                  <a:extLst>
                    <a:ext uri="{9D8B030D-6E8A-4147-A177-3AD203B41FA5}">
                      <a16:colId xmlns:a16="http://schemas.microsoft.com/office/drawing/2014/main" val="461093293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1483135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Tipo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Exemplo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1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Fato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homem(</a:t>
                      </a:r>
                      <a:r>
                        <a:rPr lang="pt-BR" dirty="0" err="1"/>
                        <a:t>joao</a:t>
                      </a:r>
                      <a:r>
                        <a:rPr lang="pt-BR" dirty="0"/>
                        <a:t>).</a:t>
                      </a:r>
                      <a:br>
                        <a:rPr lang="pt-BR" dirty="0"/>
                      </a:br>
                      <a:r>
                        <a:rPr lang="pt-BR" dirty="0"/>
                        <a:t>mulher(maria).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458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Regra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pai(</a:t>
                      </a:r>
                      <a:r>
                        <a:rPr lang="pt-BR" dirty="0" err="1"/>
                        <a:t>joao</a:t>
                      </a:r>
                      <a:r>
                        <a:rPr lang="pt-BR" dirty="0"/>
                        <a:t>, </a:t>
                      </a:r>
                      <a:r>
                        <a:rPr lang="pt-BR" dirty="0" err="1"/>
                        <a:t>pedro</a:t>
                      </a:r>
                      <a:r>
                        <a:rPr lang="pt-BR" dirty="0"/>
                        <a:t>).</a:t>
                      </a:r>
                      <a:br>
                        <a:rPr lang="pt-BR" dirty="0"/>
                      </a:br>
                      <a:r>
                        <a:rPr lang="pt-BR" dirty="0" err="1"/>
                        <a:t>mae</a:t>
                      </a:r>
                      <a:r>
                        <a:rPr lang="pt-BR" dirty="0"/>
                        <a:t>(maria, </a:t>
                      </a:r>
                      <a:r>
                        <a:rPr lang="pt-BR" dirty="0" err="1"/>
                        <a:t>pedro</a:t>
                      </a:r>
                      <a:r>
                        <a:rPr lang="pt-BR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384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Consulta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?- pai(</a:t>
                      </a:r>
                      <a:r>
                        <a:rPr lang="pt-BR" dirty="0" err="1"/>
                        <a:t>joao</a:t>
                      </a:r>
                      <a:r>
                        <a:rPr lang="pt-BR" dirty="0"/>
                        <a:t>, X).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497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84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9D7544D-A3D0-527C-D2EB-DD75FFB8B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UNIFICAÇÃO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8E76532-7264-0699-56BE-E6C48B6A5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Processo de tornar dois termos iguais.</a:t>
            </a:r>
          </a:p>
          <a:p>
            <a:r>
              <a:rPr lang="pt-BR" sz="2400" dirty="0"/>
              <a:t>Exemplos</a:t>
            </a:r>
          </a:p>
          <a:p>
            <a:pPr lvl="1"/>
            <a:r>
              <a:rPr lang="pt-BR" sz="2000" dirty="0"/>
              <a:t>pai(</a:t>
            </a:r>
            <a:r>
              <a:rPr lang="pt-BR" sz="2000" dirty="0" err="1"/>
              <a:t>joao</a:t>
            </a:r>
            <a:r>
              <a:rPr lang="pt-BR" sz="2000" dirty="0"/>
              <a:t>, X)</a:t>
            </a:r>
          </a:p>
          <a:p>
            <a:pPr lvl="1"/>
            <a:r>
              <a:rPr lang="pt-BR" sz="2000" dirty="0"/>
              <a:t>pai(</a:t>
            </a:r>
            <a:r>
              <a:rPr lang="pt-BR" sz="2000" dirty="0" err="1"/>
              <a:t>joao</a:t>
            </a:r>
            <a:r>
              <a:rPr lang="pt-BR" sz="2000" dirty="0"/>
              <a:t>, </a:t>
            </a:r>
            <a:r>
              <a:rPr lang="pt-BR" sz="2000" dirty="0" err="1"/>
              <a:t>pedro</a:t>
            </a:r>
            <a:r>
              <a:rPr lang="pt-BR" sz="2000" dirty="0"/>
              <a:t>)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Resultado:</a:t>
            </a:r>
          </a:p>
          <a:p>
            <a:pPr lvl="2"/>
            <a:r>
              <a:rPr lang="pt-BR" sz="1600" dirty="0"/>
              <a:t>X = </a:t>
            </a:r>
            <a:r>
              <a:rPr lang="pt-BR" sz="1600" dirty="0" err="1"/>
              <a:t>pedro</a:t>
            </a:r>
            <a:endParaRPr lang="pt-BR" sz="16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2476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240B4-4A77-41A5-332C-CAE24881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UNIFICAÇÃO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E5ACC21-147B-B731-430E-24E6EC06E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703839"/>
              </p:ext>
            </p:extLst>
          </p:nvPr>
        </p:nvGraphicFramePr>
        <p:xfrm>
          <a:off x="586581" y="2331720"/>
          <a:ext cx="986234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2469">
                  <a:extLst>
                    <a:ext uri="{9D8B030D-6E8A-4147-A177-3AD203B41FA5}">
                      <a16:colId xmlns:a16="http://schemas.microsoft.com/office/drawing/2014/main" val="309962098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2768447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347264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pt-BR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Caso</a:t>
                      </a:r>
                      <a:endParaRPr lang="pt-BR" sz="2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Resultado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Código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64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Variável + constante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Substituição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X = </a:t>
                      </a:r>
                      <a:r>
                        <a:rPr lang="pt-BR" sz="2400" dirty="0" err="1"/>
                        <a:t>pedro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56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Constante ≠ constante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Falha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joao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≠ maria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903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Estruturas compatíveis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Unifica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 err="1"/>
                        <a:t>familia</a:t>
                      </a:r>
                      <a:r>
                        <a:rPr lang="pt-BR" sz="2400" dirty="0"/>
                        <a:t>(pai(</a:t>
                      </a:r>
                      <a:r>
                        <a:rPr lang="pt-BR" sz="2400" dirty="0" err="1"/>
                        <a:t>joao</a:t>
                      </a:r>
                      <a:r>
                        <a:rPr lang="pt-BR" sz="2400" dirty="0"/>
                        <a:t>), </a:t>
                      </a:r>
                      <a:r>
                        <a:rPr lang="pt-BR" sz="2400" dirty="0" err="1"/>
                        <a:t>mae</a:t>
                      </a:r>
                      <a:r>
                        <a:rPr lang="pt-BR" sz="2400" dirty="0"/>
                        <a:t>(maria))</a:t>
                      </a:r>
                      <a:br>
                        <a:rPr lang="pt-BR" sz="2400" dirty="0"/>
                      </a:br>
                      <a:r>
                        <a:rPr lang="pt-BR" sz="2400" dirty="0" err="1"/>
                        <a:t>familia</a:t>
                      </a:r>
                      <a:r>
                        <a:rPr lang="pt-BR" sz="2400" dirty="0"/>
                        <a:t>(pai(X), </a:t>
                      </a:r>
                      <a:r>
                        <a:rPr lang="pt-BR" sz="2400" dirty="0" err="1"/>
                        <a:t>mae</a:t>
                      </a:r>
                      <a:r>
                        <a:rPr lang="pt-BR" sz="2400" dirty="0"/>
                        <a:t>(Y))</a:t>
                      </a:r>
                    </a:p>
                    <a:p>
                      <a:pPr>
                        <a:buNone/>
                      </a:pPr>
                      <a:endParaRPr lang="pt-BR" sz="2400" dirty="0"/>
                    </a:p>
                    <a:p>
                      <a:pPr>
                        <a:buNone/>
                      </a:pPr>
                      <a:r>
                        <a:rPr lang="pl-PL" sz="2400" dirty="0"/>
                        <a:t>[X, Y, 3]</a:t>
                      </a:r>
                      <a:br>
                        <a:rPr lang="pl-PL" sz="2400" dirty="0"/>
                      </a:br>
                      <a:r>
                        <a:rPr lang="pl-PL" sz="2400" dirty="0"/>
                        <a:t>[1, 2, Z]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024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73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729F2-DA76-2402-8895-28551F6B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MECANISMO DE INFERÊNCIA</a:t>
            </a:r>
            <a:br>
              <a:rPr lang="pt-BR" dirty="0"/>
            </a:br>
            <a:r>
              <a:rPr lang="pt-BR" dirty="0"/>
              <a:t>“Inferência é o processo de tirar conclusões a partir de fatos e regras.”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0BE233-733F-87FE-4500-AFE5E5E2B8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altLang="pt-BR" b="1" dirty="0"/>
              <a:t>Baseado em resolução SLD</a:t>
            </a:r>
          </a:p>
          <a:p>
            <a:pPr lvl="1"/>
            <a:r>
              <a:rPr lang="pt-BR" dirty="0"/>
              <a:t>SLD é só o nome técnico do jeito que o Prolog prova coisas.</a:t>
            </a:r>
            <a:endParaRPr lang="pt-BR" altLang="pt-BR" dirty="0"/>
          </a:p>
          <a:p>
            <a:pPr lvl="0"/>
            <a:r>
              <a:rPr lang="pt-BR" altLang="pt-BR" b="1" dirty="0"/>
              <a:t>Busca em profundidade</a:t>
            </a:r>
          </a:p>
          <a:p>
            <a:pPr lvl="1"/>
            <a:r>
              <a:rPr lang="pt-BR" altLang="pt-BR" dirty="0"/>
              <a:t>Vai até o fim de um caminho antes de tentar outro.</a:t>
            </a:r>
          </a:p>
          <a:p>
            <a:pPr lvl="0"/>
            <a:r>
              <a:rPr lang="pt-BR" altLang="pt-BR" b="1" dirty="0" err="1"/>
              <a:t>Backtracking</a:t>
            </a:r>
            <a:r>
              <a:rPr lang="pt-BR" altLang="pt-BR" b="1" dirty="0"/>
              <a:t> automático</a:t>
            </a:r>
          </a:p>
          <a:p>
            <a:pPr lvl="1"/>
            <a:r>
              <a:rPr lang="pt-BR" dirty="0"/>
              <a:t>Se um caminho falhar, o Prolog volta para o último ponto onde havia outra possibilidade.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7701C9-DED7-35FC-7CE9-C4B2FAF50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de Regra</a:t>
            </a:r>
          </a:p>
          <a:p>
            <a:pPr lvl="1"/>
            <a:r>
              <a:rPr lang="pt-BR" dirty="0"/>
              <a:t>avo(X,Z) :- pai(X,Y), pai(Y,Z).</a:t>
            </a:r>
          </a:p>
          <a:p>
            <a:pPr lvl="1"/>
            <a:r>
              <a:rPr lang="pt-BR" dirty="0"/>
              <a:t>Consulta:</a:t>
            </a:r>
          </a:p>
          <a:p>
            <a:pPr lvl="2"/>
            <a:r>
              <a:rPr lang="pt-BR" dirty="0"/>
              <a:t>?- avo(</a:t>
            </a:r>
            <a:r>
              <a:rPr lang="pt-BR" dirty="0" err="1"/>
              <a:t>joao</a:t>
            </a:r>
            <a:r>
              <a:rPr lang="pt-BR" dirty="0"/>
              <a:t>, Quem).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Processo:</a:t>
            </a:r>
          </a:p>
          <a:p>
            <a:pPr lvl="2"/>
            <a:r>
              <a:rPr lang="pt-BR" dirty="0"/>
              <a:t>Tenta unificar</a:t>
            </a:r>
          </a:p>
          <a:p>
            <a:pPr lvl="2"/>
            <a:r>
              <a:rPr lang="pt-BR" dirty="0"/>
              <a:t>Procura pai(</a:t>
            </a:r>
            <a:r>
              <a:rPr lang="pt-BR" dirty="0" err="1"/>
              <a:t>joao,Y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Continua busca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039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1DFDAC0-45AE-FBCD-C339-6E5A39B9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br>
              <a:rPr lang="pt-BR" dirty="0"/>
            </a:br>
            <a:r>
              <a:rPr lang="pt-BR" dirty="0"/>
              <a:t>avo(</a:t>
            </a:r>
            <a:r>
              <a:rPr lang="pt-BR" dirty="0" err="1"/>
              <a:t>joao</a:t>
            </a:r>
            <a:r>
              <a:rPr lang="pt-BR" dirty="0"/>
              <a:t>, Quem)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1A4737-1168-A2C3-73FE-2DEF4ED7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5904" y="1978025"/>
            <a:ext cx="4885762" cy="230689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b="1" dirty="0"/>
              <a:t>Provar o primeiro objetivo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pai(</a:t>
            </a:r>
            <a:r>
              <a:rPr lang="pt-BR" dirty="0" err="1"/>
              <a:t>joao,Y</a:t>
            </a:r>
            <a:r>
              <a:rPr lang="pt-BR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Encontra pai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(</a:t>
            </a:r>
            <a:r>
              <a:rPr lang="pt-BR" dirty="0" err="1"/>
              <a:t>joao,pedro</a:t>
            </a:r>
            <a:r>
              <a:rPr lang="pt-BR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Logo: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Y = Pedro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pt-BR" dirty="0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81B2129E-B147-D4EF-F1CD-5248A22930A5}"/>
              </a:ext>
            </a:extLst>
          </p:cNvPr>
          <p:cNvSpPr txBox="1">
            <a:spLocks/>
          </p:cNvSpPr>
          <p:nvPr/>
        </p:nvSpPr>
        <p:spPr>
          <a:xfrm>
            <a:off x="200142" y="1978025"/>
            <a:ext cx="48857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/>
              <a:t>Fatos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pt-BR"/>
              <a:t>pai(joao, pedro).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pt-BR"/>
              <a:t>pai(pedro, carlos).</a:t>
            </a:r>
          </a:p>
          <a:p>
            <a:r>
              <a:rPr lang="pt-BR"/>
              <a:t>Regra </a:t>
            </a:r>
          </a:p>
          <a:p>
            <a:pPr lvl="1"/>
            <a:r>
              <a:rPr lang="pt-BR"/>
              <a:t>avo(X,Z) :- pai(X,Y), pai(Y,Z).</a:t>
            </a:r>
          </a:p>
          <a:p>
            <a:r>
              <a:rPr lang="pt-BR"/>
              <a:t>Unifica:</a:t>
            </a:r>
          </a:p>
          <a:p>
            <a:pPr lvl="1"/>
            <a:r>
              <a:rPr lang="pt-BR"/>
              <a:t>X = joao</a:t>
            </a:r>
          </a:p>
          <a:p>
            <a:pPr lvl="1"/>
            <a:r>
              <a:rPr lang="pt-BR"/>
              <a:t>Z = Quem</a:t>
            </a:r>
          </a:p>
          <a:p>
            <a:pPr lvl="1"/>
            <a:endParaRPr lang="pt-BR" dirty="0"/>
          </a:p>
        </p:txBody>
      </p:sp>
      <p:sp>
        <p:nvSpPr>
          <p:cNvPr id="10" name="Espaço Reservado para Conteúdo 5">
            <a:extLst>
              <a:ext uri="{FF2B5EF4-FFF2-40B4-BE49-F238E27FC236}">
                <a16:creationId xmlns:a16="http://schemas.microsoft.com/office/drawing/2014/main" id="{256DE8DC-A815-EDB4-E449-B15068CB8CC7}"/>
              </a:ext>
            </a:extLst>
          </p:cNvPr>
          <p:cNvSpPr txBox="1">
            <a:spLocks/>
          </p:cNvSpPr>
          <p:nvPr/>
        </p:nvSpPr>
        <p:spPr>
          <a:xfrm>
            <a:off x="5085904" y="4284921"/>
            <a:ext cx="4885762" cy="23068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b="1" dirty="0"/>
              <a:t>Provar o segundo objetivo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pai(</a:t>
            </a:r>
            <a:r>
              <a:rPr lang="pt-BR" dirty="0" err="1"/>
              <a:t>pedro</a:t>
            </a:r>
            <a:r>
              <a:rPr lang="pt-BR" dirty="0"/>
              <a:t>, Quem)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Encontra pai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pai(</a:t>
            </a:r>
            <a:r>
              <a:rPr lang="pt-BR" dirty="0" err="1"/>
              <a:t>pedro</a:t>
            </a:r>
            <a:r>
              <a:rPr lang="pt-BR" dirty="0"/>
              <a:t>, </a:t>
            </a:r>
            <a:r>
              <a:rPr lang="pt-BR" dirty="0" err="1"/>
              <a:t>carlos</a:t>
            </a:r>
            <a:r>
              <a:rPr lang="pt-BR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Logo: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Quem = </a:t>
            </a:r>
            <a:r>
              <a:rPr lang="pt-BR" dirty="0" err="1"/>
              <a:t>carlos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3289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90A46-6F78-C9FA-F820-BBD8C07C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Execução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42E34A-002F-F448-DF91-5BAE3F81F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Consulta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Tentativa de unificação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Expansão de regras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Backtracking</a:t>
            </a:r>
            <a:r>
              <a:rPr lang="pt-BR" dirty="0"/>
              <a:t> se falhar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4349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3B314-E12A-ED48-5244-D0089FE0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Meta-predicados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B825D3-DB08-EA50-E9BD-6D5A99D07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predicados que trabalham com outros predicados.</a:t>
            </a:r>
          </a:p>
          <a:p>
            <a:r>
              <a:rPr lang="en-US" dirty="0" err="1"/>
              <a:t>Exemplos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findall</a:t>
            </a:r>
            <a:r>
              <a:rPr lang="en-US" dirty="0"/>
              <a:t>/3 - &gt; coleta</a:t>
            </a:r>
          </a:p>
          <a:p>
            <a:pPr lvl="1"/>
            <a:r>
              <a:rPr lang="en-US" dirty="0"/>
              <a:t>call/1 -&gt; </a:t>
            </a:r>
            <a:r>
              <a:rPr lang="en-US" dirty="0" err="1"/>
              <a:t>executa</a:t>
            </a:r>
            <a:r>
              <a:rPr lang="en-US" dirty="0"/>
              <a:t> algo</a:t>
            </a:r>
          </a:p>
          <a:p>
            <a:pPr lvl="1"/>
            <a:r>
              <a:rPr lang="en-US" dirty="0" err="1"/>
              <a:t>forall</a:t>
            </a:r>
            <a:r>
              <a:rPr lang="en-US" dirty="0"/>
              <a:t>/2 - &gt; </a:t>
            </a:r>
            <a:r>
              <a:rPr lang="en-US" dirty="0" err="1"/>
              <a:t>condição</a:t>
            </a:r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4673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CB089-CB9B-BE97-89A3-E7AD18C0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</a:t>
            </a:r>
            <a:r>
              <a:rPr lang="pt-BR" dirty="0" err="1"/>
              <a:t>findall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067A48-0D6F-CD7F-341D-CBB2A459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findall</a:t>
            </a:r>
            <a:r>
              <a:rPr lang="pt-BR" dirty="0"/>
              <a:t>(X, pai(</a:t>
            </a:r>
            <a:r>
              <a:rPr lang="pt-BR" dirty="0" err="1"/>
              <a:t>joao,X</a:t>
            </a:r>
            <a:r>
              <a:rPr lang="pt-BR" dirty="0"/>
              <a:t>), Lista).</a:t>
            </a:r>
          </a:p>
          <a:p>
            <a:r>
              <a:rPr lang="pt-BR" dirty="0"/>
              <a:t>Resultado:</a:t>
            </a:r>
          </a:p>
          <a:p>
            <a:pPr lvl="1"/>
            <a:r>
              <a:rPr lang="pt-BR" dirty="0"/>
              <a:t>Lista = [</a:t>
            </a:r>
            <a:r>
              <a:rPr lang="pt-BR" dirty="0" err="1"/>
              <a:t>pedro</a:t>
            </a:r>
            <a:r>
              <a:rPr lang="pt-BR" dirty="0"/>
              <a:t>, </a:t>
            </a:r>
            <a:r>
              <a:rPr lang="pt-BR" dirty="0" err="1"/>
              <a:t>carlos</a:t>
            </a:r>
            <a:r>
              <a:rPr lang="pt-BR" dirty="0"/>
              <a:t>]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4D46A52-D512-F84E-2FEB-E4BDC7D80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4887" y="1794458"/>
            <a:ext cx="344209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o que coletar</a:t>
            </a:r>
            <a:endParaRPr kumimoji="0" lang="pt-BR" altLang="pt-B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resultado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pai(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joao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X)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condição</a:t>
            </a:r>
            <a:endParaRPr kumimoji="0" lang="pt-BR" altLang="pt-B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75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41132-E422-CB2B-8967-6616DF8BE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</a:t>
            </a:r>
            <a:r>
              <a:rPr lang="pt-BR" dirty="0" err="1"/>
              <a:t>call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F6E4A2-9D41-B103-BA8E-586A7D53C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executar(Regra) :-</a:t>
            </a:r>
          </a:p>
          <a:p>
            <a:r>
              <a:rPr lang="pt-BR" dirty="0" err="1"/>
              <a:t>call</a:t>
            </a:r>
            <a:r>
              <a:rPr lang="pt-BR" dirty="0"/>
              <a:t>(Regra).</a:t>
            </a:r>
          </a:p>
          <a:p>
            <a:r>
              <a:rPr lang="pt-BR" dirty="0"/>
              <a:t>Permite executar predicados dinamicamente.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8720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2DD5D-0056-106A-C4BC-1890E520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Exercício – Verificando se todos os alunos foram aprovados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B5FB21-CA93-5E4A-39B1-F94550A89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escola deseja verificar se todos os alunos matriculados em uma disciplina foram aprovados.</a:t>
            </a:r>
          </a:p>
          <a:p>
            <a:r>
              <a:rPr lang="pt-BR" dirty="0"/>
              <a:t>Você deve:</a:t>
            </a:r>
          </a:p>
          <a:p>
            <a:pPr lvl="1"/>
            <a:r>
              <a:rPr lang="pt-BR" dirty="0"/>
              <a:t>Declarar os alunos.</a:t>
            </a:r>
          </a:p>
          <a:p>
            <a:pPr lvl="1"/>
            <a:r>
              <a:rPr lang="pt-BR" dirty="0"/>
              <a:t>Declarar quais alunos foram aprovados.</a:t>
            </a:r>
          </a:p>
          <a:p>
            <a:pPr lvl="1"/>
            <a:r>
              <a:rPr lang="pt-BR" dirty="0"/>
              <a:t>Usar </a:t>
            </a:r>
            <a:r>
              <a:rPr lang="pt-BR" dirty="0" err="1"/>
              <a:t>forall</a:t>
            </a:r>
            <a:r>
              <a:rPr lang="pt-BR" dirty="0"/>
              <a:t>/2 para verificar se todos os alunos estão aprovados.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8441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869B0-2ED0-4C35-B37A-645C2EE9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B2B9AA-0F9D-7C85-9CA5-CC0967110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Base de Fatos</a:t>
            </a:r>
          </a:p>
          <a:p>
            <a:r>
              <a:rPr lang="pt-BR" dirty="0"/>
              <a:t>aluno(</a:t>
            </a:r>
            <a:r>
              <a:rPr lang="pt-BR" dirty="0" err="1"/>
              <a:t>joao</a:t>
            </a:r>
            <a:r>
              <a:rPr lang="pt-BR" dirty="0"/>
              <a:t>).</a:t>
            </a:r>
            <a:br>
              <a:rPr lang="pt-BR" dirty="0"/>
            </a:br>
            <a:r>
              <a:rPr lang="pt-BR" dirty="0"/>
              <a:t>aluno(maria).</a:t>
            </a:r>
            <a:br>
              <a:rPr lang="pt-BR" dirty="0"/>
            </a:br>
            <a:r>
              <a:rPr lang="pt-BR" dirty="0"/>
              <a:t>aluno(</a:t>
            </a:r>
            <a:r>
              <a:rPr lang="pt-BR" dirty="0" err="1"/>
              <a:t>carlos</a:t>
            </a:r>
            <a:r>
              <a:rPr lang="pt-BR" dirty="0"/>
              <a:t>).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aprovado(</a:t>
            </a:r>
            <a:r>
              <a:rPr lang="pt-BR" dirty="0" err="1"/>
              <a:t>joao</a:t>
            </a:r>
            <a:r>
              <a:rPr lang="pt-BR" dirty="0"/>
              <a:t>).</a:t>
            </a:r>
            <a:br>
              <a:rPr lang="pt-BR" dirty="0"/>
            </a:br>
            <a:r>
              <a:rPr lang="pt-BR" dirty="0"/>
              <a:t>aprovado(maria).</a:t>
            </a:r>
            <a:br>
              <a:rPr lang="pt-BR" dirty="0"/>
            </a:br>
            <a:r>
              <a:rPr lang="pt-BR" dirty="0"/>
              <a:t>aprovado(</a:t>
            </a:r>
            <a:r>
              <a:rPr lang="pt-BR" dirty="0" err="1"/>
              <a:t>carlos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00526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4A2ED-67DB-E11B-14AB-D791FD3C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Consulta usando </a:t>
            </a:r>
            <a:r>
              <a:rPr lang="pt-BR" dirty="0" err="1"/>
              <a:t>forall</a:t>
            </a:r>
            <a:r>
              <a:rPr lang="pt-BR" dirty="0"/>
              <a:t>/2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5C058-C5A2-2845-6E9D-959C52BDE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?- </a:t>
            </a:r>
            <a:r>
              <a:rPr lang="pt-BR" b="1" dirty="0" err="1"/>
              <a:t>forall</a:t>
            </a:r>
            <a:r>
              <a:rPr lang="pt-BR" b="1" dirty="0"/>
              <a:t>(aluno(X), aprovado(X)).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702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9567A-E5A4-92FF-7E01-E49A6C24E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Exercício – Sistema Especialista Educacional com Cláusulas de Horn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29405-6EBE-D410-29F1-3EE12E21D9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Tema: Orientador Inteligente de Estudos para Calouros de TADS</a:t>
            </a:r>
          </a:p>
        </p:txBody>
      </p:sp>
    </p:spTree>
    <p:extLst>
      <p:ext uri="{BB962C8B-B14F-4D97-AF65-F5344CB8AC3E}">
        <p14:creationId xmlns:p14="http://schemas.microsoft.com/office/powerpoint/2010/main" val="1623089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3EED3-45DC-06BC-C04D-407D6DAD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Enunciado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34FB54-7526-D402-6C57-299BA647D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A coordenação do curso de Tecnologia em Análise e Desenvolvimento de Sistemas (TADS) identificou que muitos alunos ingressantes apresentam dificuldades em escolher por onde começar seus estudos, principalmente nas áreas de:</a:t>
            </a:r>
          </a:p>
          <a:p>
            <a:r>
              <a:rPr lang="pt-BR" dirty="0"/>
              <a:t>Lógica de Programação</a:t>
            </a:r>
          </a:p>
          <a:p>
            <a:r>
              <a:rPr lang="pt-BR" dirty="0"/>
              <a:t>Programação Orientada a Objetos</a:t>
            </a:r>
          </a:p>
          <a:p>
            <a:r>
              <a:rPr lang="pt-BR" dirty="0"/>
              <a:t>Banco de Dados</a:t>
            </a:r>
          </a:p>
          <a:p>
            <a:r>
              <a:rPr lang="pt-BR" dirty="0"/>
              <a:t>Segurança da Informação</a:t>
            </a:r>
          </a:p>
          <a:p>
            <a:r>
              <a:rPr lang="pt-BR" dirty="0"/>
              <a:t>Para auxiliar esses estudantes, você foi contratado para desenvolver um Sistema Especialista Educacional, baseado em Cláusulas de Horn, que funcione como:</a:t>
            </a:r>
          </a:p>
          <a:p>
            <a:r>
              <a:rPr lang="pt-BR" dirty="0"/>
              <a:t>Um mecanismo de recomendação de conteúdos</a:t>
            </a:r>
          </a:p>
          <a:p>
            <a:r>
              <a:rPr lang="pt-BR" dirty="0"/>
              <a:t>Um </a:t>
            </a:r>
            <a:r>
              <a:rPr lang="pt-BR" dirty="0" err="1"/>
              <a:t>chatbot</a:t>
            </a:r>
            <a:r>
              <a:rPr lang="pt-BR" dirty="0"/>
              <a:t> simples baseado em regras</a:t>
            </a:r>
          </a:p>
          <a:p>
            <a:r>
              <a:rPr lang="pt-BR" dirty="0"/>
              <a:t>Um sistema de inferência usando resolução lógica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7700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95F2E-9FAA-D509-FFF2-07E428E4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Proposto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1D17BA-CA15-2CDD-A01A-CBD4B7CDB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Você deverá desenvolver um sistema especialista capaz de:</a:t>
            </a:r>
          </a:p>
          <a:p>
            <a:r>
              <a:rPr lang="pt-BR" dirty="0"/>
              <a:t>Receber informações sobre o perfil do aluno</a:t>
            </a:r>
          </a:p>
          <a:p>
            <a:r>
              <a:rPr lang="pt-BR" dirty="0"/>
              <a:t>Inferir seu nível de conhecimento</a:t>
            </a:r>
          </a:p>
          <a:p>
            <a:r>
              <a:rPr lang="pt-BR" dirty="0"/>
              <a:t>Identificar possíveis dificuldades</a:t>
            </a:r>
          </a:p>
          <a:p>
            <a:r>
              <a:rPr lang="pt-BR" dirty="0"/>
              <a:t>Recomendar conteúdos adequados</a:t>
            </a:r>
          </a:p>
          <a:p>
            <a:r>
              <a:rPr lang="pt-BR" dirty="0"/>
              <a:t>Responder perguntas simples em formato de </a:t>
            </a:r>
            <a:r>
              <a:rPr lang="pt-BR" dirty="0" err="1"/>
              <a:t>chatbot</a:t>
            </a:r>
            <a:endParaRPr lang="pt-BR" dirty="0"/>
          </a:p>
          <a:p>
            <a:r>
              <a:rPr lang="pt-BR" dirty="0"/>
              <a:t>O sistema deverá conter fatos representando:</a:t>
            </a:r>
          </a:p>
          <a:p>
            <a:pPr lvl="1"/>
            <a:r>
              <a:rPr lang="pt-BR" dirty="0"/>
              <a:t>Conhecimentos prévios do aluno</a:t>
            </a:r>
          </a:p>
          <a:p>
            <a:pPr lvl="1"/>
            <a:r>
              <a:rPr lang="pt-BR" dirty="0"/>
              <a:t>Disciplinas já cursadas</a:t>
            </a:r>
          </a:p>
          <a:p>
            <a:pPr lvl="1"/>
            <a:r>
              <a:rPr lang="pt-BR" dirty="0"/>
              <a:t>Dificuldades relatadas</a:t>
            </a:r>
          </a:p>
          <a:p>
            <a:pPr lvl="1"/>
            <a:r>
              <a:rPr lang="pt-BR" dirty="0"/>
              <a:t>Interesses acadêmicos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68785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77</TotalTime>
  <Words>1023</Words>
  <Application>Microsoft Office PowerPoint</Application>
  <PresentationFormat>Widescreen</PresentationFormat>
  <Paragraphs>192</Paragraphs>
  <Slides>23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Aptos</vt:lpstr>
      <vt:lpstr>Arial</vt:lpstr>
      <vt:lpstr>Arial Unicode MS</vt:lpstr>
      <vt:lpstr>Tema_Aems_2026_v1</vt:lpstr>
      <vt:lpstr>Disciplina: Inteligência Artificial - 2026</vt:lpstr>
      <vt:lpstr>PROGRAMAÇÃO TRADICIONAL [IMPERATIVA] X PROGRAMAÇÃO EM LÓGICA [PROLOG]</vt:lpstr>
      <vt:lpstr>PROGRAMAÇÃO TRADICIONAL [IMPERATIVA] X PROGRAMAÇÃO EM LÓGICA [PROLOG]</vt:lpstr>
      <vt:lpstr>O que é Programação em Lógica?</vt:lpstr>
      <vt:lpstr>Imagine que precisamos:</vt:lpstr>
      <vt:lpstr>Onde isso é usado?</vt:lpstr>
      <vt:lpstr>O que são? Cláusulas de Horn</vt:lpstr>
      <vt:lpstr>Horn</vt:lpstr>
      <vt:lpstr>Estrutura</vt:lpstr>
      <vt:lpstr>UNIFICAÇÃO</vt:lpstr>
      <vt:lpstr>CASOS DE UNIFICAÇÃO</vt:lpstr>
      <vt:lpstr>MECANISMO DE INFERÊNCIA “Inferência é o processo de tirar conclusões a partir de fatos e regras.”</vt:lpstr>
      <vt:lpstr>Exemplo  avo(joao, Quem)</vt:lpstr>
      <vt:lpstr>Fluxo de Execução</vt:lpstr>
      <vt:lpstr>Meta-predicados</vt:lpstr>
      <vt:lpstr>Exemplo – findall </vt:lpstr>
      <vt:lpstr>Exemplo – call</vt:lpstr>
      <vt:lpstr>Exercício – Verificando se todos os alunos foram aprovados</vt:lpstr>
      <vt:lpstr>Resolução</vt:lpstr>
      <vt:lpstr>Consulta usando forall/2</vt:lpstr>
      <vt:lpstr>Exercício – Sistema Especialista Educacional com Cláusulas de Horn</vt:lpstr>
      <vt:lpstr>Enunciado</vt:lpstr>
      <vt:lpstr>Problema Proposto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4</cp:revision>
  <dcterms:created xsi:type="dcterms:W3CDTF">2026-02-23T18:43:31Z</dcterms:created>
  <dcterms:modified xsi:type="dcterms:W3CDTF">2026-02-23T20:01:07Z</dcterms:modified>
</cp:coreProperties>
</file>