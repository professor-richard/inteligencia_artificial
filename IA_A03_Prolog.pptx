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58" r:id="rId4"/>
    <p:sldId id="267" r:id="rId5"/>
    <p:sldId id="269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84BBB-0AEA-105D-5F87-52B2FC1E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453965-2FB7-E6C1-2D48-C1EF35957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B0BE4-0B3E-30BE-D41C-62AEAD97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BFDA-415E-5F6B-F87B-0F7FE93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493DA-AB46-D8FB-2185-A49008D8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56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30393-E547-B402-03CC-977C713C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0C602-D520-EDC4-187E-103F6250C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44A02-B00A-409C-0ABE-4C69A0C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294A3-DBD2-373A-96BA-A6B1C2A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BC20E-BDE8-6472-1B3C-016524FF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262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5BAED-F86F-0AC7-647B-B8A925DF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C3476-CD80-4260-A4C2-2CDFA248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C15D3-799E-BBB0-85BA-584502B9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4EF58-7AC8-27CC-5B9B-EED41826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CF4E0-A0A1-08F0-A73C-ED4919D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0680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1E92E-A5BC-3F60-E557-825A4E8B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C1AA8-FB7E-039A-24C9-71933BE39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DC13D-ACF4-6279-0D25-F68EA3F21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A62DA2-9535-D227-515B-1933B4B2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6CAFA-D0FB-A2B8-C97A-B5DB7B47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B6B634-E234-0270-994E-2864DA39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146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1544-7593-F36C-2C36-80B84B2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D72AF6-0728-2D6D-BC4E-B25FAFF8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110DB-6D43-82EB-25DC-408B09D8E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EB588C-6277-79CF-6343-0F585A2E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8D674-5AFF-D280-6D48-E4C2C0329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38353D-4395-51BF-CDCA-A35D7B2E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BD0EDD-60AD-FA3C-F280-01AD946E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31E9E0-B60E-A76D-82FF-B23C21AE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72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4A328-27BA-6C20-2FB6-98760D5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DA9652-A327-6D9E-CC07-C8A1023A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F18115-5EF4-574B-D44D-27550650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486F2C-FC0F-0478-8E5F-0F85241C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079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6C3CC4-9550-C1FA-5318-A6D53D36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6C7134-7863-79A8-B1E5-08D59D16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85BF5D-51E3-7925-A994-498EF63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01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34C60-48F7-DCD4-ABEF-6CBCECEA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3E1DA-09C8-60BB-8F89-F2BA8226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4122BE-EE75-4F1D-5A91-54AB05B8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EB627-3A8E-D68B-28DA-6A4A9820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6BCA7-BF39-4B03-3B17-C8549873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BFB53-36B2-B3BC-0577-DA7D2731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277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B6C0-5830-21EF-B785-2AD6C6D7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2380AF-2FC0-47F1-4FAA-2E1EFAF1E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DEE9A2-9D8F-309B-B2CB-CBF15552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6F3A24-39BC-1118-1FF6-1792998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4CBDC-807B-6B9B-B9BD-7A5690E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CAB5BE-1395-3BF1-FF58-028235DF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36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D97B7-A87C-36DD-B679-99B72EA2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928B2A-290D-B5B2-E50B-4F4C9FAF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7D33C-1337-5311-833E-2D7643CF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A5F3B-4FB2-BE00-DF94-87A44049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37468-1245-F38C-437C-6033D878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459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93BD76-06E7-209F-0376-2E47F78A6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C96CE7-9026-FDC0-0242-9AF0C3FC3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BDCA1-0E3E-BB76-A5F0-729B4879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6FF04-149E-14D1-915C-EFF7EF09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EEC5E-B552-AE4E-C1D9-36C046EA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617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&#10;&#10;Descrição gerada automaticamente com confiança baixa">
            <a:extLst>
              <a:ext uri="{FF2B5EF4-FFF2-40B4-BE49-F238E27FC236}">
                <a16:creationId xmlns:a16="http://schemas.microsoft.com/office/drawing/2014/main" id="{2BC3A1D1-431E-0470-24A9-941A1C326EA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2" t="1853" r="64727" b="42836"/>
          <a:stretch/>
        </p:blipFill>
        <p:spPr>
          <a:xfrm>
            <a:off x="0" y="11262"/>
            <a:ext cx="1054100" cy="1051045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564E83-31D4-9D45-4A19-04EFC823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A1DFB-5681-4229-5B94-71B9E955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410" y="1825625"/>
            <a:ext cx="10370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7EB250-651F-F2DA-477B-A568DED1B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90844-7095-4CD5-81E5-0544EA92686D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12ADF-D139-99D1-CE25-D18F6CF31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A8DBA7-56FD-416B-3A34-FAAB40E86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0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BA31ED-7654-45E0-80A9-161B4184D0EF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5334C9-A291-E2BC-B303-645466EEF4C7}"/>
              </a:ext>
            </a:extLst>
          </p:cNvPr>
          <p:cNvSpPr/>
          <p:nvPr/>
        </p:nvSpPr>
        <p:spPr>
          <a:xfrm>
            <a:off x="1262744" y="-435789"/>
            <a:ext cx="377372" cy="377372"/>
          </a:xfrm>
          <a:prstGeom prst="rect">
            <a:avLst/>
          </a:prstGeom>
          <a:solidFill>
            <a:srgbClr val="0367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106479-385D-C6FD-2709-39137C20CE48}"/>
              </a:ext>
            </a:extLst>
          </p:cNvPr>
          <p:cNvSpPr/>
          <p:nvPr/>
        </p:nvSpPr>
        <p:spPr>
          <a:xfrm>
            <a:off x="841830" y="-435789"/>
            <a:ext cx="377372" cy="377372"/>
          </a:xfrm>
          <a:prstGeom prst="rect">
            <a:avLst/>
          </a:prstGeom>
          <a:solidFill>
            <a:srgbClr val="034C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EF7CBD-2BB8-036A-70B2-B2A220CB3F2A}"/>
              </a:ext>
            </a:extLst>
          </p:cNvPr>
          <p:cNvSpPr/>
          <p:nvPr/>
        </p:nvSpPr>
        <p:spPr>
          <a:xfrm>
            <a:off x="420916" y="-435789"/>
            <a:ext cx="377372" cy="377372"/>
          </a:xfrm>
          <a:prstGeom prst="rect">
            <a:avLst/>
          </a:prstGeom>
          <a:solidFill>
            <a:srgbClr val="033E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3ED86F-1E57-DE2F-6EB3-89C0943F53BC}"/>
              </a:ext>
            </a:extLst>
          </p:cNvPr>
          <p:cNvSpPr/>
          <p:nvPr/>
        </p:nvSpPr>
        <p:spPr>
          <a:xfrm>
            <a:off x="2525486" y="-435789"/>
            <a:ext cx="377372" cy="377372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90E2CE5-0969-31F1-13AA-C76C7FD546AC}"/>
              </a:ext>
            </a:extLst>
          </p:cNvPr>
          <p:cNvSpPr/>
          <p:nvPr/>
        </p:nvSpPr>
        <p:spPr>
          <a:xfrm>
            <a:off x="2104572" y="-434315"/>
            <a:ext cx="377372" cy="377372"/>
          </a:xfrm>
          <a:prstGeom prst="rect">
            <a:avLst/>
          </a:prstGeom>
          <a:solidFill>
            <a:srgbClr val="F2A5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D49E67-D59A-6D06-1B7C-A99F60761CAA}"/>
              </a:ext>
            </a:extLst>
          </p:cNvPr>
          <p:cNvSpPr/>
          <p:nvPr/>
        </p:nvSpPr>
        <p:spPr>
          <a:xfrm>
            <a:off x="1683658" y="-434315"/>
            <a:ext cx="377372" cy="377372"/>
          </a:xfrm>
          <a:prstGeom prst="rect">
            <a:avLst/>
          </a:prstGeom>
          <a:solidFill>
            <a:srgbClr val="F2BF2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7D67DA-8B35-427E-A6FD-8DBD101026FC}"/>
              </a:ext>
            </a:extLst>
          </p:cNvPr>
          <p:cNvSpPr/>
          <p:nvPr/>
        </p:nvSpPr>
        <p:spPr>
          <a:xfrm>
            <a:off x="0" y="-434315"/>
            <a:ext cx="377372" cy="377372"/>
          </a:xfrm>
          <a:prstGeom prst="rect">
            <a:avLst/>
          </a:prstGeom>
          <a:solidFill>
            <a:srgbClr val="000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A423E13-8E08-0F8C-E482-6F9D05CB9F55}"/>
              </a:ext>
            </a:extLst>
          </p:cNvPr>
          <p:cNvGrpSpPr/>
          <p:nvPr/>
        </p:nvGrpSpPr>
        <p:grpSpPr>
          <a:xfrm>
            <a:off x="0" y="6642613"/>
            <a:ext cx="12192000" cy="215387"/>
            <a:chOff x="0" y="6464800"/>
            <a:chExt cx="12192000" cy="21538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E4B12E3-B991-7147-5AE5-B7D8DD728B2E}"/>
                </a:ext>
              </a:extLst>
            </p:cNvPr>
            <p:cNvSpPr/>
            <p:nvPr/>
          </p:nvSpPr>
          <p:spPr>
            <a:xfrm>
              <a:off x="0" y="6500466"/>
              <a:ext cx="12192000" cy="7200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94ACB2C-0551-938A-97B9-A9F2C4D838B7}"/>
                </a:ext>
              </a:extLst>
            </p:cNvPr>
            <p:cNvSpPr/>
            <p:nvPr/>
          </p:nvSpPr>
          <p:spPr>
            <a:xfrm>
              <a:off x="0" y="6464800"/>
              <a:ext cx="12192000" cy="3600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BB72F72-6C9D-DED7-AE87-3D1500432B97}"/>
                </a:ext>
              </a:extLst>
            </p:cNvPr>
            <p:cNvSpPr/>
            <p:nvPr/>
          </p:nvSpPr>
          <p:spPr>
            <a:xfrm>
              <a:off x="0" y="6572466"/>
              <a:ext cx="12192000" cy="107721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5074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005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wish.swi-prolog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swi-prolog.org/download/stabl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5042D-0A54-C479-B20E-5ABA436276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Disciplina:</a:t>
            </a:r>
            <a:br>
              <a:rPr lang="pt-BR" dirty="0"/>
            </a:br>
            <a:r>
              <a:rPr lang="pt-BR" dirty="0"/>
              <a:t>Inteligência Artificial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C1E1A5-3FE0-37E1-E3F7-B7F98B79E0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01: Prolog.</a:t>
            </a:r>
          </a:p>
        </p:txBody>
      </p:sp>
    </p:spTree>
    <p:extLst>
      <p:ext uri="{BB962C8B-B14F-4D97-AF65-F5344CB8AC3E}">
        <p14:creationId xmlns:p14="http://schemas.microsoft.com/office/powerpoint/2010/main" val="132685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38C56-164E-FECB-B060-B82D3E41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NA NUVEM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5EE5DE-A8AD-1A06-9618-66275A427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SITE:</a:t>
            </a:r>
            <a:endParaRPr lang="pt-BR" dirty="0">
              <a:hlinkClick r:id="rId2"/>
            </a:endParaRPr>
          </a:p>
          <a:p>
            <a:pPr lvl="1"/>
            <a:r>
              <a:rPr lang="pt-BR" dirty="0">
                <a:hlinkClick r:id="rId2"/>
              </a:rPr>
              <a:t>https://swish.swi-prolog.org/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5407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D1733-8ED7-49A1-E38E-277814AB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INTALAÇÃO DA ENGINE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AF5510-D51E-92F6-EAAD-2223D8B11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034" y="1797050"/>
            <a:ext cx="10370390" cy="4351338"/>
          </a:xfrm>
        </p:spPr>
        <p:txBody>
          <a:bodyPr/>
          <a:lstStyle/>
          <a:p>
            <a:r>
              <a:rPr lang="pt-BR" dirty="0"/>
              <a:t>Instalador:</a:t>
            </a:r>
          </a:p>
          <a:p>
            <a:pPr lvl="1"/>
            <a:r>
              <a:rPr lang="pt-BR" dirty="0">
                <a:hlinkClick r:id="rId2"/>
              </a:rPr>
              <a:t>https://www.swi-prolog.org/download/stable</a:t>
            </a:r>
            <a:endParaRPr lang="pt-BR" dirty="0"/>
          </a:p>
          <a:p>
            <a:r>
              <a:rPr lang="pt-BR" dirty="0"/>
              <a:t>Importante:</a:t>
            </a:r>
          </a:p>
          <a:p>
            <a:pPr lvl="1"/>
            <a:r>
              <a:rPr lang="pt-BR" dirty="0"/>
              <a:t>Programe em um arquivo .</a:t>
            </a:r>
            <a:r>
              <a:rPr lang="pt-BR" dirty="0" err="1"/>
              <a:t>pl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Execute: File &gt; </a:t>
            </a:r>
            <a:r>
              <a:rPr lang="pt-BR" dirty="0" err="1"/>
              <a:t>Consult</a:t>
            </a:r>
            <a:r>
              <a:rPr lang="pt-BR" dirty="0"/>
              <a:t> e navegue até seu arquivo.</a:t>
            </a:r>
          </a:p>
          <a:p>
            <a:endParaRPr lang="pt-BR" dirty="0"/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717931CA-99A1-F4A8-4EE3-A5C359C1A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961" y="209550"/>
            <a:ext cx="4996329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3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598B0-0C7A-90BE-22A8-8B9A03901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EXTENSÃO DO VSCODE: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C2A35E-DFFA-9DC2-347E-0FFA21C0AE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Instale essa extensão</a:t>
            </a:r>
          </a:p>
          <a:p>
            <a:r>
              <a:rPr lang="pt-BR" dirty="0"/>
              <a:t>Para programar:</a:t>
            </a:r>
          </a:p>
          <a:p>
            <a:pPr lvl="1"/>
            <a:r>
              <a:rPr lang="pt-BR" dirty="0"/>
              <a:t>crie um arquivo </a:t>
            </a:r>
            <a:r>
              <a:rPr lang="pt-BR" b="1" dirty="0">
                <a:solidFill>
                  <a:srgbClr val="FF0000"/>
                </a:solidFill>
              </a:rPr>
              <a:t>.</a:t>
            </a:r>
            <a:r>
              <a:rPr lang="pt-BR" b="1" dirty="0" err="1">
                <a:solidFill>
                  <a:srgbClr val="FF0000"/>
                </a:solidFill>
              </a:rPr>
              <a:t>pl</a:t>
            </a:r>
            <a:endParaRPr lang="pt-BR" b="1" dirty="0">
              <a:solidFill>
                <a:srgbClr val="FF0000"/>
              </a:solidFill>
            </a:endParaRPr>
          </a:p>
          <a:p>
            <a:r>
              <a:rPr lang="pt-BR" dirty="0"/>
              <a:t>Para executar, digite do terminar: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</a:rPr>
              <a:t>swipl</a:t>
            </a:r>
            <a:endParaRPr lang="pt-BR" b="1" dirty="0">
              <a:solidFill>
                <a:srgbClr val="FF0000"/>
              </a:solidFill>
            </a:endParaRPr>
          </a:p>
          <a:p>
            <a:r>
              <a:rPr lang="pt-BR" dirty="0"/>
              <a:t>Para sair digite: 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</a:rPr>
              <a:t>exit</a:t>
            </a:r>
            <a:r>
              <a:rPr lang="pt-BR" b="1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</a:rPr>
              <a:t>halt</a:t>
            </a:r>
            <a:r>
              <a:rPr lang="pt-BR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9EFBE5-F5F4-0279-9346-D23D80037D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98FFC7C0-A3C4-9EFC-B456-671A6CAE7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604" y="1906646"/>
            <a:ext cx="5407179" cy="418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035BC-7C31-CE0E-1306-6D263E40A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com o </a:t>
            </a:r>
            <a:r>
              <a:rPr lang="pt-BR" dirty="0" err="1"/>
              <a:t>VsCode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C3EA4F-7DF0-E7CB-035A-32A15422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Arquivo programado mais não executa e  make. Não recarrega:</a:t>
            </a:r>
          </a:p>
          <a:p>
            <a:pPr lvl="1"/>
            <a:r>
              <a:rPr lang="pt-BR" dirty="0"/>
              <a:t>Sair </a:t>
            </a:r>
            <a:r>
              <a:rPr lang="pt-BR" dirty="0" err="1"/>
              <a:t>halt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Entra de novo [</a:t>
            </a:r>
            <a:r>
              <a:rPr lang="pt-BR" dirty="0" err="1"/>
              <a:t>nomeDoArquivo</a:t>
            </a:r>
            <a:r>
              <a:rPr lang="pt-BR" dirty="0"/>
              <a:t>]</a:t>
            </a:r>
          </a:p>
          <a:p>
            <a:r>
              <a:rPr lang="pt-BR" dirty="0"/>
              <a:t>Não mostra todos os resultados das regas:</a:t>
            </a:r>
          </a:p>
          <a:p>
            <a:pPr lvl="1"/>
            <a:r>
              <a:rPr lang="pt-BR" dirty="0"/>
              <a:t>Aperte </a:t>
            </a:r>
            <a:r>
              <a:rPr lang="pt-BR" b="1" dirty="0">
                <a:solidFill>
                  <a:srgbClr val="FF0000"/>
                </a:solidFill>
              </a:rPr>
              <a:t>;</a:t>
            </a:r>
            <a:r>
              <a:rPr lang="pt-BR" dirty="0"/>
              <a:t> ao final do nome que ele mostra o próximo</a:t>
            </a:r>
          </a:p>
          <a:p>
            <a:pPr lvl="1"/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116140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93209-62DB-A622-CC99-884C8A797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EXERCIOS NIVEL FACIL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DA8B44-EFCF-8342-385E-2B90741F7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Exercício 1 — Fatos sobre Família</a:t>
            </a:r>
          </a:p>
          <a:p>
            <a:r>
              <a:rPr lang="pt-BR" dirty="0"/>
              <a:t>Crie uma base de conhecimento em Prolog contendo os seguintes fatos:</a:t>
            </a:r>
          </a:p>
          <a:p>
            <a:pPr lvl="1"/>
            <a:r>
              <a:rPr lang="pt-BR" dirty="0"/>
              <a:t>João é pai de Maria.</a:t>
            </a:r>
          </a:p>
          <a:p>
            <a:pPr lvl="1"/>
            <a:r>
              <a:rPr lang="pt-BR" dirty="0"/>
              <a:t>João é pai de Pedro.</a:t>
            </a:r>
          </a:p>
          <a:p>
            <a:pPr lvl="1"/>
            <a:r>
              <a:rPr lang="pt-BR" dirty="0"/>
              <a:t>Maria é mãe de Ana.</a:t>
            </a:r>
          </a:p>
          <a:p>
            <a:pPr lvl="1"/>
            <a:r>
              <a:rPr lang="pt-BR" dirty="0"/>
              <a:t>Pedro é pai de Carlos.</a:t>
            </a:r>
          </a:p>
          <a:p>
            <a:r>
              <a:rPr lang="pt-BR" dirty="0"/>
              <a:t>a) Escreva os fatos em Prolog utilizando o predicado pai/2 e </a:t>
            </a:r>
            <a:r>
              <a:rPr lang="pt-BR" dirty="0" err="1"/>
              <a:t>mae</a:t>
            </a:r>
            <a:r>
              <a:rPr lang="pt-BR" dirty="0"/>
              <a:t>/2.</a:t>
            </a:r>
            <a:br>
              <a:rPr lang="pt-BR" dirty="0"/>
            </a:br>
            <a:r>
              <a:rPr lang="pt-BR" dirty="0"/>
              <a:t>b) Crie uma regra chamada avo/2 que determine se alguém é avô ou avó de outra pessoa.</a:t>
            </a:r>
            <a:br>
              <a:rPr lang="pt-BR" dirty="0"/>
            </a:br>
            <a:r>
              <a:rPr lang="pt-BR" dirty="0"/>
              <a:t>c) Faça consultas para verificar:</a:t>
            </a:r>
          </a:p>
          <a:p>
            <a:pPr lvl="1"/>
            <a:r>
              <a:rPr lang="pt-BR" dirty="0"/>
              <a:t>Quem é avô de Ana?</a:t>
            </a:r>
          </a:p>
          <a:p>
            <a:pPr lvl="1"/>
            <a:r>
              <a:rPr lang="pt-BR" dirty="0"/>
              <a:t>João é avô de Carlos?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0392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0FBCA-9AC8-EF34-1F06-1804E73F4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EXERCIOS NIVEL FACIL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8657B-45BB-EBF0-833C-E64077CB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Exercício 2 — Base de Conhecimento sobre Animais</a:t>
            </a:r>
          </a:p>
          <a:p>
            <a:r>
              <a:rPr lang="pt-BR" dirty="0"/>
              <a:t>Considere as seguintes informações:</a:t>
            </a:r>
          </a:p>
          <a:p>
            <a:pPr lvl="1"/>
            <a:r>
              <a:rPr lang="pt-BR" dirty="0"/>
              <a:t>Todo gato é mamífero.</a:t>
            </a:r>
          </a:p>
          <a:p>
            <a:pPr lvl="1"/>
            <a:r>
              <a:rPr lang="pt-BR" dirty="0"/>
              <a:t>Todo cachorro é mamífero.</a:t>
            </a:r>
          </a:p>
          <a:p>
            <a:pPr lvl="1"/>
            <a:r>
              <a:rPr lang="pt-BR" dirty="0"/>
              <a:t>Mimi é gato.</a:t>
            </a:r>
          </a:p>
          <a:p>
            <a:pPr lvl="1"/>
            <a:r>
              <a:rPr lang="pt-BR" dirty="0"/>
              <a:t>Rex é cachorro.</a:t>
            </a:r>
          </a:p>
          <a:p>
            <a:r>
              <a:rPr lang="pt-BR" dirty="0"/>
              <a:t>a) Represente os fatos e regras em Prolog.</a:t>
            </a:r>
            <a:br>
              <a:rPr lang="pt-BR" dirty="0"/>
            </a:br>
            <a:r>
              <a:rPr lang="pt-BR" dirty="0"/>
              <a:t>b) Crie uma regra chamada </a:t>
            </a:r>
            <a:r>
              <a:rPr lang="pt-BR" dirty="0" err="1"/>
              <a:t>eh_mamifero</a:t>
            </a:r>
            <a:r>
              <a:rPr lang="pt-BR" dirty="0"/>
              <a:t>/1.</a:t>
            </a:r>
            <a:br>
              <a:rPr lang="pt-BR" dirty="0"/>
            </a:br>
            <a:r>
              <a:rPr lang="pt-BR" dirty="0"/>
              <a:t>c) Faça consultas para verificar:</a:t>
            </a:r>
          </a:p>
          <a:p>
            <a:pPr lvl="1"/>
            <a:r>
              <a:rPr lang="pt-BR" dirty="0"/>
              <a:t>Mimi é mamífero?</a:t>
            </a:r>
          </a:p>
          <a:p>
            <a:pPr lvl="1"/>
            <a:r>
              <a:rPr lang="pt-BR" dirty="0"/>
              <a:t>Rex é mamífero?</a:t>
            </a:r>
          </a:p>
          <a:p>
            <a:pPr lvl="1"/>
            <a:r>
              <a:rPr lang="pt-BR" dirty="0"/>
              <a:t>Existe algum mamífero na base?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4385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3E724-C98A-7F4D-54BE-A6DBB788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EXERCIOS NIVEL FACIL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43818F-0D38-CF1D-6ECA-0B8AD6CC4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Exercício 3 — Relações de Amizade</a:t>
            </a:r>
          </a:p>
          <a:p>
            <a:r>
              <a:rPr lang="pt-BR" dirty="0"/>
              <a:t>Considere que amizade é uma relação </a:t>
            </a:r>
            <a:r>
              <a:rPr lang="pt-BR" b="1" dirty="0"/>
              <a:t>simétrica</a:t>
            </a:r>
            <a:r>
              <a:rPr lang="pt-BR" dirty="0"/>
              <a:t> (se A é amigo de B, então B é amigo de A).</a:t>
            </a:r>
          </a:p>
          <a:p>
            <a:pPr lvl="1"/>
            <a:r>
              <a:rPr lang="pt-BR" dirty="0"/>
              <a:t>Dadas as informações:</a:t>
            </a:r>
          </a:p>
          <a:p>
            <a:pPr lvl="1"/>
            <a:r>
              <a:rPr lang="pt-BR" dirty="0"/>
              <a:t>Ana é amiga de Beatriz.</a:t>
            </a:r>
          </a:p>
          <a:p>
            <a:pPr lvl="1"/>
            <a:r>
              <a:rPr lang="pt-BR" dirty="0"/>
              <a:t>Beatriz é amiga de Carlos.</a:t>
            </a:r>
          </a:p>
          <a:p>
            <a:r>
              <a:rPr lang="pt-BR" dirty="0"/>
              <a:t>a) Represente os fatos usando o predicado amigo/2.</a:t>
            </a:r>
            <a:br>
              <a:rPr lang="pt-BR" dirty="0"/>
            </a:br>
            <a:r>
              <a:rPr lang="pt-BR" dirty="0"/>
              <a:t>b) Crie uma regra que torne a amizade simétrica.</a:t>
            </a:r>
            <a:br>
              <a:rPr lang="pt-BR" dirty="0"/>
            </a:br>
            <a:r>
              <a:rPr lang="pt-BR" dirty="0"/>
              <a:t>c) Faça consultas para verificar:</a:t>
            </a:r>
          </a:p>
          <a:p>
            <a:pPr lvl="1"/>
            <a:r>
              <a:rPr lang="pt-BR" dirty="0"/>
              <a:t>Beatriz é amiga de Ana?</a:t>
            </a:r>
          </a:p>
          <a:p>
            <a:pPr lvl="1"/>
            <a:r>
              <a:rPr lang="pt-BR" dirty="0"/>
              <a:t>Carlos é amigo de Beatriz?</a:t>
            </a:r>
          </a:p>
          <a:p>
            <a:pPr lvl="1"/>
            <a:r>
              <a:rPr lang="pt-BR" dirty="0"/>
              <a:t>Ana é amiga de Carlos? (Explique o resultado obtido.)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8471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A070E-21BA-C999-58B2-9984780567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Restante no arquivo </a:t>
            </a:r>
            <a:r>
              <a:rPr lang="pt-BR"/>
              <a:t>md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866E2DDD-F215-096D-57A6-F120B360A0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8741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_Aems_2026_v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_Aems_2026_v1" id="{31D861D1-C375-4C3D-9E26-2064B5AFDB1D}" vid="{B7592932-0B5C-45F7-B648-5DAF937066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Tema_Aems_2026_v1</Template>
  <TotalTime>315</TotalTime>
  <Words>424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Aptos</vt:lpstr>
      <vt:lpstr>Arial</vt:lpstr>
      <vt:lpstr>Tema_Aems_2026_v1</vt:lpstr>
      <vt:lpstr>Disciplina: Inteligência Artificial</vt:lpstr>
      <vt:lpstr>PROGRAMAÇÃO NA NUVEM</vt:lpstr>
      <vt:lpstr>INTALAÇÃO DA ENGINE</vt:lpstr>
      <vt:lpstr>COMO EXTENSÃO DO VSCODE:</vt:lpstr>
      <vt:lpstr>Problemas com o VsCode</vt:lpstr>
      <vt:lpstr>EXERCIOS NIVEL FACIL</vt:lpstr>
      <vt:lpstr>EXERCIOS NIVEL FACIL</vt:lpstr>
      <vt:lpstr>EXERCIOS NIVEL FACIL</vt:lpstr>
      <vt:lpstr>Restante no arquivo md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Vieira do Espirito Santo</dc:creator>
  <cp:lastModifiedBy>Richard Vieira do Espirito Santo</cp:lastModifiedBy>
  <cp:revision>6</cp:revision>
  <dcterms:created xsi:type="dcterms:W3CDTF">2026-03-02T13:39:38Z</dcterms:created>
  <dcterms:modified xsi:type="dcterms:W3CDTF">2026-03-02T18:54:58Z</dcterms:modified>
</cp:coreProperties>
</file>